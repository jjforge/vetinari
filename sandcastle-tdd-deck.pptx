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74" r:id="rId26"/>
    <p:sldId id="276" r:id="rId28"/>
    <p:sldId id="275" r:id="rId27"/>
    <p:sldId id="266" r:id="rId17"/>
    <p:sldId id="267" r:id="rId18"/>
    <p:sldId id="277" r:id="rId29"/>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frame, not the repo. Two things I want you to leave with: (1) building your own tools is now a weekend, not a quarter — so build the one you wish existed; (2) making an AI dependable is an engineering problem with real patterns, and this repo is a compact worked example of them.</a:t>
            </a:r>
          </a:p>
          <a:p>
            <a:r>
              <a:t>This is a real tool I use to run my backlog, not a demo. ~950 lines. Let it breathe, then go to the two takeaways.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two threads explicitly so people know which one each later slide serves. Left = the meta-story (fast prototyping, sharpen your tools). Right = the transferable engineering patterns (who owns 'done', what happens on ambiguity, isolation, resume).</a:t>
            </a:r>
          </a:p>
          <a:p>
            <a:r>
              <a:t>Line to land: the bottleneck moved from 'can I build it' to 'do I know what I want.' Everything after this hangs on one of these two hooks.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one-liner. Read it almost verbatim: run your backlog as parallel agents that can't mark their own work done and ask instead of guessing. Each task gets a container, a branch, and a TDD loop the orchestrator drives.</a:t>
            </a:r>
          </a:p>
          <a:p>
            <a:r>
              <a:t>Don't go deep here — the four cards are just a map of the next section. If someone asks 'why not just let the agent run tests itself?', park it — slide 5 answers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design by naming the failure modes everyone in the room has hit. Get nods. The killer is the first one: agents emit 'I'm done' over a red suite — a self-report is a claim, not evidence. The other three (guessing, stepping on each other, losing context) each map directly to a design decision on the next slide.</a:t>
            </a:r>
          </a:p>
          <a:p>
            <a:r>
              <a:t>Transition: 'so the design is really four answers to these four problems.'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intellectual core — slow down. Each principle is an answer to a slide-4 problem: orchestrator-owns-done answers self-certification; park-don't-guess answers guessing; isolation answers collision; resume answers context loss.</a:t>
            </a:r>
          </a:p>
          <a:p>
            <a:r>
              <a:t>The single most important sentence in the whole talk: only a zero exit code is green; the agent's own claim decides nothing. If they remember one thing, make it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left to right, once. Orchestrator reads your config and keeps a bounded pool full. Each task is its own Docker container on its own branch/worktree — that's why they can't corrupt each other. After every 'done', the gate runs YOUR test command inside the box; green commits, red resumes the same session, blocked parks to Telegram.</a:t>
            </a:r>
          </a:p>
          <a:p>
            <a:r>
              <a:t>Emphasise the bottom strip: the human loop is asynchronous — a park frees the slot and waits, so one stuck task never blocks the other nine.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heartbeat. The non-obvious move is step 4b: a red gate doesn't restart the agent, it RESUMES the same session with the failure output pasted in. So the agent keeps everything it already figured out and fixes the actual failure.</a:t>
            </a:r>
          </a:p>
          <a:p>
            <a:r>
              <a:t>Punchline at the bottom: a failing test isn't a dead end, it's the next prompt. That's why it converges instead of thrashing. Note COMPLETE is a structured signal, not free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Callout slide for gh/mattpocock/skills — credit where due. The agent's craft (how to write a good test, test at seams, avoid anti-patterns) isn't mine; it's Matt Pocock's tdd/codebase-design/code-review skills, baked into the container image at build time and auto-discovered by the plain claude CLI. Zero per-run cost, off every agent branch.</a:t>
            </a:r>
          </a:p>
          <a:p>
            <a:r>
              <a:t>The load-bearing clause is the bottom bar: skills govern HOW you work; my contract governs WHETHER you're done. A skill's own notion of 'done' never ends a turn — only the gate does. Ties straight back to slide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blocking as a feature. When an agent hits genuine ambiguity it writes its question + session to disk, tears down the container (frees the slot), and messages me. I reply to that message from my phone — hours or days later — and that exact agent resumes with full context.</a:t>
            </a:r>
          </a:p>
          <a:p>
            <a:r>
              <a:t>The phone mock on the right is the entire UI. No dashboard. Mention it runs as a systemd user service so a park raised after I close my laptop still reaches 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level up from single tasks: hand the whole merge→test→next-batch chain to one command. Each quoted arg is a batch of disjoint tasks.</a:t>
            </a:r>
          </a:p>
          <a:p>
            <a:r>
              <a:t>The clever bit is step 3: after merging a batch's green branches it re-runs the full gate on the MERGED base — catching the 'each green alone but together red' case a per-task gate structurally cannot see. And it's safe: a conflict or red merged base halts, rolls the base back, and keeps every branch. Nothing is lost.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out and make the 'sharpen your tools' argument. ~950 lines, 2 days, no framework. Then the proportion bar: that 954 is 1.2% of what actually runs — the other ~76,500 lines are @ai-hero/sandcastle (Docker sandboxing, the agent, session capture), none of it mine and none of it counted.</a:t>
            </a:r>
          </a:p>
          <a:p>
            <a:r>
              <a:t>The point isn't 'I wrote little.' It's that the leverage is in choosing the right primitive and wiring it with the right guarantee. That 1.2% is exactly where the 'agents can't grade themselves' rule lives. Segue: does it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Every agent/&lt;task&gt; merge on jjforge landed in one 3-day burst that starts the day this tool was first committed — built it and immediately shipped with it. 69 tasks merged, 184 agent commits, 43 in the peak day.</a:t>
            </a:r>
          </a:p>
          <a:p>
            <a:r>
              <a:t>The chip row is the important context: this isn't a toy. jjforge is a four-part monorepo — a Forgejo fork (Go), a jj fork (Rust), a Rust sidecar, and a client — hosting a version-control system whose entire promise is that it can't lose your work. That's the highest-stakes place imaginable to trust a test gate, which is the whole point. (Numbers are straight from git history; be ready to show the log.)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tool stays sharp — techniques that generalise. Cheapest-failure-first: baseline runs the toolchain + every gate with NO agent, so a broken image fails for free before you spend on a model. check-contract probes the upstream library's runtime behaviour in ~1s. Warm caches took a cold gate from 2571s to 330s — measured, not guessed.</a:t>
            </a:r>
          </a:p>
          <a:p>
            <a:r>
              <a:t>Don't read all six; pick two that resonate with this audience and move. The meta-point: sharp tools come from fast, cheap feedback loops.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scar tissue — every rule was paid for by a failed run, so I wrote it down instead of re-learning it. Call out #2 (share package caches, never build outputs — that's the 2571→330 win, and sharing a build dir silently reintroduces the lock contention containers exist to kill) and #3 (host-only env in hostEnv, not .env — GIT_CONFIG_GLOBAL leaking into the container breaks the fork's own git tests).</a:t>
            </a:r>
          </a:p>
          <a:p>
            <a:r>
              <a:t>The transferable habit: turn each incident into a written rule. That's what 'sharpening'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'borrow the hard parts' point concrete. My value wasn't writing a sandbox or an agent — it was composing sandcastle + the Claude CLI + Matt's skills + git worktrees + a Telegram bot, with the right contract between them.</a:t>
            </a:r>
          </a:p>
          <a:p>
            <a:r>
              <a:t>Tie back to the 1.2% from slide 11. The skill on display is knowing which layers already exist and refusing to rebuild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'steal these' slide — the part I actually want them to apply Monday. Walk the six quickly: own 'done' outside the model; give ambiguity an explicit ask-a-human path; isolate before you parallelize; persist state so failure is the next prompt not a reset; borrow the hard parts; encode every lesson once.</a:t>
            </a:r>
          </a:p>
          <a:p>
            <a:r>
              <a:t>These are provider- and project-agnostic — they apply to anything you build on an LLM, not just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plane on the thesis: build the tool you wish existed. The bottleneck isn't building anymore — it's knowing what you want and giving the AI the guardrails to be dependable.</a:t>
            </a:r>
          </a:p>
          <a:p>
            <a:r>
              <a:t>Invite them in: it's on github (jjforge/sandcastle-tdd), built on @ai-hero/sandcastle. Open for questions — and I can show a live park→answer round-trip if there's interest.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pull it up only if someone asks 'what actually is jjforge?' or wants proof it's a serious target. It's jj-native repository hosting: push/pull/clone Jujutsu repos over a native sync protocol with no git-compat layer.</a:t>
            </a:r>
          </a:p>
          <a:p>
            <a:r>
              <a:t>Four parts: a Forgejo fork (Go) for the web forge, a jj fork (Rust) for the CLI, a Rust sidecar that speaks the sync protocol and stores content-addressed blobs, and the jjf CLI. Browser and jjf CLI hit Forgejo; the jj CLI hits the sidecar. Forgejo dispatches all repo content through a VCSBackend interface — JjBackend calls the sidecar over HTTP; git hosting exists but is disabled. Both forks are vendored as git subtrees. Point: a full hosting stack where a green test genuinely protects people's version history.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newest addition: a status command that serves a local dashboard for a running campaign. It's deliberately thin — it reads the orchestrator's JSONL event log and the parked/ records, and the only thing it writes is your answer to a parked task, which it hands to the same 'answer' path the CLI uses. Left card: every wave and issue is a chip color-coded by state; closed waves collapse to a green check so the active work is what you see. Middle card: parked issues — the only thing that needs a human — float to the top with a count badge; you answer inline and the dispatcher resumes that agent. Right card: it's usable from a phone on the tailnet, auto-refresh is a checkbox, and the refresh won't fire while you're mid-reply. The point: it's a read-only lens plus one write, not a second system to keep alive.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recap of the arc so it's clear how much of this is recent. Aug 16: the core orchestrator — the loop that owns 'done', parks on blocks, and resumes on red — in about 950 lines of TypeScript. Aug 16 to 18: campaign mode, which merges a whole backlog wave by wave and runs the gate on the merged base, plus baking the mattpocock skills into the image so every agent has them. Aug 18: this deck. Aug 19: the status dashboard we just walked through, plus housekeeping — a CHANGELOG and the v0.1.0 tag. The takeaway mirrors slide two: the leverage isn't volume of code, it's the loop plus borrowed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0" y="0"/>
            <a:ext cx="3611880" cy="6858000"/>
          </a:xfrm>
          <a:prstGeom prst="rect">
            <a:avLst/>
          </a:prstGeom>
          <a:solidFill>
            <a:srgbClr val="162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89720" y="4114800"/>
            <a:ext cx="566928" cy="1280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921240" y="3291840"/>
            <a:ext cx="566928" cy="2103120"/>
          </a:xfrm>
          <a:prstGeom prst="rect">
            <a:avLst/>
          </a:prstGeom>
          <a:solidFill>
            <a:srgbClr val="D9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52760" y="3794760"/>
            <a:ext cx="566928" cy="1600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384280" y="2743200"/>
            <a:ext cx="566928" cy="2651760"/>
          </a:xfrm>
          <a:prstGeom prst="rect">
            <a:avLst/>
          </a:prstGeom>
          <a:solidFill>
            <a:srgbClr val="D9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52560" y="5358384"/>
            <a:ext cx="2926080" cy="73152"/>
          </a:xfrm>
          <a:prstGeom prst="rect">
            <a:avLst/>
          </a:prstGeom>
          <a:solidFill>
            <a:srgbClr val="644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76809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BUILT IN A WEEKEND  ·  ~950 LINES OF TYPESCRIPT</a:t>
            </a:r>
          </a:p>
        </p:txBody>
      </p:sp>
      <p:sp>
        <p:nvSpPr>
          <p:cNvPr id="11" name="TextBox 10"/>
          <p:cNvSpPr txBox="1"/>
          <p:nvPr/>
        </p:nvSpPr>
        <p:spPr>
          <a:xfrm>
            <a:off x="749808" y="1965960"/>
            <a:ext cx="7863840" cy="1828800"/>
          </a:xfrm>
          <a:prstGeom prst="rect">
            <a:avLst/>
          </a:prstGeom>
          <a:noFill/>
        </p:spPr>
        <p:txBody>
          <a:bodyPr wrap="square" anchor="t" lIns="0" rIns="0" tIns="0" bIns="0">
            <a:spAutoFit/>
          </a:bodyPr>
          <a:lstStyle/>
          <a:p>
            <a:pPr algn="l">
              <a:lnSpc>
                <a:spcPct val="105000"/>
              </a:lnSpc>
              <a:spcBef>
                <a:spcPts val="0"/>
              </a:spcBef>
              <a:spcAft>
                <a:spcPts val="0"/>
              </a:spcAft>
            </a:pPr>
            <a:r>
              <a:rPr sz="5600" b="1" i="0">
                <a:solidFill>
                  <a:srgbClr val="F8FAFC"/>
                </a:solidFill>
                <a:latin typeface="Arial"/>
              </a:rPr>
              <a:t>sandcastle-tdd</a:t>
            </a:r>
          </a:p>
        </p:txBody>
      </p:sp>
      <p:sp>
        <p:nvSpPr>
          <p:cNvPr id="12" name="TextBox 11"/>
          <p:cNvSpPr txBox="1"/>
          <p:nvPr/>
        </p:nvSpPr>
        <p:spPr>
          <a:xfrm>
            <a:off x="777240" y="2971800"/>
            <a:ext cx="7589520" cy="1280160"/>
          </a:xfrm>
          <a:prstGeom prst="rect">
            <a:avLst/>
          </a:prstGeom>
          <a:noFill/>
        </p:spPr>
        <p:txBody>
          <a:bodyPr wrap="square" anchor="t" lIns="0" rIns="0" tIns="0" bIns="0">
            <a:spAutoFit/>
          </a:bodyPr>
          <a:lstStyle/>
          <a:p>
            <a:pPr algn="l">
              <a:lnSpc>
                <a:spcPct val="110000"/>
              </a:lnSpc>
              <a:spcBef>
                <a:spcPts val="0"/>
              </a:spcBef>
              <a:spcAft>
                <a:spcPts val="400"/>
              </a:spcAft>
            </a:pPr>
            <a:r>
              <a:rPr sz="2200" b="0" i="0">
                <a:solidFill>
                  <a:srgbClr val="E2E8F0"/>
                </a:solidFill>
                <a:latin typeface="Arial"/>
              </a:rPr>
              <a:t>Sharpen your tools: fast prototyping, and a pattern</a:t>
            </a:r>
          </a:p>
          <a:p>
            <a:pPr algn="l">
              <a:lnSpc>
                <a:spcPct val="110000"/>
              </a:lnSpc>
              <a:spcBef>
                <a:spcPts val="0"/>
              </a:spcBef>
              <a:spcAft>
                <a:spcPts val="400"/>
              </a:spcAft>
            </a:pPr>
            <a:r>
              <a:rPr sz="2200" b="0" i="0">
                <a:solidFill>
                  <a:srgbClr val="E2E8F0"/>
                </a:solidFill>
                <a:latin typeface="Arial"/>
              </a:rPr>
              <a:t>for building systems that actually leverage AI.</a:t>
            </a:r>
          </a:p>
        </p:txBody>
      </p:sp>
      <p:sp>
        <p:nvSpPr>
          <p:cNvPr id="13" name="Rectangle 12"/>
          <p:cNvSpPr/>
          <p:nvPr/>
        </p:nvSpPr>
        <p:spPr>
          <a:xfrm>
            <a:off x="795528" y="4343400"/>
            <a:ext cx="12801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572000"/>
            <a:ext cx="7589520" cy="8229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94A3B8"/>
                </a:solidFill>
                <a:latin typeface="Arial"/>
              </a:rPr>
              <a:t>Parallel coding agents that </a:t>
            </a:r>
            <a:r>
              <a:rPr sz="1500" b="1" i="0">
                <a:solidFill>
                  <a:srgbClr val="F8FAFC"/>
                </a:solidFill>
                <a:latin typeface="Arial"/>
              </a:rPr>
              <a:t>can't mark their own work done</a:t>
            </a:r>
            <a:r>
              <a:rPr sz="1500" b="0" i="0">
                <a:solidFill>
                  <a:srgbClr val="94A3B8"/>
                </a:solidFill>
                <a:latin typeface="Arial"/>
              </a:rPr>
              <a:t> and </a:t>
            </a:r>
            <a:r>
              <a:rPr sz="1500" b="1" i="0">
                <a:solidFill>
                  <a:srgbClr val="F8FAFC"/>
                </a:solidFill>
                <a:latin typeface="Arial"/>
              </a:rPr>
              <a:t>ask instead of guessing</a:t>
            </a:r>
            <a:r>
              <a:rPr sz="1500" b="0" i="0">
                <a:solidFill>
                  <a:srgbClr val="94A3B8"/>
                </a:solidFill>
                <a:latin typeface="Arial"/>
              </a:rPr>
              <a:t>.</a:t>
            </a:r>
          </a:p>
        </p:txBody>
      </p:sp>
      <p:sp>
        <p:nvSpPr>
          <p:cNvPr id="15" name="TextBox 14"/>
          <p:cNvSpPr txBox="1"/>
          <p:nvPr/>
        </p:nvSpPr>
        <p:spPr>
          <a:xfrm>
            <a:off x="777240" y="5806440"/>
            <a:ext cx="731520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0" i="0">
                <a:solidFill>
                  <a:srgbClr val="94A3B8"/>
                </a:solidFill>
                <a:latin typeface="Arial"/>
              </a:rPr>
              <a:t>Zach Thieme  ·  team walkthrough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WHY I'M SHOWING YOU THIS</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Two takeaways, one small repo</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5394960" cy="4023360"/>
          </a:xfrm>
          <a:prstGeom prst="roundRect">
            <a:avLst>
              <a:gd name="adj" fmla="val 45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539496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40280"/>
            <a:ext cx="1828800" cy="822960"/>
          </a:xfrm>
          <a:prstGeom prst="rect">
            <a:avLst/>
          </a:prstGeom>
          <a:noFill/>
        </p:spPr>
        <p:txBody>
          <a:bodyPr wrap="square" anchor="t" lIns="0" rIns="0" tIns="0" bIns="0">
            <a:spAutoFit/>
          </a:bodyPr>
          <a:lstStyle/>
          <a:p>
            <a:pPr algn="l">
              <a:lnSpc>
                <a:spcPct val="105000"/>
              </a:lnSpc>
              <a:spcBef>
                <a:spcPts val="0"/>
              </a:spcBef>
              <a:spcAft>
                <a:spcPts val="0"/>
              </a:spcAft>
            </a:pPr>
            <a:r>
              <a:rPr sz="4400" b="1" i="0">
                <a:solidFill>
                  <a:srgbClr val="F59E0B"/>
                </a:solidFill>
                <a:latin typeface="Arial"/>
              </a:rPr>
              <a:t>01</a:t>
            </a:r>
          </a:p>
        </p:txBody>
      </p:sp>
      <p:sp>
        <p:nvSpPr>
          <p:cNvPr id="9" name="TextBox 8"/>
          <p:cNvSpPr txBox="1"/>
          <p:nvPr/>
        </p:nvSpPr>
        <p:spPr>
          <a:xfrm>
            <a:off x="1051560" y="3200400"/>
            <a:ext cx="4572000" cy="640080"/>
          </a:xfrm>
          <a:prstGeom prst="rect">
            <a:avLst/>
          </a:prstGeom>
          <a:noFill/>
        </p:spPr>
        <p:txBody>
          <a:bodyPr wrap="square" anchor="t" lIns="0" rIns="0" tIns="0" bIns="0">
            <a:spAutoFit/>
          </a:bodyPr>
          <a:lstStyle/>
          <a:p>
            <a:pPr algn="l">
              <a:lnSpc>
                <a:spcPct val="105000"/>
              </a:lnSpc>
              <a:spcBef>
                <a:spcPts val="0"/>
              </a:spcBef>
              <a:spcAft>
                <a:spcPts val="0"/>
              </a:spcAft>
            </a:pPr>
            <a:r>
              <a:rPr sz="2600" b="1" i="0">
                <a:solidFill>
                  <a:srgbClr val="F8FAFC"/>
                </a:solidFill>
                <a:latin typeface="Arial"/>
              </a:rPr>
              <a:t>Sharpen your tools</a:t>
            </a:r>
          </a:p>
        </p:txBody>
      </p:sp>
      <p:sp>
        <p:nvSpPr>
          <p:cNvPr id="10" name="TextBox 9"/>
          <p:cNvSpPr txBox="1"/>
          <p:nvPr/>
        </p:nvSpPr>
        <p:spPr>
          <a:xfrm>
            <a:off x="1051560" y="3977639"/>
            <a:ext cx="4572000" cy="137160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E2E8F0"/>
                </a:solidFill>
                <a:latin typeface="Arial"/>
              </a:rPr>
              <a:t>You can build the tool you wish existed in a weekend now. This repo is ~950 lines, 11 commits, 2 days — a real tool I use, not a demo.</a:t>
            </a:r>
          </a:p>
        </p:txBody>
      </p:sp>
      <p:sp>
        <p:nvSpPr>
          <p:cNvPr id="11" name="TextBox 10"/>
          <p:cNvSpPr txBox="1"/>
          <p:nvPr/>
        </p:nvSpPr>
        <p:spPr>
          <a:xfrm>
            <a:off x="1051560" y="5349240"/>
            <a:ext cx="4572000" cy="548640"/>
          </a:xfrm>
          <a:prstGeom prst="rect">
            <a:avLst/>
          </a:prstGeom>
          <a:noFill/>
        </p:spPr>
        <p:txBody>
          <a:bodyPr wrap="square" anchor="t" lIns="0" rIns="0" tIns="0" bIns="0">
            <a:spAutoFit/>
          </a:bodyPr>
          <a:lstStyle/>
          <a:p>
            <a:pPr algn="l">
              <a:lnSpc>
                <a:spcPct val="112000"/>
              </a:lnSpc>
              <a:spcBef>
                <a:spcPts val="0"/>
              </a:spcBef>
              <a:spcAft>
                <a:spcPts val="0"/>
              </a:spcAft>
            </a:pPr>
            <a:r>
              <a:rPr sz="1300" b="0" i="1">
                <a:solidFill>
                  <a:srgbClr val="F59E0B"/>
                </a:solidFill>
                <a:latin typeface="Arial"/>
              </a:rPr>
              <a:t>The bottleneck moved from "can I build it" to "do I know what I want."</a:t>
            </a:r>
          </a:p>
        </p:txBody>
      </p:sp>
      <p:sp>
        <p:nvSpPr>
          <p:cNvPr id="12" name="Rounded Rectangle 11"/>
          <p:cNvSpPr/>
          <p:nvPr/>
        </p:nvSpPr>
        <p:spPr>
          <a:xfrm>
            <a:off x="6263640" y="1828800"/>
            <a:ext cx="5394960" cy="4023360"/>
          </a:xfrm>
          <a:prstGeom prst="roundRect">
            <a:avLst>
              <a:gd name="adj" fmla="val 45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828800"/>
            <a:ext cx="5394960" cy="1280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2240280"/>
            <a:ext cx="1828800" cy="822960"/>
          </a:xfrm>
          <a:prstGeom prst="rect">
            <a:avLst/>
          </a:prstGeom>
          <a:noFill/>
        </p:spPr>
        <p:txBody>
          <a:bodyPr wrap="square" anchor="t" lIns="0" rIns="0" tIns="0" bIns="0">
            <a:spAutoFit/>
          </a:bodyPr>
          <a:lstStyle/>
          <a:p>
            <a:pPr algn="l">
              <a:lnSpc>
                <a:spcPct val="105000"/>
              </a:lnSpc>
              <a:spcBef>
                <a:spcPts val="0"/>
              </a:spcBef>
              <a:spcAft>
                <a:spcPts val="0"/>
              </a:spcAft>
            </a:pPr>
            <a:r>
              <a:rPr sz="4400" b="1" i="0">
                <a:solidFill>
                  <a:srgbClr val="38BDF8"/>
                </a:solidFill>
                <a:latin typeface="Arial"/>
              </a:rPr>
              <a:t>02</a:t>
            </a:r>
          </a:p>
        </p:txBody>
      </p:sp>
      <p:sp>
        <p:nvSpPr>
          <p:cNvPr id="15" name="TextBox 14"/>
          <p:cNvSpPr txBox="1"/>
          <p:nvPr/>
        </p:nvSpPr>
        <p:spPr>
          <a:xfrm>
            <a:off x="6675120" y="3200400"/>
            <a:ext cx="4572000" cy="640080"/>
          </a:xfrm>
          <a:prstGeom prst="rect">
            <a:avLst/>
          </a:prstGeom>
          <a:noFill/>
        </p:spPr>
        <p:txBody>
          <a:bodyPr wrap="square" anchor="t" lIns="0" rIns="0" tIns="0" bIns="0">
            <a:spAutoFit/>
          </a:bodyPr>
          <a:lstStyle/>
          <a:p>
            <a:pPr algn="l">
              <a:lnSpc>
                <a:spcPct val="105000"/>
              </a:lnSpc>
              <a:spcBef>
                <a:spcPts val="0"/>
              </a:spcBef>
              <a:spcAft>
                <a:spcPts val="0"/>
              </a:spcAft>
            </a:pPr>
            <a:r>
              <a:rPr sz="2600" b="1" i="0">
                <a:solidFill>
                  <a:srgbClr val="F8FAFC"/>
                </a:solidFill>
                <a:latin typeface="Arial"/>
              </a:rPr>
              <a:t>Leverage AI as a system</a:t>
            </a:r>
          </a:p>
        </p:txBody>
      </p:sp>
      <p:sp>
        <p:nvSpPr>
          <p:cNvPr id="16" name="TextBox 15"/>
          <p:cNvSpPr txBox="1"/>
          <p:nvPr/>
        </p:nvSpPr>
        <p:spPr>
          <a:xfrm>
            <a:off x="6675120" y="3977639"/>
            <a:ext cx="4572000" cy="137160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E2E8F0"/>
                </a:solidFill>
                <a:latin typeface="Arial"/>
              </a:rPr>
              <a:t>Turning a model into something dependable is an engineering problem: who owns "done", what happens on ambiguity, how work stays isolated and resumable.</a:t>
            </a:r>
          </a:p>
        </p:txBody>
      </p:sp>
      <p:sp>
        <p:nvSpPr>
          <p:cNvPr id="17" name="TextBox 16"/>
          <p:cNvSpPr txBox="1"/>
          <p:nvPr/>
        </p:nvSpPr>
        <p:spPr>
          <a:xfrm>
            <a:off x="6675120" y="5349240"/>
            <a:ext cx="4572000" cy="548640"/>
          </a:xfrm>
          <a:prstGeom prst="rect">
            <a:avLst/>
          </a:prstGeom>
          <a:noFill/>
        </p:spPr>
        <p:txBody>
          <a:bodyPr wrap="square" anchor="t" lIns="0" rIns="0" tIns="0" bIns="0">
            <a:spAutoFit/>
          </a:bodyPr>
          <a:lstStyle/>
          <a:p>
            <a:pPr algn="l">
              <a:lnSpc>
                <a:spcPct val="112000"/>
              </a:lnSpc>
              <a:spcBef>
                <a:spcPts val="0"/>
              </a:spcBef>
              <a:spcAft>
                <a:spcPts val="0"/>
              </a:spcAft>
            </a:pPr>
            <a:r>
              <a:rPr sz="1300" b="0" i="1">
                <a:solidFill>
                  <a:srgbClr val="38BDF8"/>
                </a:solidFill>
                <a:latin typeface="Arial"/>
              </a:rPr>
              <a:t>The design patterns transfer to anything you build on top of an LLM.</a:t>
            </a:r>
          </a:p>
        </p:txBody>
      </p:sp>
      <p:sp>
        <p:nvSpPr>
          <p:cNvPr id="18" name="TextBox 17"/>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19" name="TextBox 18"/>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THE ONE-LINER</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Run your backlog as parallel agents</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914400"/>
          </a:xfrm>
          <a:prstGeom prst="rect">
            <a:avLst/>
          </a:prstGeom>
          <a:noFill/>
        </p:spPr>
        <p:txBody>
          <a:bodyPr wrap="square" anchor="t" lIns="0" rIns="0" tIns="0" bIns="0">
            <a:spAutoFit/>
          </a:bodyPr>
          <a:lstStyle/>
          <a:p>
            <a:pPr algn="l">
              <a:lnSpc>
                <a:spcPct val="120000"/>
              </a:lnSpc>
              <a:spcBef>
                <a:spcPts val="0"/>
              </a:spcBef>
              <a:spcAft>
                <a:spcPts val="600"/>
              </a:spcAft>
            </a:pPr>
            <a:r>
              <a:rPr sz="1700" b="0" i="0">
                <a:solidFill>
                  <a:srgbClr val="E2E8F0"/>
                </a:solidFill>
                <a:latin typeface="Arial"/>
              </a:rPr>
              <a:t>Each task gets a </a:t>
            </a:r>
            <a:r>
              <a:rPr sz="1700" b="1" i="0">
                <a:solidFill>
                  <a:srgbClr val="F59E0B"/>
                </a:solidFill>
                <a:latin typeface="Arial"/>
              </a:rPr>
              <a:t>container</a:t>
            </a:r>
            <a:r>
              <a:rPr sz="1700" b="0" i="0">
                <a:solidFill>
                  <a:srgbClr val="E2E8F0"/>
                </a:solidFill>
                <a:latin typeface="Arial"/>
              </a:rPr>
              <a:t>, a </a:t>
            </a:r>
            <a:r>
              <a:rPr sz="1700" b="1" i="0">
                <a:solidFill>
                  <a:srgbClr val="F59E0B"/>
                </a:solidFill>
                <a:latin typeface="Arial"/>
              </a:rPr>
              <a:t>branch</a:t>
            </a:r>
            <a:r>
              <a:rPr sz="1700" b="0" i="0">
                <a:solidFill>
                  <a:srgbClr val="E2E8F0"/>
                </a:solidFill>
                <a:latin typeface="Arial"/>
              </a:rPr>
              <a:t>, and a </a:t>
            </a:r>
            <a:r>
              <a:rPr sz="1700" b="1" i="0">
                <a:solidFill>
                  <a:srgbClr val="F59E0B"/>
                </a:solidFill>
                <a:latin typeface="Arial"/>
              </a:rPr>
              <a:t>TDD loop</a:t>
            </a:r>
            <a:r>
              <a:rPr sz="1700" b="0" i="0">
                <a:solidFill>
                  <a:srgbClr val="E2E8F0"/>
                </a:solidFill>
                <a:latin typeface="Arial"/>
              </a:rPr>
              <a:t> the orchestrator drives.</a:t>
            </a:r>
          </a:p>
          <a:p>
            <a:pPr algn="l">
              <a:lnSpc>
                <a:spcPct val="120000"/>
              </a:lnSpc>
              <a:spcBef>
                <a:spcPts val="0"/>
              </a:spcBef>
              <a:spcAft>
                <a:spcPts val="600"/>
              </a:spcAft>
            </a:pPr>
            <a:r>
              <a:rPr sz="1700" b="0" i="0">
                <a:solidFill>
                  <a:srgbClr val="94A3B8"/>
                </a:solidFill>
                <a:latin typeface="Arial"/>
              </a:rPr>
              <a:t>A Telegram message — or the local status page — tells you when one needs a decision; commits land on a branch when one succeeds.</a:t>
            </a:r>
          </a:p>
        </p:txBody>
      </p:sp>
      <p:sp>
        <p:nvSpPr>
          <p:cNvPr id="7" name="Rounded Rectangle 6"/>
          <p:cNvSpPr/>
          <p:nvPr/>
        </p:nvSpPr>
        <p:spPr>
          <a:xfrm>
            <a:off x="640080" y="2971800"/>
            <a:ext cx="5394960" cy="128016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3291840"/>
            <a:ext cx="10058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19" y="3172968"/>
            <a:ext cx="4617720" cy="960120"/>
          </a:xfrm>
          <a:prstGeom prst="rect">
            <a:avLst/>
          </a:prstGeom>
          <a:noFill/>
        </p:spPr>
        <p:txBody>
          <a:bodyPr wrap="square" anchor="ctr" lIns="0" rIns="0" tIns="0" bIns="0">
            <a:spAutoFit/>
          </a:bodyPr>
          <a:lstStyle/>
          <a:p>
            <a:pPr algn="l">
              <a:lnSpc>
                <a:spcPct val="110000"/>
              </a:lnSpc>
              <a:spcBef>
                <a:spcPts val="0"/>
              </a:spcBef>
              <a:spcAft>
                <a:spcPts val="400"/>
              </a:spcAft>
            </a:pPr>
            <a:r>
              <a:rPr sz="1600" b="1" i="0">
                <a:solidFill>
                  <a:srgbClr val="F8FAFC"/>
                </a:solidFill>
                <a:latin typeface="Arial"/>
              </a:rPr>
              <a:t>Cannot self-certify</a:t>
            </a:r>
          </a:p>
          <a:p>
            <a:pPr algn="l">
              <a:lnSpc>
                <a:spcPct val="110000"/>
              </a:lnSpc>
              <a:spcBef>
                <a:spcPts val="0"/>
              </a:spcBef>
              <a:spcAft>
                <a:spcPts val="400"/>
              </a:spcAft>
            </a:pPr>
            <a:r>
              <a:rPr sz="1250" b="0" i="0">
                <a:solidFill>
                  <a:srgbClr val="94A3B8"/>
                </a:solidFill>
                <a:latin typeface="Arial"/>
              </a:rPr>
              <a:t>"Green" means your test command exited 0 — checked by the orchestrator, never the agent's claim.</a:t>
            </a:r>
          </a:p>
        </p:txBody>
      </p:sp>
      <p:sp>
        <p:nvSpPr>
          <p:cNvPr id="10" name="Rounded Rectangle 9"/>
          <p:cNvSpPr/>
          <p:nvPr/>
        </p:nvSpPr>
        <p:spPr>
          <a:xfrm>
            <a:off x="6172200" y="2971800"/>
            <a:ext cx="5394960" cy="128016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3291840"/>
            <a:ext cx="10058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3172968"/>
            <a:ext cx="4617720" cy="960120"/>
          </a:xfrm>
          <a:prstGeom prst="rect">
            <a:avLst/>
          </a:prstGeom>
          <a:noFill/>
        </p:spPr>
        <p:txBody>
          <a:bodyPr wrap="square" anchor="ctr" lIns="0" rIns="0" tIns="0" bIns="0">
            <a:spAutoFit/>
          </a:bodyPr>
          <a:lstStyle/>
          <a:p>
            <a:pPr algn="l">
              <a:lnSpc>
                <a:spcPct val="110000"/>
              </a:lnSpc>
              <a:spcBef>
                <a:spcPts val="0"/>
              </a:spcBef>
              <a:spcAft>
                <a:spcPts val="400"/>
              </a:spcAft>
            </a:pPr>
            <a:r>
              <a:rPr sz="1600" b="1" i="0">
                <a:solidFill>
                  <a:srgbClr val="F8FAFC"/>
                </a:solidFill>
                <a:latin typeface="Arial"/>
              </a:rPr>
              <a:t>Asks instead of guessing</a:t>
            </a:r>
          </a:p>
          <a:p>
            <a:pPr algn="l">
              <a:lnSpc>
                <a:spcPct val="110000"/>
              </a:lnSpc>
              <a:spcBef>
                <a:spcPts val="0"/>
              </a:spcBef>
              <a:spcAft>
                <a:spcPts val="400"/>
              </a:spcAft>
            </a:pPr>
            <a:r>
              <a:rPr sz="1250" b="0" i="0">
                <a:solidFill>
                  <a:srgbClr val="94A3B8"/>
                </a:solidFill>
                <a:latin typeface="Arial"/>
              </a:rPr>
              <a:t>An ambiguous task parks with a question to you rather than inventing an answer.</a:t>
            </a:r>
          </a:p>
        </p:txBody>
      </p:sp>
      <p:sp>
        <p:nvSpPr>
          <p:cNvPr id="13" name="Rounded Rectangle 12"/>
          <p:cNvSpPr/>
          <p:nvPr/>
        </p:nvSpPr>
        <p:spPr>
          <a:xfrm>
            <a:off x="640080" y="4389120"/>
            <a:ext cx="5394960" cy="128016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4709159"/>
            <a:ext cx="10058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19" y="4590288"/>
            <a:ext cx="4617720" cy="960120"/>
          </a:xfrm>
          <a:prstGeom prst="rect">
            <a:avLst/>
          </a:prstGeom>
          <a:noFill/>
        </p:spPr>
        <p:txBody>
          <a:bodyPr wrap="square" anchor="ctr" lIns="0" rIns="0" tIns="0" bIns="0">
            <a:spAutoFit/>
          </a:bodyPr>
          <a:lstStyle/>
          <a:p>
            <a:pPr algn="l">
              <a:lnSpc>
                <a:spcPct val="110000"/>
              </a:lnSpc>
              <a:spcBef>
                <a:spcPts val="0"/>
              </a:spcBef>
              <a:spcAft>
                <a:spcPts val="400"/>
              </a:spcAft>
            </a:pPr>
            <a:r>
              <a:rPr sz="1600" b="1" i="0">
                <a:solidFill>
                  <a:srgbClr val="F8FAFC"/>
                </a:solidFill>
                <a:latin typeface="Arial"/>
              </a:rPr>
              <a:t>Parallel, isolated</a:t>
            </a:r>
          </a:p>
          <a:p>
            <a:pPr algn="l">
              <a:lnSpc>
                <a:spcPct val="110000"/>
              </a:lnSpc>
              <a:spcBef>
                <a:spcPts val="0"/>
              </a:spcBef>
              <a:spcAft>
                <a:spcPts val="400"/>
              </a:spcAft>
            </a:pPr>
            <a:r>
              <a:rPr sz="1250" b="0" i="0">
                <a:solidFill>
                  <a:srgbClr val="94A3B8"/>
                </a:solidFill>
                <a:latin typeface="Arial"/>
              </a:rPr>
              <a:t>One branch + worktree + container per task; concurrent tasks can't corrupt each other.</a:t>
            </a:r>
          </a:p>
        </p:txBody>
      </p:sp>
      <p:sp>
        <p:nvSpPr>
          <p:cNvPr id="16" name="Rounded Rectangle 15"/>
          <p:cNvSpPr/>
          <p:nvPr/>
        </p:nvSpPr>
        <p:spPr>
          <a:xfrm>
            <a:off x="6172200" y="4389120"/>
            <a:ext cx="5394960" cy="128016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4709159"/>
            <a:ext cx="10058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4590288"/>
            <a:ext cx="4617720" cy="960120"/>
          </a:xfrm>
          <a:prstGeom prst="rect">
            <a:avLst/>
          </a:prstGeom>
          <a:noFill/>
        </p:spPr>
        <p:txBody>
          <a:bodyPr wrap="square" anchor="ctr" lIns="0" rIns="0" tIns="0" bIns="0">
            <a:spAutoFit/>
          </a:bodyPr>
          <a:lstStyle/>
          <a:p>
            <a:pPr algn="l">
              <a:lnSpc>
                <a:spcPct val="110000"/>
              </a:lnSpc>
              <a:spcBef>
                <a:spcPts val="0"/>
              </a:spcBef>
              <a:spcAft>
                <a:spcPts val="400"/>
              </a:spcAft>
            </a:pPr>
            <a:r>
              <a:rPr sz="1600" b="1" i="0">
                <a:solidFill>
                  <a:srgbClr val="F8FAFC"/>
                </a:solidFill>
                <a:latin typeface="Arial"/>
              </a:rPr>
              <a:t>Resumable</a:t>
            </a:r>
          </a:p>
          <a:p>
            <a:pPr algn="l">
              <a:lnSpc>
                <a:spcPct val="110000"/>
              </a:lnSpc>
              <a:spcBef>
                <a:spcPts val="0"/>
              </a:spcBef>
              <a:spcAft>
                <a:spcPts val="400"/>
              </a:spcAft>
            </a:pPr>
            <a:r>
              <a:rPr sz="1250" b="0" i="0">
                <a:solidFill>
                  <a:srgbClr val="94A3B8"/>
                </a:solidFill>
                <a:latin typeface="Arial"/>
              </a:rPr>
              <a:t>A parked or failed agent resumes later with full context — new container, same session.</a:t>
            </a:r>
          </a:p>
        </p:txBody>
      </p:sp>
      <p:sp>
        <p:nvSpPr>
          <p:cNvPr id="19" name="TextBox 18"/>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0" name="TextBox 19"/>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WHY BUILD IT AT ALL</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Raw agents have four failure modes</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10881360" cy="1042415"/>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74519"/>
            <a:ext cx="118872" cy="1042415"/>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1097280" cy="1042415"/>
          </a:xfrm>
          <a:prstGeom prst="rect">
            <a:avLst/>
          </a:prstGeom>
          <a:noFill/>
        </p:spPr>
        <p:txBody>
          <a:bodyPr wrap="square" anchor="ctr" lIns="0" rIns="0" tIns="0" bIns="0">
            <a:spAutoFit/>
          </a:bodyPr>
          <a:lstStyle/>
          <a:p>
            <a:pPr algn="l">
              <a:lnSpc>
                <a:spcPct val="105000"/>
              </a:lnSpc>
              <a:spcBef>
                <a:spcPts val="0"/>
              </a:spcBef>
              <a:spcAft>
                <a:spcPts val="0"/>
              </a:spcAft>
            </a:pPr>
            <a:r>
              <a:rPr sz="2600" b="1" i="0">
                <a:solidFill>
                  <a:srgbClr val="F87171"/>
                </a:solidFill>
                <a:latin typeface="Arial"/>
              </a:rPr>
              <a:t>✕</a:t>
            </a:r>
          </a:p>
        </p:txBody>
      </p:sp>
      <p:sp>
        <p:nvSpPr>
          <p:cNvPr id="9" name="TextBox 8"/>
          <p:cNvSpPr txBox="1"/>
          <p:nvPr/>
        </p:nvSpPr>
        <p:spPr>
          <a:xfrm>
            <a:off x="1828800" y="2039112"/>
            <a:ext cx="9418320" cy="777240"/>
          </a:xfrm>
          <a:prstGeom prst="rect">
            <a:avLst/>
          </a:prstGeom>
          <a:noFill/>
        </p:spPr>
        <p:txBody>
          <a:bodyPr wrap="square" anchor="ctr" lIns="0" rIns="0" tIns="0" bIns="0">
            <a:spAutoFit/>
          </a:bodyPr>
          <a:lstStyle/>
          <a:p>
            <a:pPr algn="l">
              <a:lnSpc>
                <a:spcPct val="108000"/>
              </a:lnSpc>
              <a:spcBef>
                <a:spcPts val="0"/>
              </a:spcBef>
              <a:spcAft>
                <a:spcPts val="300"/>
              </a:spcAft>
            </a:pPr>
            <a:r>
              <a:rPr sz="1700" b="1" i="0">
                <a:solidFill>
                  <a:srgbClr val="F8FAFC"/>
                </a:solidFill>
                <a:latin typeface="Arial"/>
              </a:rPr>
              <a:t>They grade their own homework</a:t>
            </a:r>
          </a:p>
          <a:p>
            <a:pPr algn="l">
              <a:lnSpc>
                <a:spcPct val="108000"/>
              </a:lnSpc>
              <a:spcBef>
                <a:spcPts val="0"/>
              </a:spcBef>
              <a:spcAft>
                <a:spcPts val="300"/>
              </a:spcAft>
            </a:pPr>
            <a:r>
              <a:rPr sz="1300" b="0" i="0">
                <a:solidFill>
                  <a:srgbClr val="94A3B8"/>
                </a:solidFill>
                <a:latin typeface="Arial"/>
              </a:rPr>
              <a:t>Agents emit "I'm done" over a red test suite. A self-reported success is not a signal you can build on.</a:t>
            </a:r>
          </a:p>
        </p:txBody>
      </p:sp>
      <p:sp>
        <p:nvSpPr>
          <p:cNvPr id="10" name="Rounded Rectangle 9"/>
          <p:cNvSpPr/>
          <p:nvPr/>
        </p:nvSpPr>
        <p:spPr>
          <a:xfrm>
            <a:off x="640080" y="3017520"/>
            <a:ext cx="10881360" cy="1042415"/>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017520"/>
            <a:ext cx="118872" cy="1042415"/>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017520"/>
            <a:ext cx="1097280" cy="1042415"/>
          </a:xfrm>
          <a:prstGeom prst="rect">
            <a:avLst/>
          </a:prstGeom>
          <a:noFill/>
        </p:spPr>
        <p:txBody>
          <a:bodyPr wrap="square" anchor="ctr" lIns="0" rIns="0" tIns="0" bIns="0">
            <a:spAutoFit/>
          </a:bodyPr>
          <a:lstStyle/>
          <a:p>
            <a:pPr algn="l">
              <a:lnSpc>
                <a:spcPct val="105000"/>
              </a:lnSpc>
              <a:spcBef>
                <a:spcPts val="0"/>
              </a:spcBef>
              <a:spcAft>
                <a:spcPts val="0"/>
              </a:spcAft>
            </a:pPr>
            <a:r>
              <a:rPr sz="2600" b="1" i="0">
                <a:solidFill>
                  <a:srgbClr val="F87171"/>
                </a:solidFill>
                <a:latin typeface="Arial"/>
              </a:rPr>
              <a:t>✕</a:t>
            </a:r>
          </a:p>
        </p:txBody>
      </p:sp>
      <p:sp>
        <p:nvSpPr>
          <p:cNvPr id="13" name="TextBox 12"/>
          <p:cNvSpPr txBox="1"/>
          <p:nvPr/>
        </p:nvSpPr>
        <p:spPr>
          <a:xfrm>
            <a:off x="1828800" y="3182112"/>
            <a:ext cx="9418320" cy="777240"/>
          </a:xfrm>
          <a:prstGeom prst="rect">
            <a:avLst/>
          </a:prstGeom>
          <a:noFill/>
        </p:spPr>
        <p:txBody>
          <a:bodyPr wrap="square" anchor="ctr" lIns="0" rIns="0" tIns="0" bIns="0">
            <a:spAutoFit/>
          </a:bodyPr>
          <a:lstStyle/>
          <a:p>
            <a:pPr algn="l">
              <a:lnSpc>
                <a:spcPct val="108000"/>
              </a:lnSpc>
              <a:spcBef>
                <a:spcPts val="0"/>
              </a:spcBef>
              <a:spcAft>
                <a:spcPts val="300"/>
              </a:spcAft>
            </a:pPr>
            <a:r>
              <a:rPr sz="1700" b="1" i="0">
                <a:solidFill>
                  <a:srgbClr val="F8FAFC"/>
                </a:solidFill>
                <a:latin typeface="Arial"/>
              </a:rPr>
              <a:t>They guess when unsure</a:t>
            </a:r>
          </a:p>
          <a:p>
            <a:pPr algn="l">
              <a:lnSpc>
                <a:spcPct val="108000"/>
              </a:lnSpc>
              <a:spcBef>
                <a:spcPts val="0"/>
              </a:spcBef>
              <a:spcAft>
                <a:spcPts val="300"/>
              </a:spcAft>
            </a:pPr>
            <a:r>
              <a:rPr sz="1300" b="0" i="0">
                <a:solidFill>
                  <a:srgbClr val="94A3B8"/>
                </a:solidFill>
                <a:latin typeface="Arial"/>
              </a:rPr>
              <a:t>Faced with an ambiguous spec, a model picks something plausible and moves on — the wrong default, silently.</a:t>
            </a:r>
          </a:p>
        </p:txBody>
      </p:sp>
      <p:sp>
        <p:nvSpPr>
          <p:cNvPr id="14" name="Rounded Rectangle 13"/>
          <p:cNvSpPr/>
          <p:nvPr/>
        </p:nvSpPr>
        <p:spPr>
          <a:xfrm>
            <a:off x="640080" y="4160520"/>
            <a:ext cx="10881360" cy="1042415"/>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160520"/>
            <a:ext cx="118872" cy="1042415"/>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60520"/>
            <a:ext cx="1097280" cy="1042415"/>
          </a:xfrm>
          <a:prstGeom prst="rect">
            <a:avLst/>
          </a:prstGeom>
          <a:noFill/>
        </p:spPr>
        <p:txBody>
          <a:bodyPr wrap="square" anchor="ctr" lIns="0" rIns="0" tIns="0" bIns="0">
            <a:spAutoFit/>
          </a:bodyPr>
          <a:lstStyle/>
          <a:p>
            <a:pPr algn="l">
              <a:lnSpc>
                <a:spcPct val="105000"/>
              </a:lnSpc>
              <a:spcBef>
                <a:spcPts val="0"/>
              </a:spcBef>
              <a:spcAft>
                <a:spcPts val="0"/>
              </a:spcAft>
            </a:pPr>
            <a:r>
              <a:rPr sz="2600" b="1" i="0">
                <a:solidFill>
                  <a:srgbClr val="F87171"/>
                </a:solidFill>
                <a:latin typeface="Arial"/>
              </a:rPr>
              <a:t>✕</a:t>
            </a:r>
          </a:p>
        </p:txBody>
      </p:sp>
      <p:sp>
        <p:nvSpPr>
          <p:cNvPr id="17" name="TextBox 16"/>
          <p:cNvSpPr txBox="1"/>
          <p:nvPr/>
        </p:nvSpPr>
        <p:spPr>
          <a:xfrm>
            <a:off x="1828800" y="4325112"/>
            <a:ext cx="9418320" cy="777240"/>
          </a:xfrm>
          <a:prstGeom prst="rect">
            <a:avLst/>
          </a:prstGeom>
          <a:noFill/>
        </p:spPr>
        <p:txBody>
          <a:bodyPr wrap="square" anchor="ctr" lIns="0" rIns="0" tIns="0" bIns="0">
            <a:spAutoFit/>
          </a:bodyPr>
          <a:lstStyle/>
          <a:p>
            <a:pPr algn="l">
              <a:lnSpc>
                <a:spcPct val="108000"/>
              </a:lnSpc>
              <a:spcBef>
                <a:spcPts val="0"/>
              </a:spcBef>
              <a:spcAft>
                <a:spcPts val="300"/>
              </a:spcAft>
            </a:pPr>
            <a:r>
              <a:rPr sz="1700" b="1" i="0">
                <a:solidFill>
                  <a:srgbClr val="F8FAFC"/>
                </a:solidFill>
                <a:latin typeface="Arial"/>
              </a:rPr>
              <a:t>They step on each other</a:t>
            </a:r>
          </a:p>
          <a:p>
            <a:pPr algn="l">
              <a:lnSpc>
                <a:spcPct val="108000"/>
              </a:lnSpc>
              <a:spcBef>
                <a:spcPts val="0"/>
              </a:spcBef>
              <a:spcAft>
                <a:spcPts val="300"/>
              </a:spcAft>
            </a:pPr>
            <a:r>
              <a:rPr sz="1300" b="0" i="0">
                <a:solidFill>
                  <a:srgbClr val="94A3B8"/>
                </a:solidFill>
                <a:latin typeface="Arial"/>
              </a:rPr>
              <a:t>Run several at once on one tree and they corrupt each other's state; so you serialize, and lose the parallelism.</a:t>
            </a:r>
          </a:p>
        </p:txBody>
      </p:sp>
      <p:sp>
        <p:nvSpPr>
          <p:cNvPr id="18" name="Rounded Rectangle 17"/>
          <p:cNvSpPr/>
          <p:nvPr/>
        </p:nvSpPr>
        <p:spPr>
          <a:xfrm>
            <a:off x="640080" y="5303520"/>
            <a:ext cx="10881360" cy="1042415"/>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303520"/>
            <a:ext cx="118872" cy="1042415"/>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3520"/>
            <a:ext cx="1097280" cy="1042415"/>
          </a:xfrm>
          <a:prstGeom prst="rect">
            <a:avLst/>
          </a:prstGeom>
          <a:noFill/>
        </p:spPr>
        <p:txBody>
          <a:bodyPr wrap="square" anchor="ctr" lIns="0" rIns="0" tIns="0" bIns="0">
            <a:spAutoFit/>
          </a:bodyPr>
          <a:lstStyle/>
          <a:p>
            <a:pPr algn="l">
              <a:lnSpc>
                <a:spcPct val="105000"/>
              </a:lnSpc>
              <a:spcBef>
                <a:spcPts val="0"/>
              </a:spcBef>
              <a:spcAft>
                <a:spcPts val="0"/>
              </a:spcAft>
            </a:pPr>
            <a:r>
              <a:rPr sz="2600" b="1" i="0">
                <a:solidFill>
                  <a:srgbClr val="F87171"/>
                </a:solidFill>
                <a:latin typeface="Arial"/>
              </a:rPr>
              <a:t>✕</a:t>
            </a:r>
          </a:p>
        </p:txBody>
      </p:sp>
      <p:sp>
        <p:nvSpPr>
          <p:cNvPr id="21" name="TextBox 20"/>
          <p:cNvSpPr txBox="1"/>
          <p:nvPr/>
        </p:nvSpPr>
        <p:spPr>
          <a:xfrm>
            <a:off x="1828800" y="5468112"/>
            <a:ext cx="9418320" cy="777240"/>
          </a:xfrm>
          <a:prstGeom prst="rect">
            <a:avLst/>
          </a:prstGeom>
          <a:noFill/>
        </p:spPr>
        <p:txBody>
          <a:bodyPr wrap="square" anchor="ctr" lIns="0" rIns="0" tIns="0" bIns="0">
            <a:spAutoFit/>
          </a:bodyPr>
          <a:lstStyle/>
          <a:p>
            <a:pPr algn="l">
              <a:lnSpc>
                <a:spcPct val="108000"/>
              </a:lnSpc>
              <a:spcBef>
                <a:spcPts val="0"/>
              </a:spcBef>
              <a:spcAft>
                <a:spcPts val="300"/>
              </a:spcAft>
            </a:pPr>
            <a:r>
              <a:rPr sz="1700" b="1" i="0">
                <a:solidFill>
                  <a:srgbClr val="F8FAFC"/>
                </a:solidFill>
                <a:latin typeface="Arial"/>
              </a:rPr>
              <a:t>They lose context on restart</a:t>
            </a:r>
          </a:p>
          <a:p>
            <a:pPr algn="l">
              <a:lnSpc>
                <a:spcPct val="108000"/>
              </a:lnSpc>
              <a:spcBef>
                <a:spcPts val="0"/>
              </a:spcBef>
              <a:spcAft>
                <a:spcPts val="300"/>
              </a:spcAft>
            </a:pPr>
            <a:r>
              <a:rPr sz="1300" b="0" i="0">
                <a:solidFill>
                  <a:srgbClr val="94A3B8"/>
                </a:solidFill>
                <a:latin typeface="Arial"/>
              </a:rPr>
              <a:t>A crash or a stall means starting over — re-deriving everything the previous attempt already figured out.</a:t>
            </a:r>
          </a:p>
        </p:txBody>
      </p:sp>
      <p:sp>
        <p:nvSpPr>
          <p:cNvPr id="22" name="TextBox 21"/>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3" name="TextBox 22"/>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22960"/>
            <a:ext cx="1051560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Arial"/>
              </a:rPr>
              <a:t>THE CORE OF THE DESIGN</a:t>
            </a:r>
          </a:p>
        </p:txBody>
      </p:sp>
      <p:sp>
        <p:nvSpPr>
          <p:cNvPr id="6" name="TextBox 5"/>
          <p:cNvSpPr txBox="1"/>
          <p:nvPr/>
        </p:nvSpPr>
        <p:spPr>
          <a:xfrm>
            <a:off x="804672" y="1234440"/>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8FAFC"/>
                </a:solidFill>
                <a:latin typeface="Arial"/>
              </a:rPr>
              <a:t>Four decisions that make an agent dependable</a:t>
            </a:r>
          </a:p>
        </p:txBody>
      </p:sp>
      <p:sp>
        <p:nvSpPr>
          <p:cNvPr id="7" name="Rounded Rectangle 6"/>
          <p:cNvSpPr/>
          <p:nvPr/>
        </p:nvSpPr>
        <p:spPr>
          <a:xfrm>
            <a:off x="822960" y="2468880"/>
            <a:ext cx="10561320" cy="914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468880"/>
            <a:ext cx="109728" cy="9144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96896"/>
            <a:ext cx="4023360" cy="685800"/>
          </a:xfrm>
          <a:prstGeom prst="rect">
            <a:avLst/>
          </a:prstGeom>
          <a:noFill/>
        </p:spPr>
        <p:txBody>
          <a:bodyPr wrap="square" anchor="ctr" lIns="0" rIns="0" tIns="0" bIns="0">
            <a:spAutoFit/>
          </a:bodyPr>
          <a:lstStyle/>
          <a:p>
            <a:pPr algn="l">
              <a:lnSpc>
                <a:spcPct val="100000"/>
              </a:lnSpc>
              <a:spcBef>
                <a:spcPts val="0"/>
              </a:spcBef>
              <a:spcAft>
                <a:spcPts val="0"/>
              </a:spcAft>
            </a:pPr>
            <a:r>
              <a:rPr sz="1550" b="1" i="0">
                <a:solidFill>
                  <a:srgbClr val="34D399"/>
                </a:solidFill>
                <a:latin typeface="Arial"/>
              </a:rPr>
              <a:t>The orchestrator owns "done"</a:t>
            </a:r>
          </a:p>
        </p:txBody>
      </p:sp>
      <p:sp>
        <p:nvSpPr>
          <p:cNvPr id="10" name="TextBox 9"/>
          <p:cNvSpPr txBox="1"/>
          <p:nvPr/>
        </p:nvSpPr>
        <p:spPr>
          <a:xfrm>
            <a:off x="5257800" y="2560320"/>
            <a:ext cx="5989320" cy="777240"/>
          </a:xfrm>
          <a:prstGeom prst="rect">
            <a:avLst/>
          </a:prstGeom>
          <a:noFill/>
        </p:spPr>
        <p:txBody>
          <a:bodyPr wrap="square" anchor="ctr" lIns="0" rIns="0" tIns="0" bIns="0">
            <a:spAutoFit/>
          </a:bodyPr>
          <a:lstStyle/>
          <a:p>
            <a:pPr algn="l">
              <a:lnSpc>
                <a:spcPct val="110000"/>
              </a:lnSpc>
              <a:spcBef>
                <a:spcPts val="0"/>
              </a:spcBef>
              <a:spcAft>
                <a:spcPts val="0"/>
              </a:spcAft>
            </a:pPr>
            <a:r>
              <a:rPr sz="1200" b="0" i="0">
                <a:solidFill>
                  <a:srgbClr val="94A3B8"/>
                </a:solidFill>
                <a:latin typeface="Arial"/>
              </a:rPr>
              <a:t>After every "I'm done," the loop runs your gates inside the sandbox and reads the exit code. Only zero returns green — the agent's own claim decides nothing.</a:t>
            </a:r>
          </a:p>
        </p:txBody>
      </p:sp>
      <p:sp>
        <p:nvSpPr>
          <p:cNvPr id="11" name="Rounded Rectangle 10"/>
          <p:cNvSpPr/>
          <p:nvPr/>
        </p:nvSpPr>
        <p:spPr>
          <a:xfrm>
            <a:off x="822960" y="3456432"/>
            <a:ext cx="10561320" cy="914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456432"/>
            <a:ext cx="109728"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584448"/>
            <a:ext cx="4023360" cy="685800"/>
          </a:xfrm>
          <a:prstGeom prst="rect">
            <a:avLst/>
          </a:prstGeom>
          <a:noFill/>
        </p:spPr>
        <p:txBody>
          <a:bodyPr wrap="square" anchor="ctr" lIns="0" rIns="0" tIns="0" bIns="0">
            <a:spAutoFit/>
          </a:bodyPr>
          <a:lstStyle/>
          <a:p>
            <a:pPr algn="l">
              <a:lnSpc>
                <a:spcPct val="100000"/>
              </a:lnSpc>
              <a:spcBef>
                <a:spcPts val="0"/>
              </a:spcBef>
              <a:spcAft>
                <a:spcPts val="0"/>
              </a:spcAft>
            </a:pPr>
            <a:r>
              <a:rPr sz="1550" b="1" i="0">
                <a:solidFill>
                  <a:srgbClr val="F59E0B"/>
                </a:solidFill>
                <a:latin typeface="Arial"/>
              </a:rPr>
              <a:t>Park, don't guess</a:t>
            </a:r>
          </a:p>
        </p:txBody>
      </p:sp>
      <p:sp>
        <p:nvSpPr>
          <p:cNvPr id="14" name="TextBox 13"/>
          <p:cNvSpPr txBox="1"/>
          <p:nvPr/>
        </p:nvSpPr>
        <p:spPr>
          <a:xfrm>
            <a:off x="5257800" y="3547872"/>
            <a:ext cx="5989320" cy="777240"/>
          </a:xfrm>
          <a:prstGeom prst="rect">
            <a:avLst/>
          </a:prstGeom>
          <a:noFill/>
        </p:spPr>
        <p:txBody>
          <a:bodyPr wrap="square" anchor="ctr" lIns="0" rIns="0" tIns="0" bIns="0">
            <a:spAutoFit/>
          </a:bodyPr>
          <a:lstStyle/>
          <a:p>
            <a:pPr algn="l">
              <a:lnSpc>
                <a:spcPct val="110000"/>
              </a:lnSpc>
              <a:spcBef>
                <a:spcPts val="0"/>
              </a:spcBef>
              <a:spcAft>
                <a:spcPts val="0"/>
              </a:spcAft>
            </a:pPr>
            <a:r>
              <a:rPr sz="1200" b="0" i="0">
                <a:solidFill>
                  <a:srgbClr val="94A3B8"/>
                </a:solidFill>
                <a:latin typeface="Arial"/>
              </a:rPr>
              <a:t>On BLOCKED, an exhausted turn budget, or an idle stall: the question + session id are written to disk, the container is torn down, and its slot returns to the pool.</a:t>
            </a:r>
          </a:p>
        </p:txBody>
      </p:sp>
      <p:sp>
        <p:nvSpPr>
          <p:cNvPr id="15" name="Rounded Rectangle 14"/>
          <p:cNvSpPr/>
          <p:nvPr/>
        </p:nvSpPr>
        <p:spPr>
          <a:xfrm>
            <a:off x="822960" y="4443984"/>
            <a:ext cx="10561320" cy="914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443984"/>
            <a:ext cx="109728" cy="9144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572000"/>
            <a:ext cx="4023360" cy="685800"/>
          </a:xfrm>
          <a:prstGeom prst="rect">
            <a:avLst/>
          </a:prstGeom>
          <a:noFill/>
        </p:spPr>
        <p:txBody>
          <a:bodyPr wrap="square" anchor="ctr" lIns="0" rIns="0" tIns="0" bIns="0">
            <a:spAutoFit/>
          </a:bodyPr>
          <a:lstStyle/>
          <a:p>
            <a:pPr algn="l">
              <a:lnSpc>
                <a:spcPct val="100000"/>
              </a:lnSpc>
              <a:spcBef>
                <a:spcPts val="0"/>
              </a:spcBef>
              <a:spcAft>
                <a:spcPts val="0"/>
              </a:spcAft>
            </a:pPr>
            <a:r>
              <a:rPr sz="1550" b="1" i="0">
                <a:solidFill>
                  <a:srgbClr val="38BDF8"/>
                </a:solidFill>
                <a:latin typeface="Arial"/>
              </a:rPr>
              <a:t>Parallel by default, isolated by construction</a:t>
            </a:r>
          </a:p>
        </p:txBody>
      </p:sp>
      <p:sp>
        <p:nvSpPr>
          <p:cNvPr id="18" name="TextBox 17"/>
          <p:cNvSpPr txBox="1"/>
          <p:nvPr/>
        </p:nvSpPr>
        <p:spPr>
          <a:xfrm>
            <a:off x="5257800" y="4535424"/>
            <a:ext cx="5989320" cy="777240"/>
          </a:xfrm>
          <a:prstGeom prst="rect">
            <a:avLst/>
          </a:prstGeom>
          <a:noFill/>
        </p:spPr>
        <p:txBody>
          <a:bodyPr wrap="square" anchor="ctr" lIns="0" rIns="0" tIns="0" bIns="0">
            <a:spAutoFit/>
          </a:bodyPr>
          <a:lstStyle/>
          <a:p>
            <a:pPr algn="l">
              <a:lnSpc>
                <a:spcPct val="110000"/>
              </a:lnSpc>
              <a:spcBef>
                <a:spcPts val="0"/>
              </a:spcBef>
              <a:spcAft>
                <a:spcPts val="0"/>
              </a:spcAft>
            </a:pPr>
            <a:r>
              <a:rPr sz="1200" b="0" i="0">
                <a:solidFill>
                  <a:srgbClr val="94A3B8"/>
                </a:solidFill>
                <a:latin typeface="Arial"/>
              </a:rPr>
              <a:t>One branch, worktree and container per task. A bounded pool keeps N slots full; a park frees its slot immediately, so one stuck task can't starve the other nine.</a:t>
            </a:r>
          </a:p>
        </p:txBody>
      </p:sp>
      <p:sp>
        <p:nvSpPr>
          <p:cNvPr id="19" name="Rounded Rectangle 18"/>
          <p:cNvSpPr/>
          <p:nvPr/>
        </p:nvSpPr>
        <p:spPr>
          <a:xfrm>
            <a:off x="822960" y="5431536"/>
            <a:ext cx="10561320" cy="914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431536"/>
            <a:ext cx="109728" cy="91440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559552"/>
            <a:ext cx="4023360" cy="685800"/>
          </a:xfrm>
          <a:prstGeom prst="rect">
            <a:avLst/>
          </a:prstGeom>
          <a:noFill/>
        </p:spPr>
        <p:txBody>
          <a:bodyPr wrap="square" anchor="ctr" lIns="0" rIns="0" tIns="0" bIns="0">
            <a:spAutoFit/>
          </a:bodyPr>
          <a:lstStyle/>
          <a:p>
            <a:pPr algn="l">
              <a:lnSpc>
                <a:spcPct val="100000"/>
              </a:lnSpc>
              <a:spcBef>
                <a:spcPts val="0"/>
              </a:spcBef>
              <a:spcAft>
                <a:spcPts val="0"/>
              </a:spcAft>
            </a:pPr>
            <a:r>
              <a:rPr sz="1550" b="1" i="0">
                <a:solidFill>
                  <a:srgbClr val="C084FC"/>
                </a:solidFill>
                <a:latin typeface="Arial"/>
              </a:rPr>
              <a:t>Resume with context, not restart</a:t>
            </a:r>
          </a:p>
        </p:txBody>
      </p:sp>
      <p:sp>
        <p:nvSpPr>
          <p:cNvPr id="22" name="TextBox 21"/>
          <p:cNvSpPr txBox="1"/>
          <p:nvPr/>
        </p:nvSpPr>
        <p:spPr>
          <a:xfrm>
            <a:off x="5257800" y="5522976"/>
            <a:ext cx="5989320" cy="777240"/>
          </a:xfrm>
          <a:prstGeom prst="rect">
            <a:avLst/>
          </a:prstGeom>
          <a:noFill/>
        </p:spPr>
        <p:txBody>
          <a:bodyPr wrap="square" anchor="ctr" lIns="0" rIns="0" tIns="0" bIns="0">
            <a:spAutoFit/>
          </a:bodyPr>
          <a:lstStyle/>
          <a:p>
            <a:pPr algn="l">
              <a:lnSpc>
                <a:spcPct val="110000"/>
              </a:lnSpc>
              <a:spcBef>
                <a:spcPts val="0"/>
              </a:spcBef>
              <a:spcAft>
                <a:spcPts val="0"/>
              </a:spcAft>
            </a:pPr>
            <a:r>
              <a:rPr sz="1200" b="0" i="0">
                <a:solidFill>
                  <a:srgbClr val="94A3B8"/>
                </a:solidFill>
                <a:latin typeface="Arial"/>
              </a:rPr>
              <a:t>A red gate resumes the *same* session with the failure output attached. Answer a parked task days later — fresh process, full context restored from host-side JSONL.</a:t>
            </a:r>
          </a:p>
        </p:txBody>
      </p:sp>
      <p:sp>
        <p:nvSpPr>
          <p:cNvPr id="23" name="TextBox 22"/>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4" name="TextBox 23"/>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HOW IT FITS TOGETHER</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Architecture at a glance</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2651760" cy="3291840"/>
          </a:xfrm>
          <a:prstGeom prst="roundRect">
            <a:avLst>
              <a:gd name="adj" fmla="val 5000"/>
            </a:avLst>
          </a:prstGeom>
          <a:solidFill>
            <a:srgbClr val="1E293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2651760" cy="457200"/>
          </a:xfrm>
          <a:prstGeom prst="rect">
            <a:avLst/>
          </a:prstGeom>
          <a:noFill/>
        </p:spPr>
        <p:txBody>
          <a:bodyPr wrap="square" anchor="t" lIns="0" rIns="0" tIns="0" bIns="0">
            <a:spAutoFit/>
          </a:bodyPr>
          <a:lstStyle/>
          <a:p>
            <a:pPr algn="ctr">
              <a:lnSpc>
                <a:spcPct val="105000"/>
              </a:lnSpc>
              <a:spcBef>
                <a:spcPts val="0"/>
              </a:spcBef>
              <a:spcAft>
                <a:spcPts val="0"/>
              </a:spcAft>
            </a:pPr>
            <a:r>
              <a:rPr sz="1400" b="1" i="0">
                <a:solidFill>
                  <a:srgbClr val="F59E0B"/>
                </a:solidFill>
                <a:latin typeface="Arial"/>
              </a:rPr>
              <a:t>ORCHESTRATOR</a:t>
            </a:r>
          </a:p>
        </p:txBody>
      </p:sp>
      <p:sp>
        <p:nvSpPr>
          <p:cNvPr id="8" name="TextBox 7"/>
          <p:cNvSpPr txBox="1"/>
          <p:nvPr/>
        </p:nvSpPr>
        <p:spPr>
          <a:xfrm>
            <a:off x="777240" y="2606040"/>
            <a:ext cx="2377440" cy="2560320"/>
          </a:xfrm>
          <a:prstGeom prst="rect">
            <a:avLst/>
          </a:prstGeom>
          <a:noFill/>
        </p:spPr>
        <p:txBody>
          <a:bodyPr wrap="square" anchor="t" lIns="0" rIns="0" tIns="0" bIns="0">
            <a:spAutoFit/>
          </a:bodyPr>
          <a:lstStyle/>
          <a:p>
            <a:pPr algn="l">
              <a:lnSpc>
                <a:spcPct val="130000"/>
              </a:lnSpc>
              <a:spcBef>
                <a:spcPts val="0"/>
              </a:spcBef>
              <a:spcAft>
                <a:spcPts val="800"/>
              </a:spcAft>
            </a:pPr>
            <a:r>
              <a:rPr sz="1150" b="0" i="0">
                <a:solidFill>
                  <a:srgbClr val="E2E8F0"/>
                </a:solidFill>
                <a:latin typeface="Arial"/>
              </a:rPr>
              <a:t>• reads your config</a:t>
            </a:r>
          </a:p>
          <a:p>
            <a:pPr algn="l">
              <a:lnSpc>
                <a:spcPct val="130000"/>
              </a:lnSpc>
              <a:spcBef>
                <a:spcPts val="0"/>
              </a:spcBef>
              <a:spcAft>
                <a:spcPts val="800"/>
              </a:spcAft>
            </a:pPr>
            <a:r>
              <a:rPr sz="1150" b="0" i="0">
                <a:solidFill>
                  <a:srgbClr val="E2E8F0"/>
                </a:solidFill>
                <a:latin typeface="Arial"/>
              </a:rPr>
              <a:t>• spawns the pool</a:t>
            </a:r>
          </a:p>
          <a:p>
            <a:pPr algn="l">
              <a:lnSpc>
                <a:spcPct val="130000"/>
              </a:lnSpc>
              <a:spcBef>
                <a:spcPts val="0"/>
              </a:spcBef>
              <a:spcAft>
                <a:spcPts val="800"/>
              </a:spcAft>
            </a:pPr>
            <a:r>
              <a:rPr sz="1150" b="0" i="0">
                <a:solidFill>
                  <a:srgbClr val="E2E8F0"/>
                </a:solidFill>
                <a:latin typeface="Arial"/>
              </a:rPr>
              <a:t>• runs the gates</a:t>
            </a:r>
          </a:p>
          <a:p>
            <a:pPr algn="l">
              <a:lnSpc>
                <a:spcPct val="130000"/>
              </a:lnSpc>
              <a:spcBef>
                <a:spcPts val="0"/>
              </a:spcBef>
              <a:spcAft>
                <a:spcPts val="800"/>
              </a:spcAft>
            </a:pPr>
            <a:r>
              <a:rPr sz="1150" b="0" i="0">
                <a:solidFill>
                  <a:srgbClr val="E2E8F0"/>
                </a:solidFill>
                <a:latin typeface="Arial"/>
              </a:rPr>
              <a:t>• decides green / park</a:t>
            </a:r>
          </a:p>
          <a:p>
            <a:pPr algn="l">
              <a:lnSpc>
                <a:spcPct val="130000"/>
              </a:lnSpc>
              <a:spcBef>
                <a:spcPts val="0"/>
              </a:spcBef>
              <a:spcAft>
                <a:spcPts val="800"/>
              </a:spcAft>
            </a:pPr>
            <a:r>
              <a:rPr sz="1150" b="0" i="0">
                <a:solidFill>
                  <a:srgbClr val="E2E8F0"/>
                </a:solidFill>
                <a:latin typeface="Arial"/>
              </a:rPr>
              <a:t>• merges greens</a:t>
            </a:r>
          </a:p>
          <a:p>
            <a:pPr algn="l">
              <a:lnSpc>
                <a:spcPct val="130000"/>
              </a:lnSpc>
              <a:spcBef>
                <a:spcPts val="0"/>
              </a:spcBef>
              <a:spcAft>
                <a:spcPts val="800"/>
              </a:spcAft>
            </a:pPr>
            <a:r>
              <a:rPr sz="1100" b="0" i="1">
                <a:solidFill>
                  <a:srgbClr val="F59E0B"/>
                </a:solidFill>
                <a:latin typeface="Consolas"/>
              </a:rPr>
              <a:t>~950 LOC TypeScript</a:t>
            </a:r>
          </a:p>
        </p:txBody>
      </p:sp>
      <p:sp>
        <p:nvSpPr>
          <p:cNvPr id="9" name="Rounded Rectangle 8"/>
          <p:cNvSpPr/>
          <p:nvPr/>
        </p:nvSpPr>
        <p:spPr>
          <a:xfrm>
            <a:off x="3977639" y="1965960"/>
            <a:ext cx="3291840" cy="969264"/>
          </a:xfrm>
          <a:prstGeom prst="roundRect">
            <a:avLst>
              <a:gd name="adj" fmla="val 6000"/>
            </a:avLst>
          </a:prstGeom>
          <a:solidFill>
            <a:srgbClr val="162133"/>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2075688"/>
            <a:ext cx="3017520" cy="777240"/>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38BDF8"/>
                </a:solidFill>
                <a:latin typeface="Arial"/>
              </a:rPr>
              <a:t>Sandbox 1</a:t>
            </a:r>
            <a:r>
              <a:rPr sz="1100" b="0" i="0">
                <a:solidFill>
                  <a:srgbClr val="94A3B8"/>
                </a:solidFill>
                <a:latin typeface="Consolas"/>
              </a:rPr>
              <a:t>   agent/task-436</a:t>
            </a:r>
          </a:p>
          <a:p>
            <a:pPr algn="l">
              <a:lnSpc>
                <a:spcPct val="115000"/>
              </a:lnSpc>
              <a:spcBef>
                <a:spcPts val="0"/>
              </a:spcBef>
              <a:spcAft>
                <a:spcPts val="300"/>
              </a:spcAft>
            </a:pPr>
            <a:r>
              <a:rPr sz="1050" b="0" i="0">
                <a:solidFill>
                  <a:srgbClr val="94A3B8"/>
                </a:solidFill>
                <a:latin typeface="Arial"/>
              </a:rPr>
              <a:t>Docker · branch · worktree · TDD loop</a:t>
            </a:r>
          </a:p>
        </p:txBody>
      </p:sp>
      <p:sp>
        <p:nvSpPr>
          <p:cNvPr id="11" name="Rounded Rectangle 10"/>
          <p:cNvSpPr/>
          <p:nvPr/>
        </p:nvSpPr>
        <p:spPr>
          <a:xfrm>
            <a:off x="3977639" y="3099815"/>
            <a:ext cx="3291840" cy="969264"/>
          </a:xfrm>
          <a:prstGeom prst="roundRect">
            <a:avLst>
              <a:gd name="adj" fmla="val 6000"/>
            </a:avLst>
          </a:prstGeom>
          <a:solidFill>
            <a:srgbClr val="162133"/>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3209544"/>
            <a:ext cx="3017520" cy="777240"/>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E2E8F0"/>
                </a:solidFill>
                <a:latin typeface="Arial"/>
              </a:rPr>
              <a:t>Sandbox 2</a:t>
            </a:r>
            <a:r>
              <a:rPr sz="1100" b="0" i="0">
                <a:solidFill>
                  <a:srgbClr val="94A3B8"/>
                </a:solidFill>
                <a:latin typeface="Consolas"/>
              </a:rPr>
              <a:t>   agent/task-611</a:t>
            </a:r>
          </a:p>
          <a:p>
            <a:pPr algn="l">
              <a:lnSpc>
                <a:spcPct val="115000"/>
              </a:lnSpc>
              <a:spcBef>
                <a:spcPts val="0"/>
              </a:spcBef>
              <a:spcAft>
                <a:spcPts val="300"/>
              </a:spcAft>
            </a:pPr>
            <a:r>
              <a:rPr sz="1050" b="0" i="0">
                <a:solidFill>
                  <a:srgbClr val="94A3B8"/>
                </a:solidFill>
                <a:latin typeface="Arial"/>
              </a:rPr>
              <a:t>Docker · branch · worktree · TDD loop</a:t>
            </a:r>
          </a:p>
        </p:txBody>
      </p:sp>
      <p:sp>
        <p:nvSpPr>
          <p:cNvPr id="13" name="Rounded Rectangle 12"/>
          <p:cNvSpPr/>
          <p:nvPr/>
        </p:nvSpPr>
        <p:spPr>
          <a:xfrm>
            <a:off x="3977639" y="4233672"/>
            <a:ext cx="3291840" cy="969264"/>
          </a:xfrm>
          <a:prstGeom prst="roundRect">
            <a:avLst>
              <a:gd name="adj" fmla="val 6000"/>
            </a:avLst>
          </a:prstGeom>
          <a:solidFill>
            <a:srgbClr val="162133"/>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4343400"/>
            <a:ext cx="3017520" cy="777240"/>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E2E8F0"/>
                </a:solidFill>
                <a:latin typeface="Arial"/>
              </a:rPr>
              <a:t>Sandbox 3</a:t>
            </a:r>
            <a:r>
              <a:rPr sz="1100" b="0" i="0">
                <a:solidFill>
                  <a:srgbClr val="94A3B8"/>
                </a:solidFill>
                <a:latin typeface="Consolas"/>
              </a:rPr>
              <a:t>   agent/task-623</a:t>
            </a:r>
          </a:p>
          <a:p>
            <a:pPr algn="l">
              <a:lnSpc>
                <a:spcPct val="115000"/>
              </a:lnSpc>
              <a:spcBef>
                <a:spcPts val="0"/>
              </a:spcBef>
              <a:spcAft>
                <a:spcPts val="300"/>
              </a:spcAft>
            </a:pPr>
            <a:r>
              <a:rPr sz="1050" b="0" i="0">
                <a:solidFill>
                  <a:srgbClr val="94A3B8"/>
                </a:solidFill>
                <a:latin typeface="Arial"/>
              </a:rPr>
              <a:t>Docker · branch · worktree · TDD loop</a:t>
            </a:r>
          </a:p>
        </p:txBody>
      </p:sp>
      <p:sp>
        <p:nvSpPr>
          <p:cNvPr id="15" name="TextBox 14"/>
          <p:cNvSpPr txBox="1"/>
          <p:nvPr/>
        </p:nvSpPr>
        <p:spPr>
          <a:xfrm>
            <a:off x="3977639" y="5074920"/>
            <a:ext cx="3291840" cy="365760"/>
          </a:xfrm>
          <a:prstGeom prst="rect">
            <a:avLst/>
          </a:prstGeom>
          <a:noFill/>
        </p:spPr>
        <p:txBody>
          <a:bodyPr wrap="square" anchor="t" lIns="0" rIns="0" tIns="0" bIns="0">
            <a:spAutoFit/>
          </a:bodyPr>
          <a:lstStyle/>
          <a:p>
            <a:pPr algn="ctr">
              <a:lnSpc>
                <a:spcPct val="105000"/>
              </a:lnSpc>
              <a:spcBef>
                <a:spcPts val="0"/>
              </a:spcBef>
              <a:spcAft>
                <a:spcPts val="0"/>
              </a:spcAft>
            </a:pPr>
            <a:r>
              <a:rPr sz="1100" b="0" i="1">
                <a:solidFill>
                  <a:srgbClr val="94A3B8"/>
                </a:solidFill>
                <a:latin typeface="Consolas"/>
              </a:rPr>
              <a:t>bounded pool — QUEUE_SLOTS</a:t>
            </a:r>
          </a:p>
        </p:txBody>
      </p:sp>
      <p:cxnSp>
        <p:nvCxnSpPr>
          <p:cNvPr id="16" name="Connector 15"/>
          <p:cNvCxnSpPr/>
          <p:nvPr/>
        </p:nvCxnSpPr>
        <p:spPr>
          <a:xfrm flipV="1">
            <a:off x="3291840" y="2450592"/>
            <a:ext cx="685799" cy="978408"/>
          </a:xfrm>
          <a:prstGeom prst="bentConnector3">
            <a:avLst/>
          </a:prstGeom>
          <a:ln w="190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291840" y="3429000"/>
            <a:ext cx="685799" cy="155448"/>
          </a:xfrm>
          <a:prstGeom prst="bentConnector3">
            <a:avLst/>
          </a:prstGeom>
          <a:ln w="190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91840" y="3429000"/>
            <a:ext cx="685799" cy="1289304"/>
          </a:xfrm>
          <a:prstGeom prst="bentConnector3">
            <a:avLst/>
          </a:prstGeom>
          <a:ln w="19050">
            <a:solidFill>
              <a:srgbClr val="F59E0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55279" y="1965960"/>
            <a:ext cx="3429000" cy="1371600"/>
          </a:xfrm>
          <a:prstGeom prst="roundRect">
            <a:avLst>
              <a:gd name="adj" fmla="val 6000"/>
            </a:avLst>
          </a:prstGeom>
          <a:solidFill>
            <a:srgbClr val="1E293B"/>
          </a:solidFill>
          <a:ln w="1524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2103120"/>
            <a:ext cx="3108960" cy="1188720"/>
          </a:xfrm>
          <a:prstGeom prst="rect">
            <a:avLst/>
          </a:prstGeom>
          <a:noFill/>
        </p:spPr>
        <p:txBody>
          <a:bodyPr wrap="square" anchor="t" lIns="0" rIns="0" tIns="0" bIns="0">
            <a:spAutoFit/>
          </a:bodyPr>
          <a:lstStyle/>
          <a:p>
            <a:pPr algn="l">
              <a:lnSpc>
                <a:spcPct val="125000"/>
              </a:lnSpc>
              <a:spcBef>
                <a:spcPts val="0"/>
              </a:spcBef>
              <a:spcAft>
                <a:spcPts val="300"/>
              </a:spcAft>
            </a:pPr>
            <a:r>
              <a:rPr sz="1300" b="1" i="0">
                <a:solidFill>
                  <a:srgbClr val="34D399"/>
                </a:solidFill>
                <a:latin typeface="Arial"/>
              </a:rPr>
              <a:t>GATE</a:t>
            </a:r>
            <a:r>
              <a:rPr sz="1100" b="0" i="0">
                <a:solidFill>
                  <a:srgbClr val="34D399"/>
                </a:solidFill>
                <a:latin typeface="Arial"/>
              </a:rPr>
              <a:t>  exit 0 → green</a:t>
            </a:r>
          </a:p>
          <a:p>
            <a:pPr algn="l">
              <a:lnSpc>
                <a:spcPct val="125000"/>
              </a:lnSpc>
              <a:spcBef>
                <a:spcPts val="0"/>
              </a:spcBef>
              <a:spcAft>
                <a:spcPts val="300"/>
              </a:spcAft>
            </a:pPr>
            <a:r>
              <a:rPr sz="1100" b="0" i="0">
                <a:solidFill>
                  <a:srgbClr val="E2E8F0"/>
                </a:solidFill>
                <a:latin typeface="Arial"/>
              </a:rPr>
              <a:t>runs YOUR test command</a:t>
            </a:r>
          </a:p>
          <a:p>
            <a:pPr algn="l">
              <a:lnSpc>
                <a:spcPct val="125000"/>
              </a:lnSpc>
              <a:spcBef>
                <a:spcPts val="0"/>
              </a:spcBef>
              <a:spcAft>
                <a:spcPts val="300"/>
              </a:spcAft>
            </a:pPr>
            <a:r>
              <a:rPr sz="1100" b="0" i="0">
                <a:solidFill>
                  <a:srgbClr val="F87171"/>
                </a:solidFill>
                <a:latin typeface="Arial"/>
              </a:rPr>
              <a:t>red → resume same session</a:t>
            </a:r>
          </a:p>
        </p:txBody>
      </p:sp>
      <p:sp>
        <p:nvSpPr>
          <p:cNvPr id="21" name="Rounded Rectangle 20"/>
          <p:cNvSpPr/>
          <p:nvPr/>
        </p:nvSpPr>
        <p:spPr>
          <a:xfrm>
            <a:off x="7955279" y="3520440"/>
            <a:ext cx="3429000" cy="868680"/>
          </a:xfrm>
          <a:prstGeom prst="roundRect">
            <a:avLst>
              <a:gd name="adj" fmla="val 6000"/>
            </a:avLst>
          </a:prstGeom>
          <a:solidFill>
            <a:srgbClr val="1E293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3639312"/>
            <a:ext cx="3108960" cy="685800"/>
          </a:xfrm>
          <a:prstGeom prst="rect">
            <a:avLst/>
          </a:prstGeom>
          <a:noFill/>
        </p:spPr>
        <p:txBody>
          <a:bodyPr wrap="square" anchor="t" lIns="0" rIns="0" tIns="0" bIns="0">
            <a:spAutoFit/>
          </a:bodyPr>
          <a:lstStyle/>
          <a:p>
            <a:pPr algn="l">
              <a:lnSpc>
                <a:spcPct val="120000"/>
              </a:lnSpc>
              <a:spcBef>
                <a:spcPts val="0"/>
              </a:spcBef>
              <a:spcAft>
                <a:spcPts val="300"/>
              </a:spcAft>
            </a:pPr>
            <a:r>
              <a:rPr sz="1300" b="1" i="0">
                <a:solidFill>
                  <a:srgbClr val="F59E0B"/>
                </a:solidFill>
                <a:latin typeface="Arial"/>
              </a:rPr>
              <a:t>PARK → YOU</a:t>
            </a:r>
          </a:p>
          <a:p>
            <a:pPr algn="l">
              <a:lnSpc>
                <a:spcPct val="120000"/>
              </a:lnSpc>
              <a:spcBef>
                <a:spcPts val="0"/>
              </a:spcBef>
              <a:spcAft>
                <a:spcPts val="300"/>
              </a:spcAft>
            </a:pPr>
            <a:r>
              <a:rPr sz="1100" b="0" i="0">
                <a:solidFill>
                  <a:srgbClr val="E2E8F0"/>
                </a:solidFill>
                <a:latin typeface="Arial"/>
              </a:rPr>
              <a:t>question to disk; reply in Telegram or the web page</a:t>
            </a:r>
          </a:p>
        </p:txBody>
      </p:sp>
      <p:sp>
        <p:nvSpPr>
          <p:cNvPr id="23" name="Rounded Rectangle 22"/>
          <p:cNvSpPr/>
          <p:nvPr/>
        </p:nvSpPr>
        <p:spPr>
          <a:xfrm>
            <a:off x="7955279" y="4572000"/>
            <a:ext cx="3429000" cy="777240"/>
          </a:xfrm>
          <a:prstGeom prst="roundRect">
            <a:avLst>
              <a:gd name="adj" fmla="val 6000"/>
            </a:avLst>
          </a:prstGeom>
          <a:solidFill>
            <a:srgbClr val="1E293B"/>
          </a:solidFill>
          <a:ln w="1524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4681728"/>
            <a:ext cx="3108960" cy="594360"/>
          </a:xfrm>
          <a:prstGeom prst="rect">
            <a:avLst/>
          </a:prstGeom>
          <a:noFill/>
        </p:spPr>
        <p:txBody>
          <a:bodyPr wrap="square" anchor="t" lIns="0" rIns="0" tIns="0" bIns="0">
            <a:spAutoFit/>
          </a:bodyPr>
          <a:lstStyle/>
          <a:p>
            <a:pPr algn="l">
              <a:lnSpc>
                <a:spcPct val="120000"/>
              </a:lnSpc>
              <a:spcBef>
                <a:spcPts val="0"/>
              </a:spcBef>
              <a:spcAft>
                <a:spcPts val="300"/>
              </a:spcAft>
            </a:pPr>
            <a:r>
              <a:rPr sz="1250" b="1" i="0">
                <a:solidFill>
                  <a:srgbClr val="38BDF8"/>
                </a:solidFill>
                <a:latin typeface="Arial"/>
              </a:rPr>
              <a:t>COMMIT on agent/&lt;task&gt;</a:t>
            </a:r>
          </a:p>
          <a:p>
            <a:pPr algn="l">
              <a:lnSpc>
                <a:spcPct val="120000"/>
              </a:lnSpc>
              <a:spcBef>
                <a:spcPts val="0"/>
              </a:spcBef>
              <a:spcAft>
                <a:spcPts val="300"/>
              </a:spcAft>
            </a:pPr>
            <a:r>
              <a:rPr sz="1100" b="0" i="0">
                <a:solidFill>
                  <a:srgbClr val="E2E8F0"/>
                </a:solidFill>
                <a:latin typeface="Arial"/>
              </a:rPr>
              <a:t>merging stays yours (or campaign)</a:t>
            </a:r>
          </a:p>
        </p:txBody>
      </p:sp>
      <p:cxnSp>
        <p:nvCxnSpPr>
          <p:cNvPr id="25" name="Connector 24"/>
          <p:cNvCxnSpPr/>
          <p:nvPr/>
        </p:nvCxnSpPr>
        <p:spPr>
          <a:xfrm flipV="1">
            <a:off x="7269480" y="2651760"/>
            <a:ext cx="685799" cy="274320"/>
          </a:xfrm>
          <a:prstGeom prst="bentConnector3">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69480" y="2926080"/>
            <a:ext cx="685799" cy="1005840"/>
          </a:xfrm>
          <a:prstGeom prst="bentConnector3">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69480" y="2926080"/>
            <a:ext cx="685799" cy="2011680"/>
          </a:xfrm>
          <a:prstGeom prst="bentConnector3">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 y="5577840"/>
            <a:ext cx="10744200" cy="658368"/>
          </a:xfrm>
          <a:prstGeom prst="roundRect">
            <a:avLst>
              <a:gd name="adj" fmla="val 6000"/>
            </a:avLst>
          </a:prstGeom>
          <a:solidFill>
            <a:srgbClr val="162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650992"/>
            <a:ext cx="10332720" cy="548640"/>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F59E0B"/>
                </a:solidFill>
                <a:latin typeface="Arial"/>
              </a:rPr>
              <a:t>Human-in-the-loop is asynchronous: </a:t>
            </a:r>
            <a:r>
              <a:rPr sz="1250" b="0" i="0">
                <a:solidFill>
                  <a:srgbClr val="E2E8F0"/>
                </a:solidFill>
                <a:latin typeface="Arial"/>
              </a:rPr>
              <a:t>a park pings you, frees the slot, and waits — reply from your phone, Telegram or the status page, hours or days later and that exact agent resumes.</a:t>
            </a:r>
          </a:p>
        </p:txBody>
      </p:sp>
      <p:sp>
        <p:nvSpPr>
          <p:cNvPr id="30" name="TextBox 29"/>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31" name="TextBox 30"/>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THE HEARTBEAT</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The gate → resume loop</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10881360" cy="74980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74519"/>
            <a:ext cx="822960" cy="74980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19"/>
            <a:ext cx="822960" cy="749808"/>
          </a:xfrm>
          <a:prstGeom prst="rect">
            <a:avLst/>
          </a:prstGeom>
          <a:noFill/>
        </p:spPr>
        <p:txBody>
          <a:bodyPr wrap="square" anchor="ctr" lIns="0" rIns="0" tIns="0" bIns="0">
            <a:spAutoFit/>
          </a:bodyPr>
          <a:lstStyle/>
          <a:p>
            <a:pPr algn="ctr">
              <a:lnSpc>
                <a:spcPct val="105000"/>
              </a:lnSpc>
              <a:spcBef>
                <a:spcPts val="0"/>
              </a:spcBef>
              <a:spcAft>
                <a:spcPts val="0"/>
              </a:spcAft>
            </a:pPr>
            <a:r>
              <a:rPr sz="2000" b="1" i="0">
                <a:solidFill>
                  <a:srgbClr val="0F172A"/>
                </a:solidFill>
                <a:latin typeface="Arial"/>
              </a:rPr>
              <a:t>1</a:t>
            </a:r>
          </a:p>
        </p:txBody>
      </p:sp>
      <p:sp>
        <p:nvSpPr>
          <p:cNvPr id="9" name="TextBox 8"/>
          <p:cNvSpPr txBox="1"/>
          <p:nvPr/>
        </p:nvSpPr>
        <p:spPr>
          <a:xfrm>
            <a:off x="1691640" y="1965960"/>
            <a:ext cx="9692640" cy="566928"/>
          </a:xfrm>
          <a:prstGeom prst="rect">
            <a:avLst/>
          </a:prstGeom>
          <a:noFill/>
        </p:spPr>
        <p:txBody>
          <a:bodyPr wrap="square" anchor="ctr" lIns="0" rIns="0" tIns="0" bIns="0">
            <a:spAutoFit/>
          </a:bodyPr>
          <a:lstStyle/>
          <a:p>
            <a:pPr algn="l">
              <a:lnSpc>
                <a:spcPct val="105000"/>
              </a:lnSpc>
              <a:spcBef>
                <a:spcPts val="0"/>
              </a:spcBef>
              <a:spcAft>
                <a:spcPts val="200"/>
              </a:spcAft>
            </a:pPr>
            <a:r>
              <a:rPr sz="1550" b="1" i="0">
                <a:solidFill>
                  <a:srgbClr val="F8FAFC"/>
                </a:solidFill>
                <a:latin typeface="Arial"/>
              </a:rPr>
              <a:t>Agent works test-first</a:t>
            </a:r>
          </a:p>
          <a:p>
            <a:pPr algn="l">
              <a:lnSpc>
                <a:spcPct val="105000"/>
              </a:lnSpc>
              <a:spcBef>
                <a:spcPts val="0"/>
              </a:spcBef>
              <a:spcAft>
                <a:spcPts val="200"/>
              </a:spcAft>
            </a:pPr>
            <a:r>
              <a:rPr sz="1200" b="0" i="0">
                <a:solidFill>
                  <a:srgbClr val="94A3B8"/>
                </a:solidFill>
                <a:latin typeface="Arial"/>
              </a:rPr>
              <a:t>Driven by Matt Pocock's tdd skill: red before green, one vertical slice at a time. Commits as it goes.</a:t>
            </a:r>
          </a:p>
        </p:txBody>
      </p:sp>
      <p:sp>
        <p:nvSpPr>
          <p:cNvPr id="10" name="Rounded Rectangle 9"/>
          <p:cNvSpPr/>
          <p:nvPr/>
        </p:nvSpPr>
        <p:spPr>
          <a:xfrm>
            <a:off x="640080" y="2697479"/>
            <a:ext cx="10881360" cy="74980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697479"/>
            <a:ext cx="822960"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97479"/>
            <a:ext cx="822960" cy="749808"/>
          </a:xfrm>
          <a:prstGeom prst="rect">
            <a:avLst/>
          </a:prstGeom>
          <a:noFill/>
        </p:spPr>
        <p:txBody>
          <a:bodyPr wrap="square" anchor="ctr" lIns="0" rIns="0" tIns="0" bIns="0">
            <a:spAutoFit/>
          </a:bodyPr>
          <a:lstStyle/>
          <a:p>
            <a:pPr algn="ctr">
              <a:lnSpc>
                <a:spcPct val="105000"/>
              </a:lnSpc>
              <a:spcBef>
                <a:spcPts val="0"/>
              </a:spcBef>
              <a:spcAft>
                <a:spcPts val="0"/>
              </a:spcAft>
            </a:pPr>
            <a:r>
              <a:rPr sz="2000" b="1" i="0">
                <a:solidFill>
                  <a:srgbClr val="0F172A"/>
                </a:solidFill>
                <a:latin typeface="Arial"/>
              </a:rPr>
              <a:t>2</a:t>
            </a:r>
          </a:p>
        </p:txBody>
      </p:sp>
      <p:sp>
        <p:nvSpPr>
          <p:cNvPr id="13" name="TextBox 12"/>
          <p:cNvSpPr txBox="1"/>
          <p:nvPr/>
        </p:nvSpPr>
        <p:spPr>
          <a:xfrm>
            <a:off x="1691640" y="2788920"/>
            <a:ext cx="9692640" cy="566928"/>
          </a:xfrm>
          <a:prstGeom prst="rect">
            <a:avLst/>
          </a:prstGeom>
          <a:noFill/>
        </p:spPr>
        <p:txBody>
          <a:bodyPr wrap="square" anchor="ctr" lIns="0" rIns="0" tIns="0" bIns="0">
            <a:spAutoFit/>
          </a:bodyPr>
          <a:lstStyle/>
          <a:p>
            <a:pPr algn="l">
              <a:lnSpc>
                <a:spcPct val="105000"/>
              </a:lnSpc>
              <a:spcBef>
                <a:spcPts val="0"/>
              </a:spcBef>
              <a:spcAft>
                <a:spcPts val="200"/>
              </a:spcAft>
            </a:pPr>
            <a:r>
              <a:rPr sz="1550" b="1" i="0">
                <a:solidFill>
                  <a:srgbClr val="F8FAFC"/>
                </a:solidFill>
                <a:latin typeface="Arial"/>
              </a:rPr>
              <a:t>Emits COMPLETE</a:t>
            </a:r>
          </a:p>
          <a:p>
            <a:pPr algn="l">
              <a:lnSpc>
                <a:spcPct val="105000"/>
              </a:lnSpc>
              <a:spcBef>
                <a:spcPts val="0"/>
              </a:spcBef>
              <a:spcAft>
                <a:spcPts val="200"/>
              </a:spcAft>
            </a:pPr>
            <a:r>
              <a:rPr sz="1200" b="0" i="0">
                <a:solidFill>
                  <a:srgbClr val="94A3B8"/>
                </a:solidFill>
                <a:latin typeface="Arial"/>
              </a:rPr>
              <a:t>The signal contract — a &lt;promise&gt;COMPLETE&lt;/promise&gt; — not a free-text "I think I'm done."</a:t>
            </a:r>
          </a:p>
        </p:txBody>
      </p:sp>
      <p:sp>
        <p:nvSpPr>
          <p:cNvPr id="14" name="Rounded Rectangle 13"/>
          <p:cNvSpPr/>
          <p:nvPr/>
        </p:nvSpPr>
        <p:spPr>
          <a:xfrm>
            <a:off x="640080" y="3520439"/>
            <a:ext cx="10881360" cy="74980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520439"/>
            <a:ext cx="822960" cy="74980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20439"/>
            <a:ext cx="822960" cy="749808"/>
          </a:xfrm>
          <a:prstGeom prst="rect">
            <a:avLst/>
          </a:prstGeom>
          <a:noFill/>
        </p:spPr>
        <p:txBody>
          <a:bodyPr wrap="square" anchor="ctr" lIns="0" rIns="0" tIns="0" bIns="0">
            <a:spAutoFit/>
          </a:bodyPr>
          <a:lstStyle/>
          <a:p>
            <a:pPr algn="ctr">
              <a:lnSpc>
                <a:spcPct val="105000"/>
              </a:lnSpc>
              <a:spcBef>
                <a:spcPts val="0"/>
              </a:spcBef>
              <a:spcAft>
                <a:spcPts val="0"/>
              </a:spcAft>
            </a:pPr>
            <a:r>
              <a:rPr sz="2000" b="1" i="0">
                <a:solidFill>
                  <a:srgbClr val="0F172A"/>
                </a:solidFill>
                <a:latin typeface="Arial"/>
              </a:rPr>
              <a:t>3</a:t>
            </a:r>
          </a:p>
        </p:txBody>
      </p:sp>
      <p:sp>
        <p:nvSpPr>
          <p:cNvPr id="17" name="TextBox 16"/>
          <p:cNvSpPr txBox="1"/>
          <p:nvPr/>
        </p:nvSpPr>
        <p:spPr>
          <a:xfrm>
            <a:off x="1691640" y="3611879"/>
            <a:ext cx="9692640" cy="566928"/>
          </a:xfrm>
          <a:prstGeom prst="rect">
            <a:avLst/>
          </a:prstGeom>
          <a:noFill/>
        </p:spPr>
        <p:txBody>
          <a:bodyPr wrap="square" anchor="ctr" lIns="0" rIns="0" tIns="0" bIns="0">
            <a:spAutoFit/>
          </a:bodyPr>
          <a:lstStyle/>
          <a:p>
            <a:pPr algn="l">
              <a:lnSpc>
                <a:spcPct val="105000"/>
              </a:lnSpc>
              <a:spcBef>
                <a:spcPts val="0"/>
              </a:spcBef>
              <a:spcAft>
                <a:spcPts val="200"/>
              </a:spcAft>
            </a:pPr>
            <a:r>
              <a:rPr sz="1550" b="1" i="0">
                <a:solidFill>
                  <a:srgbClr val="F8FAFC"/>
                </a:solidFill>
                <a:latin typeface="Arial"/>
              </a:rPr>
              <a:t>Orchestrator runs the gates</a:t>
            </a:r>
          </a:p>
          <a:p>
            <a:pPr algn="l">
              <a:lnSpc>
                <a:spcPct val="105000"/>
              </a:lnSpc>
              <a:spcBef>
                <a:spcPts val="0"/>
              </a:spcBef>
              <a:spcAft>
                <a:spcPts val="200"/>
              </a:spcAft>
            </a:pPr>
            <a:r>
              <a:rPr sz="1200" b="0" i="0">
                <a:solidFill>
                  <a:srgbClr val="94A3B8"/>
                </a:solidFill>
                <a:latin typeface="Arial"/>
              </a:rPr>
              <a:t>Inside the sandbox, the real test command. Reads the exit code, ignores the agent's opinion.</a:t>
            </a:r>
          </a:p>
        </p:txBody>
      </p:sp>
      <p:sp>
        <p:nvSpPr>
          <p:cNvPr id="18" name="Rounded Rectangle 17"/>
          <p:cNvSpPr/>
          <p:nvPr/>
        </p:nvSpPr>
        <p:spPr>
          <a:xfrm>
            <a:off x="640080" y="4343400"/>
            <a:ext cx="10881360" cy="74980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43400"/>
            <a:ext cx="822960" cy="74980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43400"/>
            <a:ext cx="822960" cy="749808"/>
          </a:xfrm>
          <a:prstGeom prst="rect">
            <a:avLst/>
          </a:prstGeom>
          <a:noFill/>
        </p:spPr>
        <p:txBody>
          <a:bodyPr wrap="square" anchor="ctr" lIns="0" rIns="0" tIns="0" bIns="0">
            <a:spAutoFit/>
          </a:bodyPr>
          <a:lstStyle/>
          <a:p>
            <a:pPr algn="ctr">
              <a:lnSpc>
                <a:spcPct val="105000"/>
              </a:lnSpc>
              <a:spcBef>
                <a:spcPts val="0"/>
              </a:spcBef>
              <a:spcAft>
                <a:spcPts val="0"/>
              </a:spcAft>
            </a:pPr>
            <a:r>
              <a:rPr sz="2000" b="1" i="0">
                <a:solidFill>
                  <a:srgbClr val="0F172A"/>
                </a:solidFill>
                <a:latin typeface="Arial"/>
              </a:rPr>
              <a:t>4a</a:t>
            </a:r>
          </a:p>
        </p:txBody>
      </p:sp>
      <p:sp>
        <p:nvSpPr>
          <p:cNvPr id="21" name="TextBox 20"/>
          <p:cNvSpPr txBox="1"/>
          <p:nvPr/>
        </p:nvSpPr>
        <p:spPr>
          <a:xfrm>
            <a:off x="1691640" y="4434840"/>
            <a:ext cx="9692640" cy="566928"/>
          </a:xfrm>
          <a:prstGeom prst="rect">
            <a:avLst/>
          </a:prstGeom>
          <a:noFill/>
        </p:spPr>
        <p:txBody>
          <a:bodyPr wrap="square" anchor="ctr" lIns="0" rIns="0" tIns="0" bIns="0">
            <a:spAutoFit/>
          </a:bodyPr>
          <a:lstStyle/>
          <a:p>
            <a:pPr algn="l">
              <a:lnSpc>
                <a:spcPct val="105000"/>
              </a:lnSpc>
              <a:spcBef>
                <a:spcPts val="0"/>
              </a:spcBef>
              <a:spcAft>
                <a:spcPts val="200"/>
              </a:spcAft>
            </a:pPr>
            <a:r>
              <a:rPr sz="1550" b="1" i="0">
                <a:solidFill>
                  <a:srgbClr val="F8FAFC"/>
                </a:solidFill>
                <a:latin typeface="Arial"/>
              </a:rPr>
              <a:t>Green → commit lands</a:t>
            </a:r>
          </a:p>
          <a:p>
            <a:pPr algn="l">
              <a:lnSpc>
                <a:spcPct val="105000"/>
              </a:lnSpc>
              <a:spcBef>
                <a:spcPts val="0"/>
              </a:spcBef>
              <a:spcAft>
                <a:spcPts val="200"/>
              </a:spcAft>
            </a:pPr>
            <a:r>
              <a:rPr sz="1200" b="0" i="0">
                <a:solidFill>
                  <a:srgbClr val="94A3B8"/>
                </a:solidFill>
                <a:latin typeface="Arial"/>
              </a:rPr>
              <a:t>Exit 0. The branch is left for you to merge (or hands off to campaign).</a:t>
            </a:r>
          </a:p>
        </p:txBody>
      </p:sp>
      <p:sp>
        <p:nvSpPr>
          <p:cNvPr id="22" name="Rounded Rectangle 21"/>
          <p:cNvSpPr/>
          <p:nvPr/>
        </p:nvSpPr>
        <p:spPr>
          <a:xfrm>
            <a:off x="640080" y="5166360"/>
            <a:ext cx="10881360" cy="749808"/>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166360"/>
            <a:ext cx="822960" cy="74980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66360"/>
            <a:ext cx="822960" cy="749808"/>
          </a:xfrm>
          <a:prstGeom prst="rect">
            <a:avLst/>
          </a:prstGeom>
          <a:noFill/>
        </p:spPr>
        <p:txBody>
          <a:bodyPr wrap="square" anchor="ctr" lIns="0" rIns="0" tIns="0" bIns="0">
            <a:spAutoFit/>
          </a:bodyPr>
          <a:lstStyle/>
          <a:p>
            <a:pPr algn="ctr">
              <a:lnSpc>
                <a:spcPct val="105000"/>
              </a:lnSpc>
              <a:spcBef>
                <a:spcPts val="0"/>
              </a:spcBef>
              <a:spcAft>
                <a:spcPts val="0"/>
              </a:spcAft>
            </a:pPr>
            <a:r>
              <a:rPr sz="2000" b="1" i="0">
                <a:solidFill>
                  <a:srgbClr val="0F172A"/>
                </a:solidFill>
                <a:latin typeface="Arial"/>
              </a:rPr>
              <a:t>4b</a:t>
            </a:r>
          </a:p>
        </p:txBody>
      </p:sp>
      <p:sp>
        <p:nvSpPr>
          <p:cNvPr id="25" name="TextBox 24"/>
          <p:cNvSpPr txBox="1"/>
          <p:nvPr/>
        </p:nvSpPr>
        <p:spPr>
          <a:xfrm>
            <a:off x="1691640" y="5257800"/>
            <a:ext cx="9692640" cy="566928"/>
          </a:xfrm>
          <a:prstGeom prst="rect">
            <a:avLst/>
          </a:prstGeom>
          <a:noFill/>
        </p:spPr>
        <p:txBody>
          <a:bodyPr wrap="square" anchor="ctr" lIns="0" rIns="0" tIns="0" bIns="0">
            <a:spAutoFit/>
          </a:bodyPr>
          <a:lstStyle/>
          <a:p>
            <a:pPr algn="l">
              <a:lnSpc>
                <a:spcPct val="105000"/>
              </a:lnSpc>
              <a:spcBef>
                <a:spcPts val="0"/>
              </a:spcBef>
              <a:spcAft>
                <a:spcPts val="200"/>
              </a:spcAft>
            </a:pPr>
            <a:r>
              <a:rPr sz="1550" b="1" i="0">
                <a:solidFill>
                  <a:srgbClr val="F8FAFC"/>
                </a:solidFill>
                <a:latin typeface="Arial"/>
              </a:rPr>
              <a:t>Red → resume, don't restart</a:t>
            </a:r>
          </a:p>
          <a:p>
            <a:pPr algn="l">
              <a:lnSpc>
                <a:spcPct val="105000"/>
              </a:lnSpc>
              <a:spcBef>
                <a:spcPts val="0"/>
              </a:spcBef>
              <a:spcAft>
                <a:spcPts val="200"/>
              </a:spcAft>
            </a:pPr>
            <a:r>
              <a:rPr sz="1200" b="0" i="0">
                <a:solidFill>
                  <a:srgbClr val="94A3B8"/>
                </a:solidFill>
                <a:latin typeface="Arial"/>
              </a:rPr>
              <a:t>resumeSession re-enters the SAME agent with the failure output attached. It fixes the actual failure, keeping its context.</a:t>
            </a:r>
          </a:p>
        </p:txBody>
      </p:sp>
      <p:sp>
        <p:nvSpPr>
          <p:cNvPr id="26" name="TextBox 25"/>
          <p:cNvSpPr txBox="1"/>
          <p:nvPr/>
        </p:nvSpPr>
        <p:spPr>
          <a:xfrm>
            <a:off x="640080" y="6053328"/>
            <a:ext cx="10881360" cy="292608"/>
          </a:xfrm>
          <a:prstGeom prst="rect">
            <a:avLst/>
          </a:prstGeom>
          <a:noFill/>
        </p:spPr>
        <p:txBody>
          <a:bodyPr wrap="square" anchor="t" lIns="0" rIns="0" tIns="0" bIns="0">
            <a:spAutoFit/>
          </a:bodyPr>
          <a:lstStyle/>
          <a:p>
            <a:pPr algn="l">
              <a:lnSpc>
                <a:spcPct val="100000"/>
              </a:lnSpc>
              <a:spcBef>
                <a:spcPts val="0"/>
              </a:spcBef>
              <a:spcAft>
                <a:spcPts val="0"/>
              </a:spcAft>
            </a:pPr>
            <a:r>
              <a:rPr sz="1250" b="0" i="1">
                <a:solidFill>
                  <a:srgbClr val="F59E0B"/>
                </a:solidFill>
                <a:latin typeface="Arial"/>
              </a:rPr>
              <a:t>A failing test isn't a dead end — it's the next prompt. Context is preserved, so the agent converges instead of thrashing.</a:t>
            </a:r>
          </a:p>
        </p:txBody>
      </p:sp>
      <p:sp>
        <p:nvSpPr>
          <p:cNvPr id="27" name="TextBox 26"/>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8" name="TextBox 27"/>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THE AGENT'S CRAFT IS BORROWED TOO</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gh / mattpocock / skills, baked into the image</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685800"/>
          </a:xfrm>
          <a:prstGeom prst="rect">
            <a:avLst/>
          </a:prstGeom>
          <a:noFill/>
        </p:spPr>
        <p:txBody>
          <a:bodyPr wrap="square" anchor="t" lIns="0" rIns="0" tIns="0" bIns="0">
            <a:spAutoFit/>
          </a:bodyPr>
          <a:lstStyle/>
          <a:p>
            <a:pPr algn="l">
              <a:lnSpc>
                <a:spcPct val="120000"/>
              </a:lnSpc>
              <a:spcBef>
                <a:spcPts val="0"/>
              </a:spcBef>
              <a:spcAft>
                <a:spcPts val="600"/>
              </a:spcAft>
            </a:pPr>
            <a:r>
              <a:rPr sz="1500" b="0" i="0">
                <a:solidFill>
                  <a:srgbClr val="E2E8F0"/>
                </a:solidFill>
                <a:latin typeface="Arial"/>
              </a:rPr>
              <a:t>The container mirrors the </a:t>
            </a:r>
            <a:r>
              <a:rPr sz="1500" b="1" i="0">
                <a:solidFill>
                  <a:srgbClr val="F59E0B"/>
                </a:solidFill>
                <a:latin typeface="Consolas"/>
              </a:rPr>
              <a:t>mattpocock-skills</a:t>
            </a:r>
            <a:r>
              <a:rPr sz="1500" b="0" i="0">
                <a:solidFill>
                  <a:srgbClr val="E2E8F0"/>
                </a:solidFill>
                <a:latin typeface="Arial"/>
              </a:rPr>
              <a:t> plugin (pinned to </a:t>
            </a:r>
            <a:r>
              <a:rPr sz="1400" b="0" i="0">
                <a:solidFill>
                  <a:srgbClr val="F59E0B"/>
                </a:solidFill>
                <a:latin typeface="Consolas"/>
              </a:rPr>
              <a:t>SKILLS_REF</a:t>
            </a:r>
            <a:r>
              <a:rPr sz="1500" b="0" i="0">
                <a:solidFill>
                  <a:srgbClr val="E2E8F0"/>
                </a:solidFill>
                <a:latin typeface="Arial"/>
              </a:rPr>
              <a:t>) at personal scope — </a:t>
            </a:r>
            <a:r>
              <a:rPr sz="1350" b="0" i="0">
                <a:solidFill>
                  <a:srgbClr val="94A3B8"/>
                </a:solidFill>
                <a:latin typeface="Consolas"/>
              </a:rPr>
              <a:t>/home/agent/.claude/skills/</a:t>
            </a:r>
          </a:p>
          <a:p>
            <a:pPr algn="l">
              <a:lnSpc>
                <a:spcPct val="120000"/>
              </a:lnSpc>
              <a:spcBef>
                <a:spcPts val="0"/>
              </a:spcBef>
              <a:spcAft>
                <a:spcPts val="600"/>
              </a:spcAft>
            </a:pPr>
            <a:r>
              <a:rPr sz="1500" b="0" i="0">
                <a:solidFill>
                  <a:srgbClr val="E2E8F0"/>
                </a:solidFill>
                <a:latin typeface="Arial"/>
              </a:rPr>
              <a:t>The plain </a:t>
            </a:r>
            <a:r>
              <a:rPr sz="1400" b="0" i="0">
                <a:solidFill>
                  <a:srgbClr val="38BDF8"/>
                </a:solidFill>
                <a:latin typeface="Consolas"/>
              </a:rPr>
              <a:t>claude --print</a:t>
            </a:r>
            <a:r>
              <a:rPr sz="1500" b="0" i="0">
                <a:solidFill>
                  <a:srgbClr val="E2E8F0"/>
                </a:solidFill>
                <a:latin typeface="Arial"/>
              </a:rPr>
              <a:t> CLI auto-discovers them: no flag, no plugin machinery, zero per-run cost, and off every agent branch.</a:t>
            </a:r>
          </a:p>
        </p:txBody>
      </p:sp>
      <p:sp>
        <p:nvSpPr>
          <p:cNvPr id="7" name="Rounded Rectangle 6"/>
          <p:cNvSpPr/>
          <p:nvPr/>
        </p:nvSpPr>
        <p:spPr>
          <a:xfrm>
            <a:off x="640080" y="3063240"/>
            <a:ext cx="3502152" cy="21488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063240"/>
            <a:ext cx="3502152"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10128"/>
            <a:ext cx="3017520" cy="45720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F59E0B"/>
                </a:solidFill>
                <a:latin typeface="Consolas"/>
              </a:rPr>
              <a:t>tdd</a:t>
            </a:r>
          </a:p>
        </p:txBody>
      </p:sp>
      <p:sp>
        <p:nvSpPr>
          <p:cNvPr id="10" name="TextBox 9"/>
          <p:cNvSpPr txBox="1"/>
          <p:nvPr/>
        </p:nvSpPr>
        <p:spPr>
          <a:xfrm>
            <a:off x="914400" y="3703320"/>
            <a:ext cx="3017520" cy="36576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94A3B8"/>
                </a:solidFill>
                <a:latin typeface="Arial"/>
              </a:rPr>
              <a:t>DRIVES THE LOOP</a:t>
            </a:r>
          </a:p>
        </p:txBody>
      </p:sp>
      <p:sp>
        <p:nvSpPr>
          <p:cNvPr id="11" name="TextBox 10"/>
          <p:cNvSpPr txBox="1"/>
          <p:nvPr/>
        </p:nvSpPr>
        <p:spPr>
          <a:xfrm>
            <a:off x="914400" y="4114800"/>
            <a:ext cx="3017520" cy="10058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E2E8F0"/>
                </a:solidFill>
                <a:latin typeface="Arial"/>
              </a:rPr>
              <a:t>Red before green, one vertical slice at a time, testing at seams, the anti-patterns. This skill governs HOW every agent works test-first.</a:t>
            </a:r>
          </a:p>
        </p:txBody>
      </p:sp>
      <p:sp>
        <p:nvSpPr>
          <p:cNvPr id="12" name="Rounded Rectangle 11"/>
          <p:cNvSpPr/>
          <p:nvPr/>
        </p:nvSpPr>
        <p:spPr>
          <a:xfrm>
            <a:off x="4325112" y="3063240"/>
            <a:ext cx="3502152" cy="21488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3063240"/>
            <a:ext cx="3502152" cy="11887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310128"/>
            <a:ext cx="3017520" cy="45720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38BDF8"/>
                </a:solidFill>
                <a:latin typeface="Consolas"/>
              </a:rPr>
              <a:t>codebase-design</a:t>
            </a:r>
          </a:p>
        </p:txBody>
      </p:sp>
      <p:sp>
        <p:nvSpPr>
          <p:cNvPr id="15" name="TextBox 14"/>
          <p:cNvSpPr txBox="1"/>
          <p:nvPr/>
        </p:nvSpPr>
        <p:spPr>
          <a:xfrm>
            <a:off x="4599432" y="3703320"/>
            <a:ext cx="3017520" cy="36576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94A3B8"/>
                </a:solidFill>
                <a:latin typeface="Arial"/>
              </a:rPr>
              <a:t>WHEN THE SEAM IS IN QUESTION</a:t>
            </a:r>
          </a:p>
        </p:txBody>
      </p:sp>
      <p:sp>
        <p:nvSpPr>
          <p:cNvPr id="16" name="TextBox 15"/>
          <p:cNvSpPr txBox="1"/>
          <p:nvPr/>
        </p:nvSpPr>
        <p:spPr>
          <a:xfrm>
            <a:off x="4599432" y="4114800"/>
            <a:ext cx="3017520" cy="10058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E2E8F0"/>
                </a:solidFill>
                <a:latin typeface="Arial"/>
              </a:rPr>
              <a:t>Reached for when the interface shape itself is unclear — before committing to a contract under test.</a:t>
            </a:r>
          </a:p>
        </p:txBody>
      </p:sp>
      <p:sp>
        <p:nvSpPr>
          <p:cNvPr id="17" name="Rounded Rectangle 16"/>
          <p:cNvSpPr/>
          <p:nvPr/>
        </p:nvSpPr>
        <p:spPr>
          <a:xfrm>
            <a:off x="8010144" y="3063240"/>
            <a:ext cx="3502152" cy="21488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3063240"/>
            <a:ext cx="3502152" cy="11887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3310128"/>
            <a:ext cx="3017520" cy="45720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34D399"/>
                </a:solidFill>
                <a:latin typeface="Consolas"/>
              </a:rPr>
              <a:t>code-review</a:t>
            </a:r>
          </a:p>
        </p:txBody>
      </p:sp>
      <p:sp>
        <p:nvSpPr>
          <p:cNvPr id="20" name="TextBox 19"/>
          <p:cNvSpPr txBox="1"/>
          <p:nvPr/>
        </p:nvSpPr>
        <p:spPr>
          <a:xfrm>
            <a:off x="8284464" y="3703320"/>
            <a:ext cx="3017520" cy="36576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94A3B8"/>
                </a:solidFill>
                <a:latin typeface="Arial"/>
              </a:rPr>
              <a:t>THE DEFERRED REFACTOR STAGE</a:t>
            </a:r>
          </a:p>
        </p:txBody>
      </p:sp>
      <p:sp>
        <p:nvSpPr>
          <p:cNvPr id="21" name="TextBox 20"/>
          <p:cNvSpPr txBox="1"/>
          <p:nvPr/>
        </p:nvSpPr>
        <p:spPr>
          <a:xfrm>
            <a:off x="8284464" y="4114800"/>
            <a:ext cx="3017520" cy="100584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E2E8F0"/>
                </a:solidFill>
                <a:latin typeface="Arial"/>
              </a:rPr>
              <a:t>The loop defers cleanup to this skill's rules once the test is green.</a:t>
            </a:r>
          </a:p>
        </p:txBody>
      </p:sp>
      <p:sp>
        <p:nvSpPr>
          <p:cNvPr id="22" name="Rounded Rectangle 21"/>
          <p:cNvSpPr/>
          <p:nvPr/>
        </p:nvSpPr>
        <p:spPr>
          <a:xfrm>
            <a:off x="640080" y="5440680"/>
            <a:ext cx="10881360" cy="777240"/>
          </a:xfrm>
          <a:prstGeom prst="roundRect">
            <a:avLst>
              <a:gd name="adj" fmla="val 6000"/>
            </a:avLst>
          </a:prstGeom>
          <a:solidFill>
            <a:srgbClr val="162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532120"/>
            <a:ext cx="10424160" cy="640080"/>
          </a:xfrm>
          <a:prstGeom prst="rect">
            <a:avLst/>
          </a:prstGeom>
          <a:noFill/>
        </p:spPr>
        <p:txBody>
          <a:bodyPr wrap="square" anchor="ctr" lIns="0" rIns="0" tIns="0" bIns="0">
            <a:spAutoFit/>
          </a:bodyPr>
          <a:lstStyle/>
          <a:p>
            <a:pPr algn="l">
              <a:lnSpc>
                <a:spcPct val="112000"/>
              </a:lnSpc>
              <a:spcBef>
                <a:spcPts val="0"/>
              </a:spcBef>
              <a:spcAft>
                <a:spcPts val="0"/>
              </a:spcAft>
            </a:pPr>
            <a:r>
              <a:rPr sz="1300" b="1" i="0">
                <a:solidFill>
                  <a:srgbClr val="F59E0B"/>
                </a:solidFill>
                <a:latin typeface="Arial"/>
              </a:rPr>
              <a:t>The load-bearing clause: </a:t>
            </a:r>
            <a:r>
              <a:rPr sz="1300" b="0" i="0">
                <a:solidFill>
                  <a:srgbClr val="E2E8F0"/>
                </a:solidFill>
                <a:latin typeface="Arial"/>
              </a:rPr>
              <a:t>skills govern </a:t>
            </a:r>
            <a:r>
              <a:rPr sz="1300" b="1" i="1">
                <a:solidFill>
                  <a:srgbClr val="F8FAFC"/>
                </a:solidFill>
                <a:latin typeface="Arial"/>
              </a:rPr>
              <a:t>how</a:t>
            </a:r>
            <a:r>
              <a:rPr sz="1300" b="0" i="0">
                <a:solidFill>
                  <a:srgbClr val="E2E8F0"/>
                </a:solidFill>
                <a:latin typeface="Arial"/>
              </a:rPr>
              <a:t> you work; the orchestrator's contract governs </a:t>
            </a:r>
            <a:r>
              <a:rPr sz="1300" b="1" i="1">
                <a:solidFill>
                  <a:srgbClr val="F8FAFC"/>
                </a:solidFill>
                <a:latin typeface="Arial"/>
              </a:rPr>
              <a:t>whether you're done</a:t>
            </a:r>
            <a:r>
              <a:rPr sz="1300" b="0" i="0">
                <a:solidFill>
                  <a:srgbClr val="E2E8F0"/>
                </a:solidFill>
                <a:latin typeface="Arial"/>
              </a:rPr>
              <a:t>. A skill's own "done" or internal loop never ends a turn — only the gate does.</a:t>
            </a:r>
          </a:p>
        </p:txBody>
      </p:sp>
      <p:sp>
        <p:nvSpPr>
          <p:cNvPr id="24" name="TextBox 23"/>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5" name="TextBox 24"/>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ANSWER FROM YOUR PHONE</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Blocking is a feature, not a failure</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20240"/>
            <a:ext cx="5943600" cy="4206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548640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WHEN AN AGENT PARKS</a:t>
            </a:r>
          </a:p>
        </p:txBody>
      </p:sp>
      <p:sp>
        <p:nvSpPr>
          <p:cNvPr id="8" name="Rectangle 7"/>
          <p:cNvSpPr/>
          <p:nvPr/>
        </p:nvSpPr>
        <p:spPr>
          <a:xfrm>
            <a:off x="914400" y="2743200"/>
            <a:ext cx="100584" cy="7589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2743200"/>
            <a:ext cx="5230368" cy="758952"/>
          </a:xfrm>
          <a:prstGeom prst="rect">
            <a:avLst/>
          </a:prstGeom>
          <a:noFill/>
        </p:spPr>
        <p:txBody>
          <a:bodyPr wrap="square" anchor="ctr" lIns="0" rIns="0" tIns="0" bIns="0">
            <a:spAutoFit/>
          </a:bodyPr>
          <a:lstStyle/>
          <a:p>
            <a:pPr algn="l">
              <a:lnSpc>
                <a:spcPct val="102000"/>
              </a:lnSpc>
              <a:spcBef>
                <a:spcPts val="0"/>
              </a:spcBef>
              <a:spcAft>
                <a:spcPts val="300"/>
              </a:spcAft>
            </a:pPr>
            <a:r>
              <a:rPr sz="1350" b="1" i="0">
                <a:solidFill>
                  <a:srgbClr val="F8FAFC"/>
                </a:solidFill>
                <a:latin typeface="Arial"/>
              </a:rPr>
              <a:t>The question is written to disk</a:t>
            </a:r>
          </a:p>
          <a:p>
            <a:pPr algn="l">
              <a:lnSpc>
                <a:spcPct val="102000"/>
              </a:lnSpc>
              <a:spcBef>
                <a:spcPts val="0"/>
              </a:spcBef>
              <a:spcAft>
                <a:spcPts val="300"/>
              </a:spcAft>
            </a:pPr>
            <a:r>
              <a:rPr sz="1150" b="0" i="0">
                <a:solidFill>
                  <a:srgbClr val="94A3B8"/>
                </a:solidFill>
                <a:latin typeface="Arial"/>
              </a:rPr>
              <a:t>.sandcastle/parked/&lt;task&gt;.json — question, session id, branch, message id.</a:t>
            </a:r>
          </a:p>
        </p:txBody>
      </p:sp>
      <p:sp>
        <p:nvSpPr>
          <p:cNvPr id="10" name="Rectangle 9"/>
          <p:cNvSpPr/>
          <p:nvPr/>
        </p:nvSpPr>
        <p:spPr>
          <a:xfrm>
            <a:off x="914400" y="3547872"/>
            <a:ext cx="100584" cy="7589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547872"/>
            <a:ext cx="5230368" cy="758952"/>
          </a:xfrm>
          <a:prstGeom prst="rect">
            <a:avLst/>
          </a:prstGeom>
          <a:noFill/>
        </p:spPr>
        <p:txBody>
          <a:bodyPr wrap="square" anchor="ctr" lIns="0" rIns="0" tIns="0" bIns="0">
            <a:spAutoFit/>
          </a:bodyPr>
          <a:lstStyle/>
          <a:p>
            <a:pPr algn="l">
              <a:lnSpc>
                <a:spcPct val="102000"/>
              </a:lnSpc>
              <a:spcBef>
                <a:spcPts val="0"/>
              </a:spcBef>
              <a:spcAft>
                <a:spcPts val="300"/>
              </a:spcAft>
            </a:pPr>
            <a:r>
              <a:rPr sz="1350" b="1" i="0">
                <a:solidFill>
                  <a:srgbClr val="F8FAFC"/>
                </a:solidFill>
                <a:latin typeface="Arial"/>
              </a:rPr>
              <a:t>The container is torn down</a:t>
            </a:r>
          </a:p>
          <a:p>
            <a:pPr algn="l">
              <a:lnSpc>
                <a:spcPct val="102000"/>
              </a:lnSpc>
              <a:spcBef>
                <a:spcPts val="0"/>
              </a:spcBef>
              <a:spcAft>
                <a:spcPts val="300"/>
              </a:spcAft>
            </a:pPr>
            <a:r>
              <a:rPr sz="1150" b="0" i="0">
                <a:solidFill>
                  <a:srgbClr val="94A3B8"/>
                </a:solidFill>
                <a:latin typeface="Arial"/>
              </a:rPr>
              <a:t>Parking is terminal for the slot, never a held container. One stuck task can't starve the pool.</a:t>
            </a:r>
          </a:p>
        </p:txBody>
      </p:sp>
      <p:sp>
        <p:nvSpPr>
          <p:cNvPr id="12" name="Rectangle 11"/>
          <p:cNvSpPr/>
          <p:nvPr/>
        </p:nvSpPr>
        <p:spPr>
          <a:xfrm>
            <a:off x="914400" y="4352544"/>
            <a:ext cx="100584" cy="7589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4352544"/>
            <a:ext cx="5230368" cy="758952"/>
          </a:xfrm>
          <a:prstGeom prst="rect">
            <a:avLst/>
          </a:prstGeom>
          <a:noFill/>
        </p:spPr>
        <p:txBody>
          <a:bodyPr wrap="square" anchor="ctr" lIns="0" rIns="0" tIns="0" bIns="0">
            <a:spAutoFit/>
          </a:bodyPr>
          <a:lstStyle/>
          <a:p>
            <a:pPr algn="l">
              <a:lnSpc>
                <a:spcPct val="102000"/>
              </a:lnSpc>
              <a:spcBef>
                <a:spcPts val="0"/>
              </a:spcBef>
              <a:spcAft>
                <a:spcPts val="300"/>
              </a:spcAft>
            </a:pPr>
            <a:r>
              <a:rPr sz="1350" b="1" i="0">
                <a:solidFill>
                  <a:srgbClr val="F8FAFC"/>
                </a:solidFill>
                <a:latin typeface="Arial"/>
              </a:rPr>
              <a:t>You get a Telegram message</a:t>
            </a:r>
          </a:p>
          <a:p>
            <a:pPr algn="l">
              <a:lnSpc>
                <a:spcPct val="102000"/>
              </a:lnSpc>
              <a:spcBef>
                <a:spcPts val="0"/>
              </a:spcBef>
              <a:spcAft>
                <a:spcPts val="300"/>
              </a:spcAft>
            </a:pPr>
            <a:r>
              <a:rPr sz="1150" b="0" i="0">
                <a:solidFill>
                  <a:srgbClr val="94A3B8"/>
                </a:solidFill>
                <a:latin typeface="Arial"/>
              </a:rPr>
              <a:t>Its summary, detail, and the options the agent laid out.</a:t>
            </a:r>
          </a:p>
        </p:txBody>
      </p:sp>
      <p:sp>
        <p:nvSpPr>
          <p:cNvPr id="14" name="Rectangle 13"/>
          <p:cNvSpPr/>
          <p:nvPr/>
        </p:nvSpPr>
        <p:spPr>
          <a:xfrm>
            <a:off x="914400" y="5157216"/>
            <a:ext cx="100584" cy="7589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5157216"/>
            <a:ext cx="5230368" cy="758952"/>
          </a:xfrm>
          <a:prstGeom prst="rect">
            <a:avLst/>
          </a:prstGeom>
          <a:noFill/>
        </p:spPr>
        <p:txBody>
          <a:bodyPr wrap="square" anchor="ctr" lIns="0" rIns="0" tIns="0" bIns="0">
            <a:spAutoFit/>
          </a:bodyPr>
          <a:lstStyle/>
          <a:p>
            <a:pPr algn="l">
              <a:lnSpc>
                <a:spcPct val="102000"/>
              </a:lnSpc>
              <a:spcBef>
                <a:spcPts val="0"/>
              </a:spcBef>
              <a:spcAft>
                <a:spcPts val="300"/>
              </a:spcAft>
            </a:pPr>
            <a:r>
              <a:rPr sz="1350" b="1" i="0">
                <a:solidFill>
                  <a:srgbClr val="F8FAFC"/>
                </a:solidFill>
                <a:latin typeface="Arial"/>
              </a:rPr>
              <a:t>You reply → it resumes</a:t>
            </a:r>
          </a:p>
          <a:p>
            <a:pPr algn="l">
              <a:lnSpc>
                <a:spcPct val="102000"/>
              </a:lnSpc>
              <a:spcBef>
                <a:spcPts val="0"/>
              </a:spcBef>
              <a:spcAft>
                <a:spcPts val="300"/>
              </a:spcAft>
            </a:pPr>
            <a:r>
              <a:rPr sz="1150" b="0" i="0">
                <a:solidFill>
                  <a:srgbClr val="94A3B8"/>
                </a:solidFill>
                <a:latin typeface="Arial"/>
              </a:rPr>
              <a:t>Reply in Telegram or on the status page; the dispatcher routes it to that exact task — fresh container, full context, days later if you like.</a:t>
            </a:r>
          </a:p>
        </p:txBody>
      </p:sp>
      <p:sp>
        <p:nvSpPr>
          <p:cNvPr id="16" name="Rounded Rectangle 15"/>
          <p:cNvSpPr/>
          <p:nvPr/>
        </p:nvSpPr>
        <p:spPr>
          <a:xfrm>
            <a:off x="6949440" y="1920240"/>
            <a:ext cx="4572000" cy="4206240"/>
          </a:xfrm>
          <a:prstGeom prst="roundRect">
            <a:avLst>
              <a:gd name="adj" fmla="val 4000"/>
            </a:avLst>
          </a:prstGeom>
          <a:solidFill>
            <a:srgbClr val="162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89520" y="2331720"/>
            <a:ext cx="3291840" cy="685800"/>
          </a:xfrm>
          <a:prstGeom prst="roundRect">
            <a:avLst>
              <a:gd name="adj" fmla="val 12000"/>
            </a:avLst>
          </a:prstGeom>
          <a:solidFill>
            <a:srgbClr val="0B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395728"/>
            <a:ext cx="3017520" cy="548640"/>
          </a:xfrm>
          <a:prstGeom prst="rect">
            <a:avLst/>
          </a:prstGeom>
          <a:noFill/>
        </p:spPr>
        <p:txBody>
          <a:bodyPr wrap="square" anchor="t" lIns="0" rIns="0" tIns="0" bIns="0">
            <a:spAutoFit/>
          </a:bodyPr>
          <a:lstStyle/>
          <a:p>
            <a:pPr algn="l">
              <a:lnSpc>
                <a:spcPct val="110000"/>
              </a:lnSpc>
              <a:spcBef>
                <a:spcPts val="0"/>
              </a:spcBef>
              <a:spcAft>
                <a:spcPts val="100"/>
              </a:spcAft>
            </a:pPr>
            <a:r>
              <a:rPr sz="1100" b="1" i="0">
                <a:solidFill>
                  <a:srgbClr val="F59E0B"/>
                </a:solidFill>
                <a:latin typeface="Arial"/>
              </a:rPr>
              <a:t>🤖 sandcastle bot</a:t>
            </a:r>
          </a:p>
          <a:p>
            <a:pPr algn="l">
              <a:lnSpc>
                <a:spcPct val="110000"/>
              </a:lnSpc>
              <a:spcBef>
                <a:spcPts val="0"/>
              </a:spcBef>
              <a:spcAft>
                <a:spcPts val="100"/>
              </a:spcAft>
            </a:pPr>
            <a:r>
              <a:rPr sz="1150" b="0" i="0">
                <a:solidFill>
                  <a:srgbClr val="E2E8F0"/>
                </a:solidFill>
                <a:latin typeface="Arial"/>
              </a:rPr>
              <a:t>Task 436 needs a decision</a:t>
            </a:r>
          </a:p>
        </p:txBody>
      </p:sp>
      <p:sp>
        <p:nvSpPr>
          <p:cNvPr id="19" name="Rounded Rectangle 18"/>
          <p:cNvSpPr/>
          <p:nvPr/>
        </p:nvSpPr>
        <p:spPr>
          <a:xfrm>
            <a:off x="7589520" y="3154680"/>
            <a:ext cx="3566160" cy="1234440"/>
          </a:xfrm>
          <a:prstGeom prst="roundRect">
            <a:avLst>
              <a:gd name="adj" fmla="val 10000"/>
            </a:avLst>
          </a:prstGeom>
          <a:solidFill>
            <a:srgbClr val="0B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218688"/>
            <a:ext cx="3291840" cy="1143000"/>
          </a:xfrm>
          <a:prstGeom prst="rect">
            <a:avLst/>
          </a:prstGeom>
          <a:noFill/>
        </p:spPr>
        <p:txBody>
          <a:bodyPr wrap="square" anchor="t" lIns="0" rIns="0" tIns="0" bIns="0">
            <a:spAutoFit/>
          </a:bodyPr>
          <a:lstStyle/>
          <a:p>
            <a:pPr algn="l">
              <a:lnSpc>
                <a:spcPct val="112000"/>
              </a:lnSpc>
              <a:spcBef>
                <a:spcPts val="0"/>
              </a:spcBef>
              <a:spcAft>
                <a:spcPts val="200"/>
              </a:spcAft>
            </a:pPr>
            <a:r>
              <a:rPr sz="1050" b="1" i="0">
                <a:solidFill>
                  <a:srgbClr val="E2E8F0"/>
                </a:solidFill>
                <a:latin typeface="Arial"/>
              </a:rPr>
              <a:t>Cache key: per-user or global?</a:t>
            </a:r>
          </a:p>
          <a:p>
            <a:pPr algn="l">
              <a:lnSpc>
                <a:spcPct val="112000"/>
              </a:lnSpc>
              <a:spcBef>
                <a:spcPts val="0"/>
              </a:spcBef>
              <a:spcAft>
                <a:spcPts val="200"/>
              </a:spcAft>
            </a:pPr>
            <a:r>
              <a:rPr sz="1000" b="0" i="0">
                <a:solidFill>
                  <a:srgbClr val="94A3B8"/>
                </a:solidFill>
                <a:latin typeface="Arial"/>
              </a:rPr>
              <a:t>A — per-user, safer, slower</a:t>
            </a:r>
          </a:p>
          <a:p>
            <a:pPr algn="l">
              <a:lnSpc>
                <a:spcPct val="112000"/>
              </a:lnSpc>
              <a:spcBef>
                <a:spcPts val="0"/>
              </a:spcBef>
              <a:spcAft>
                <a:spcPts val="200"/>
              </a:spcAft>
            </a:pPr>
            <a:r>
              <a:rPr sz="1000" b="0" i="0">
                <a:solidFill>
                  <a:srgbClr val="94A3B8"/>
                </a:solidFill>
                <a:latin typeface="Arial"/>
              </a:rPr>
              <a:t>B — global, faster, riskier</a:t>
            </a:r>
          </a:p>
        </p:txBody>
      </p:sp>
      <p:sp>
        <p:nvSpPr>
          <p:cNvPr id="21" name="Rounded Rectangle 20"/>
          <p:cNvSpPr/>
          <p:nvPr/>
        </p:nvSpPr>
        <p:spPr>
          <a:xfrm>
            <a:off x="8138160" y="4526280"/>
            <a:ext cx="3017520" cy="640080"/>
          </a:xfrm>
          <a:prstGeom prst="roundRect">
            <a:avLst>
              <a:gd name="adj" fmla="val 1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4590288"/>
            <a:ext cx="2651760" cy="50292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38BDF8"/>
                </a:solidFill>
                <a:latin typeface="Arial"/>
              </a:rPr>
              <a:t>↳ "Use approach B, note</a:t>
            </a:r>
          </a:p>
          <a:p>
            <a:pPr algn="l">
              <a:lnSpc>
                <a:spcPct val="105000"/>
              </a:lnSpc>
              <a:spcBef>
                <a:spcPts val="0"/>
              </a:spcBef>
              <a:spcAft>
                <a:spcPts val="0"/>
              </a:spcAft>
            </a:pPr>
            <a:r>
              <a:rPr sz="1050" b="1" i="0">
                <a:solidFill>
                  <a:srgbClr val="38BDF8"/>
                </a:solidFill>
                <a:latin typeface="Arial"/>
              </a:rPr>
              <a:t>   why in the commit"</a:t>
            </a:r>
          </a:p>
        </p:txBody>
      </p:sp>
      <p:sp>
        <p:nvSpPr>
          <p:cNvPr id="23" name="TextBox 22"/>
          <p:cNvSpPr txBox="1"/>
          <p:nvPr/>
        </p:nvSpPr>
        <p:spPr>
          <a:xfrm>
            <a:off x="6949440" y="5532120"/>
            <a:ext cx="4572000" cy="457200"/>
          </a:xfrm>
          <a:prstGeom prst="rect">
            <a:avLst/>
          </a:prstGeom>
          <a:noFill/>
        </p:spPr>
        <p:txBody>
          <a:bodyPr wrap="square" anchor="t" lIns="0" rIns="0" tIns="0" bIns="0">
            <a:spAutoFit/>
          </a:bodyPr>
          <a:lstStyle/>
          <a:p>
            <a:pPr algn="ctr">
              <a:lnSpc>
                <a:spcPct val="105000"/>
              </a:lnSpc>
              <a:spcBef>
                <a:spcPts val="0"/>
              </a:spcBef>
              <a:spcAft>
                <a:spcPts val="0"/>
              </a:spcAft>
            </a:pPr>
            <a:r>
              <a:rPr sz="1100" b="0" i="1">
                <a:solidFill>
                  <a:srgbClr val="94A3B8"/>
                </a:solidFill>
                <a:latin typeface="Arial"/>
              </a:rPr>
              <a:t>reply in Telegram or the status page — that's the whole UI</a:t>
            </a:r>
          </a:p>
        </p:txBody>
      </p:sp>
      <p:sp>
        <p:nvSpPr>
          <p:cNvPr id="24" name="TextBox 23"/>
          <p:cNvSpPr txBox="1"/>
          <p:nvPr/>
        </p:nvSpPr>
        <p:spPr>
          <a:xfrm>
            <a:off x="7178040" y="5806440"/>
            <a:ext cx="4206240" cy="274320"/>
          </a:xfrm>
          <a:prstGeom prst="rect">
            <a:avLst/>
          </a:prstGeom>
          <a:noFill/>
        </p:spPr>
        <p:txBody>
          <a:bodyPr wrap="square" anchor="t" lIns="0" rIns="0" tIns="0" bIns="0">
            <a:spAutoFit/>
          </a:bodyPr>
          <a:lstStyle/>
          <a:p>
            <a:pPr algn="ctr">
              <a:lnSpc>
                <a:spcPct val="105000"/>
              </a:lnSpc>
              <a:spcBef>
                <a:spcPts val="0"/>
              </a:spcBef>
              <a:spcAft>
                <a:spcPts val="0"/>
              </a:spcAft>
            </a:pPr>
            <a:r>
              <a:rPr sz="1000" b="0" i="0">
                <a:solidFill>
                  <a:srgbClr val="94A3B8"/>
                </a:solidFill>
                <a:latin typeface="Consolas"/>
              </a:rPr>
              <a:t>one poller, run as a systemd user service (survives reboot)</a:t>
            </a:r>
          </a:p>
        </p:txBody>
      </p:sp>
      <p:sp>
        <p:nvSpPr>
          <p:cNvPr id="25" name="TextBox 24"/>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6" name="TextBox 25"/>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BEYOND ONE TASK</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Campaign mode: merge the whole backlog safely</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640080"/>
          </a:xfrm>
          <a:prstGeom prst="rect">
            <a:avLst/>
          </a:prstGeom>
          <a:noFill/>
        </p:spPr>
        <p:txBody>
          <a:bodyPr wrap="square" anchor="t" lIns="0" rIns="0" tIns="0" bIns="0">
            <a:spAutoFit/>
          </a:bodyPr>
          <a:lstStyle/>
          <a:p>
            <a:pPr algn="l">
              <a:lnSpc>
                <a:spcPct val="110000"/>
              </a:lnSpc>
              <a:spcBef>
                <a:spcPts val="0"/>
              </a:spcBef>
              <a:spcAft>
                <a:spcPts val="0"/>
              </a:spcAft>
            </a:pPr>
            <a:r>
              <a:rPr sz="1500" b="0" i="0">
                <a:solidFill>
                  <a:srgbClr val="E2E8F0"/>
                </a:solidFill>
                <a:latin typeface="Arial"/>
              </a:rPr>
              <a:t>Hand the </a:t>
            </a:r>
            <a:r>
              <a:rPr sz="1500" b="1" i="0">
                <a:solidFill>
                  <a:srgbClr val="F59E0B"/>
                </a:solidFill>
                <a:latin typeface="Arial"/>
              </a:rPr>
              <a:t>merge → test → next-batch</a:t>
            </a:r>
            <a:r>
              <a:rPr sz="1500" b="0" i="0">
                <a:solidFill>
                  <a:srgbClr val="E2E8F0"/>
                </a:solidFill>
                <a:latin typeface="Arial"/>
              </a:rPr>
              <a:t> chain to one command. Each quoted arg is a batch of disjoint tasks.</a:t>
            </a:r>
          </a:p>
        </p:txBody>
      </p:sp>
      <p:sp>
        <p:nvSpPr>
          <p:cNvPr id="7" name="Rounded Rectangle 6"/>
          <p:cNvSpPr/>
          <p:nvPr/>
        </p:nvSpPr>
        <p:spPr>
          <a:xfrm>
            <a:off x="640080" y="2331720"/>
            <a:ext cx="10881360" cy="548640"/>
          </a:xfrm>
          <a:prstGeom prst="roundRect">
            <a:avLst>
              <a:gd name="adj" fmla="val 6000"/>
            </a:avLst>
          </a:prstGeom>
          <a:solidFill>
            <a:srgbClr val="0B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95728"/>
            <a:ext cx="10424160" cy="411480"/>
          </a:xfrm>
          <a:prstGeom prst="rect">
            <a:avLst/>
          </a:prstGeom>
          <a:noFill/>
        </p:spPr>
        <p:txBody>
          <a:bodyPr wrap="square" anchor="ctr" lIns="0" rIns="0" tIns="0" bIns="0">
            <a:spAutoFit/>
          </a:bodyPr>
          <a:lstStyle/>
          <a:p>
            <a:pPr algn="l">
              <a:lnSpc>
                <a:spcPct val="105000"/>
              </a:lnSpc>
              <a:spcBef>
                <a:spcPts val="0"/>
              </a:spcBef>
              <a:spcAft>
                <a:spcPts val="0"/>
              </a:spcAft>
            </a:pPr>
            <a:r>
              <a:rPr sz="1500" b="0" i="0">
                <a:solidFill>
                  <a:srgbClr val="34D399"/>
                </a:solidFill>
                <a:latin typeface="Consolas"/>
              </a:rPr>
              <a:t>npx sandcastle-tdd campaign "436 611 623"  "640 655"</a:t>
            </a:r>
          </a:p>
        </p:txBody>
      </p:sp>
      <p:sp>
        <p:nvSpPr>
          <p:cNvPr id="9" name="Rounded Rectangle 8"/>
          <p:cNvSpPr/>
          <p:nvPr/>
        </p:nvSpPr>
        <p:spPr>
          <a:xfrm>
            <a:off x="640080" y="3200400"/>
            <a:ext cx="539496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200400"/>
            <a:ext cx="109728" cy="12344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3337560"/>
            <a:ext cx="484632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34D399"/>
                </a:solidFill>
                <a:latin typeface="Arial"/>
              </a:rPr>
              <a:t>1.  </a:t>
            </a:r>
            <a:r>
              <a:rPr sz="1500" b="1" i="0">
                <a:solidFill>
                  <a:srgbClr val="F8FAFC"/>
                </a:solidFill>
                <a:latin typeface="Arial"/>
              </a:rPr>
              <a:t>Drain the batch</a:t>
            </a:r>
          </a:p>
          <a:p>
            <a:pPr algn="l">
              <a:lnSpc>
                <a:spcPct val="110000"/>
              </a:lnSpc>
              <a:spcBef>
                <a:spcPts val="0"/>
              </a:spcBef>
              <a:spcAft>
                <a:spcPts val="300"/>
              </a:spcAft>
            </a:pPr>
            <a:r>
              <a:rPr sz="1200" b="0" i="0">
                <a:solidFill>
                  <a:srgbClr val="94A3B8"/>
                </a:solidFill>
                <a:latin typeface="Arial"/>
              </a:rPr>
              <a:t>Run every task in the batch to green-or-parked.</a:t>
            </a:r>
          </a:p>
        </p:txBody>
      </p:sp>
      <p:sp>
        <p:nvSpPr>
          <p:cNvPr id="12" name="Rounded Rectangle 11"/>
          <p:cNvSpPr/>
          <p:nvPr/>
        </p:nvSpPr>
        <p:spPr>
          <a:xfrm>
            <a:off x="6126480" y="3200400"/>
            <a:ext cx="539496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3200400"/>
            <a:ext cx="109728" cy="12344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337560"/>
            <a:ext cx="484632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34D399"/>
                </a:solidFill>
                <a:latin typeface="Arial"/>
              </a:rPr>
              <a:t>2.  </a:t>
            </a:r>
            <a:r>
              <a:rPr sz="1500" b="1" i="0">
                <a:solidFill>
                  <a:srgbClr val="F8FAFC"/>
                </a:solidFill>
                <a:latin typeface="Arial"/>
              </a:rPr>
              <a:t>Merge only its greens</a:t>
            </a:r>
          </a:p>
          <a:p>
            <a:pPr algn="l">
              <a:lnSpc>
                <a:spcPct val="110000"/>
              </a:lnSpc>
              <a:spcBef>
                <a:spcPts val="0"/>
              </a:spcBef>
              <a:spcAft>
                <a:spcPts val="300"/>
              </a:spcAft>
            </a:pPr>
            <a:r>
              <a:rPr sz="1200" b="0" i="0">
                <a:solidFill>
                  <a:srgbClr val="94A3B8"/>
                </a:solidFill>
                <a:latin typeface="Arial"/>
              </a:rPr>
              <a:t>--no-ff into the base. Parked tasks are never merged or cleaned.</a:t>
            </a:r>
          </a:p>
        </p:txBody>
      </p:sp>
      <p:sp>
        <p:nvSpPr>
          <p:cNvPr id="15" name="Rounded Rectangle 14"/>
          <p:cNvSpPr/>
          <p:nvPr/>
        </p:nvSpPr>
        <p:spPr>
          <a:xfrm>
            <a:off x="640080" y="4572000"/>
            <a:ext cx="539496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572000"/>
            <a:ext cx="109728" cy="12344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19" y="4709160"/>
            <a:ext cx="484632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34D399"/>
                </a:solidFill>
                <a:latin typeface="Arial"/>
              </a:rPr>
              <a:t>3.  </a:t>
            </a:r>
            <a:r>
              <a:rPr sz="1500" b="1" i="0">
                <a:solidFill>
                  <a:srgbClr val="F8FAFC"/>
                </a:solidFill>
                <a:latin typeface="Arial"/>
              </a:rPr>
              <a:t>Gate the MERGED base</a:t>
            </a:r>
          </a:p>
          <a:p>
            <a:pPr algn="l">
              <a:lnSpc>
                <a:spcPct val="110000"/>
              </a:lnSpc>
              <a:spcBef>
                <a:spcPts val="0"/>
              </a:spcBef>
              <a:spcAft>
                <a:spcPts val="300"/>
              </a:spcAft>
            </a:pPr>
            <a:r>
              <a:rPr sz="1200" b="0" i="0">
                <a:solidFill>
                  <a:srgbClr val="94A3B8"/>
                </a:solidFill>
                <a:latin typeface="Arial"/>
              </a:rPr>
              <a:t>The each-green-but-together-red case a per-task gate can't catch.</a:t>
            </a:r>
          </a:p>
        </p:txBody>
      </p:sp>
      <p:sp>
        <p:nvSpPr>
          <p:cNvPr id="18" name="Rounded Rectangle 17"/>
          <p:cNvSpPr/>
          <p:nvPr/>
        </p:nvSpPr>
        <p:spPr>
          <a:xfrm>
            <a:off x="6126480" y="4572000"/>
            <a:ext cx="539496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4572000"/>
            <a:ext cx="109728" cy="123444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709160"/>
            <a:ext cx="484632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7171"/>
                </a:solidFill>
                <a:latin typeface="Arial"/>
              </a:rPr>
              <a:t>4.  </a:t>
            </a:r>
            <a:r>
              <a:rPr sz="1500" b="1" i="0">
                <a:solidFill>
                  <a:srgbClr val="F8FAFC"/>
                </a:solidFill>
                <a:latin typeface="Arial"/>
              </a:rPr>
              <a:t>Advance — or halt &amp; roll back</a:t>
            </a:r>
          </a:p>
          <a:p>
            <a:pPr algn="l">
              <a:lnSpc>
                <a:spcPct val="110000"/>
              </a:lnSpc>
              <a:spcBef>
                <a:spcPts val="0"/>
              </a:spcBef>
              <a:spcAft>
                <a:spcPts val="300"/>
              </a:spcAft>
            </a:pPr>
            <a:r>
              <a:rPr sz="1200" b="0" i="0">
                <a:solidFill>
                  <a:srgbClr val="94A3B8"/>
                </a:solidFill>
                <a:latin typeface="Arial"/>
              </a:rPr>
              <a:t>Success: prune branches, start next batch on the advanced base. Conflict or red: halt, restore the base, keep every branch, ping you.</a:t>
            </a:r>
          </a:p>
        </p:txBody>
      </p:sp>
      <p:sp>
        <p:nvSpPr>
          <p:cNvPr id="21" name="TextBox 20"/>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2" name="TextBox 21"/>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r>
              <a:rPr sz="1400" b="1">
                <a:solidFill>
                  <a:srgbClr val="F59E0B"/>
                </a:solidFill>
                <a:latin typeface="Arial"/>
              </a:rPr>
              <a:t>SEE THE WHOLE CAMPAIGN</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r>
              <a:rPr sz="3400" b="1">
                <a:solidFill>
                  <a:srgbClr val="F8FAFC"/>
                </a:solidFill>
                <a:latin typeface="Arial"/>
              </a:rPr>
              <a:t>A live status dashboard</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914400"/>
          </a:xfrm>
          <a:prstGeom prst="rect">
            <a:avLst/>
          </a:prstGeom>
          <a:noFill/>
        </p:spPr>
        <p:txBody>
          <a:bodyPr wrap="square" anchor="t" lIns="0" rIns="0" tIns="0" bIns="0">
            <a:spAutoFit/>
          </a:bodyPr>
          <a:lstStyle/>
          <a:p>
            <a:pPr algn="l">
              <a:spcAft>
                <a:spcPts val="400"/>
              </a:spcAft>
            </a:pPr>
            <a:r>
              <a:rPr sz="1700" b="1">
                <a:solidFill>
                  <a:srgbClr val="E2E8F0"/>
                </a:solidFill>
                <a:latin typeface="Consolas"/>
              </a:rPr>
              <a:t>npx sandcastle-tdd status</a:t>
            </a:r>
            <a:r>
              <a:rPr sz="1700" b="0">
                <a:solidFill>
                  <a:srgbClr val="E2E8F0"/>
                </a:solidFill>
                <a:latin typeface="Arial"/>
              </a:rPr>
              <a:t>  — a local web page for the whole run.</a:t>
            </a:r>
          </a:p>
          <a:p>
            <a:pPr algn="l">
              <a:spcAft>
                <a:spcPts val="400"/>
              </a:spcAft>
            </a:pPr>
            <a:r>
              <a:rPr sz="1500" b="0">
                <a:solidFill>
                  <a:srgbClr val="94A3B8"/>
                </a:solidFill>
                <a:latin typeface="Arial"/>
              </a:rPr>
              <a:t>No new services: it reads the same JSONL the orchestrator already writes.</a:t>
            </a:r>
          </a:p>
        </p:txBody>
      </p:sp>
      <p:sp>
        <p:nvSpPr>
          <p:cNvPr id="7" name="Rounded Rectangle 6"/>
          <p:cNvSpPr/>
          <p:nvPr/>
        </p:nvSpPr>
        <p:spPr>
          <a:xfrm>
            <a:off x="640080" y="2880360"/>
            <a:ext cx="3566160" cy="27889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880360"/>
            <a:ext cx="35661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64408"/>
            <a:ext cx="3017520" cy="640080"/>
          </a:xfrm>
          <a:prstGeom prst="rect">
            <a:avLst/>
          </a:prstGeom>
          <a:noFill/>
        </p:spPr>
        <p:txBody>
          <a:bodyPr wrap="square" anchor="t" lIns="0" rIns="0" tIns="0" bIns="0">
            <a:spAutoFit/>
          </a:bodyPr>
          <a:lstStyle/>
          <a:p>
            <a:pPr algn="l"/>
            <a:r>
              <a:rPr sz="1900" b="1">
                <a:solidFill>
                  <a:srgbClr val="F8FAFC"/>
                </a:solidFill>
                <a:latin typeface="Arial"/>
              </a:rPr>
              <a:t>Waves at a glance</a:t>
            </a:r>
          </a:p>
        </p:txBody>
      </p:sp>
      <p:sp>
        <p:nvSpPr>
          <p:cNvPr id="10" name="TextBox 9"/>
          <p:cNvSpPr txBox="1"/>
          <p:nvPr/>
        </p:nvSpPr>
        <p:spPr>
          <a:xfrm>
            <a:off x="914400" y="4069080"/>
            <a:ext cx="3017520" cy="1463040"/>
          </a:xfrm>
          <a:prstGeom prst="rect">
            <a:avLst/>
          </a:prstGeom>
          <a:noFill/>
        </p:spPr>
        <p:txBody>
          <a:bodyPr wrap="square" anchor="t" lIns="0" rIns="0" tIns="0" bIns="0">
            <a:spAutoFit/>
          </a:bodyPr>
          <a:lstStyle/>
          <a:p>
            <a:pPr algn="l"/>
            <a:r>
              <a:rPr sz="1350" b="0">
                <a:solidFill>
                  <a:srgbClr val="E2E8F0"/>
                </a:solidFill>
                <a:latin typeface="Arial"/>
              </a:rPr>
              <a:t>Every wave with its issue chips — green completed, yellow parked, blue running. Finished waves collapse behind a green check.</a:t>
            </a:r>
          </a:p>
        </p:txBody>
      </p:sp>
      <p:sp>
        <p:nvSpPr>
          <p:cNvPr id="11" name="Rounded Rectangle 10"/>
          <p:cNvSpPr/>
          <p:nvPr/>
        </p:nvSpPr>
        <p:spPr>
          <a:xfrm>
            <a:off x="4498848" y="2880360"/>
            <a:ext cx="3566160" cy="27889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98848" y="2880360"/>
            <a:ext cx="3566160" cy="1097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3264408"/>
            <a:ext cx="3017520" cy="640080"/>
          </a:xfrm>
          <a:prstGeom prst="rect">
            <a:avLst/>
          </a:prstGeom>
          <a:noFill/>
        </p:spPr>
        <p:txBody>
          <a:bodyPr wrap="square" anchor="t" lIns="0" rIns="0" tIns="0" bIns="0">
            <a:spAutoFit/>
          </a:bodyPr>
          <a:lstStyle/>
          <a:p>
            <a:pPr algn="l"/>
            <a:r>
              <a:rPr sz="1900" b="1">
                <a:solidFill>
                  <a:srgbClr val="F8FAFC"/>
                </a:solidFill>
                <a:latin typeface="Arial"/>
              </a:rPr>
              <a:t>Answer parked issues inline</a:t>
            </a:r>
          </a:p>
        </p:txBody>
      </p:sp>
      <p:sp>
        <p:nvSpPr>
          <p:cNvPr id="14" name="TextBox 13"/>
          <p:cNvSpPr txBox="1"/>
          <p:nvPr/>
        </p:nvSpPr>
        <p:spPr>
          <a:xfrm>
            <a:off x="4773168" y="4069080"/>
            <a:ext cx="3017520" cy="1463040"/>
          </a:xfrm>
          <a:prstGeom prst="rect">
            <a:avLst/>
          </a:prstGeom>
          <a:noFill/>
        </p:spPr>
        <p:txBody>
          <a:bodyPr wrap="square" anchor="t" lIns="0" rIns="0" tIns="0" bIns="0">
            <a:spAutoFit/>
          </a:bodyPr>
          <a:lstStyle/>
          <a:p>
            <a:pPr algn="l"/>
            <a:r>
              <a:rPr sz="1350" b="0">
                <a:solidFill>
                  <a:srgbClr val="E2E8F0"/>
                </a:solidFill>
                <a:latin typeface="Arial"/>
              </a:rPr>
              <a:t>Blocked tasks jump to the top with an “N awaiting you” badge. Type a reply — here or in Telegram — and the dispatcher resumes that exact agent.</a:t>
            </a:r>
          </a:p>
        </p:txBody>
      </p:sp>
      <p:sp>
        <p:nvSpPr>
          <p:cNvPr id="15" name="Rounded Rectangle 14"/>
          <p:cNvSpPr/>
          <p:nvPr/>
        </p:nvSpPr>
        <p:spPr>
          <a:xfrm>
            <a:off x="8357615" y="2880360"/>
            <a:ext cx="3566160" cy="27889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57615" y="2880360"/>
            <a:ext cx="35661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31936" y="3264408"/>
            <a:ext cx="3017520" cy="640080"/>
          </a:xfrm>
          <a:prstGeom prst="rect">
            <a:avLst/>
          </a:prstGeom>
          <a:noFill/>
        </p:spPr>
        <p:txBody>
          <a:bodyPr wrap="square" anchor="t" lIns="0" rIns="0" tIns="0" bIns="0">
            <a:spAutoFit/>
          </a:bodyPr>
          <a:lstStyle/>
          <a:p>
            <a:pPr algn="l"/>
            <a:r>
              <a:rPr sz="1900" b="1">
                <a:solidFill>
                  <a:srgbClr val="F8FAFC"/>
                </a:solidFill>
                <a:latin typeface="Arial"/>
              </a:rPr>
              <a:t>On your phone, over the tailnet</a:t>
            </a:r>
          </a:p>
        </p:txBody>
      </p:sp>
      <p:sp>
        <p:nvSpPr>
          <p:cNvPr id="18" name="TextBox 17"/>
          <p:cNvSpPr txBox="1"/>
          <p:nvPr/>
        </p:nvSpPr>
        <p:spPr>
          <a:xfrm>
            <a:off x="8631936" y="4069080"/>
            <a:ext cx="3017520" cy="1463040"/>
          </a:xfrm>
          <a:prstGeom prst="rect">
            <a:avLst/>
          </a:prstGeom>
          <a:noFill/>
        </p:spPr>
        <p:txBody>
          <a:bodyPr wrap="square" anchor="t" lIns="0" rIns="0" tIns="0" bIns="0">
            <a:spAutoFit/>
          </a:bodyPr>
          <a:lstStyle/>
          <a:p>
            <a:pPr algn="l"/>
            <a:r>
              <a:rPr sz="1350" b="0">
                <a:solidFill>
                  <a:srgbClr val="E2E8F0"/>
                </a:solidFill>
                <a:latin typeface="Arial"/>
              </a:rPr>
              <a:t>Toggleable auto-refresh, a dismissible detail bar, and tailnet access via --host 0.0.0.0 — reach it from your phone, and it never clobbers a reply you’re typing.</a:t>
            </a:r>
          </a:p>
        </p:txBody>
      </p:sp>
      <p:sp>
        <p:nvSpPr>
          <p:cNvPr id="19" name="TextBox 18"/>
          <p:cNvSpPr txBox="1"/>
          <p:nvPr/>
        </p:nvSpPr>
        <p:spPr>
          <a:xfrm>
            <a:off x="640080" y="5897880"/>
            <a:ext cx="10881360" cy="365760"/>
          </a:xfrm>
          <a:prstGeom prst="rect">
            <a:avLst/>
          </a:prstGeom>
          <a:noFill/>
        </p:spPr>
        <p:txBody>
          <a:bodyPr wrap="square" anchor="t" lIns="0" rIns="0" tIns="0" bIns="0">
            <a:spAutoFit/>
          </a:bodyPr>
          <a:lstStyle/>
          <a:p>
            <a:pPr algn="l"/>
            <a:r>
              <a:rPr sz="1300" b="0">
                <a:solidFill>
                  <a:srgbClr val="F59E0B"/>
                </a:solidFill>
                <a:latin typeface="Arial"/>
              </a:rPr>
              <a:t>Reads state, writes answers — reply here or in Telegram, same dispatcher, same resume.</a:t>
            </a:r>
          </a:p>
        </p:txBody>
      </p:sp>
      <p:sp>
        <p:nvSpPr>
          <p:cNvPr id="20" name="TextBox 19"/>
          <p:cNvSpPr txBox="1"/>
          <p:nvPr/>
        </p:nvSpPr>
        <p:spPr>
          <a:xfrm>
            <a:off x="640080" y="6419088"/>
            <a:ext cx="7315200" cy="274320"/>
          </a:xfrm>
          <a:prstGeom prst="rect">
            <a:avLst/>
          </a:prstGeom>
          <a:noFill/>
        </p:spPr>
        <p:txBody>
          <a:bodyPr wrap="square" anchor="t" lIns="0" rIns="0" tIns="0" bIns="0">
            <a:spAutoFit/>
          </a:bodyPr>
          <a:lstStyle/>
          <a:p>
            <a:pPr algn="l"/>
            <a:r>
              <a:rPr sz="1000" b="0">
                <a:solidFill>
                  <a:srgbClr val="94A3B8"/>
                </a:solidFill>
                <a:latin typeface="Consolas"/>
              </a:rPr>
              <a:t>sandcastle-tdd</a:t>
            </a:r>
          </a:p>
        </p:txBody>
      </p:sp>
      <p:sp>
        <p:nvSpPr>
          <p:cNvPr id="21" name="TextBox 20"/>
          <p:cNvSpPr txBox="1"/>
          <p:nvPr/>
        </p:nvSpPr>
        <p:spPr>
          <a:xfrm>
            <a:off x="10881360" y="6419088"/>
            <a:ext cx="822960" cy="274320"/>
          </a:xfrm>
          <a:prstGeom prst="rect">
            <a:avLst/>
          </a:prstGeom>
          <a:noFill/>
        </p:spPr>
        <p:txBody>
          <a:bodyPr wrap="square" anchor="t" lIns="0" rIns="0" tIns="0" bIns="0">
            <a:spAutoFit/>
          </a:bodyPr>
          <a:lstStyle/>
          <a:p>
            <a:pPr algn="r"/>
            <a:r>
              <a:rPr sz="1000" b="0">
                <a:solidFill>
                  <a:srgbClr val="94A3B8"/>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r>
              <a:rPr sz="1400" b="1">
                <a:solidFill>
                  <a:srgbClr val="F59E0B"/>
                </a:solidFill>
                <a:latin typeface="Arial"/>
              </a:rPr>
              <a:t>FROM ZERO TO SHIPPED</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r>
              <a:rPr sz="3400" b="1">
                <a:solidFill>
                  <a:srgbClr val="F8FAFC"/>
                </a:solidFill>
                <a:latin typeface="Arial"/>
              </a:rPr>
              <a:t>What we built, and when</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548640"/>
          </a:xfrm>
          <a:prstGeom prst="rect">
            <a:avLst/>
          </a:prstGeom>
          <a:noFill/>
        </p:spPr>
        <p:txBody>
          <a:bodyPr wrap="square" anchor="t" lIns="0" rIns="0" tIns="0" bIns="0">
            <a:spAutoFit/>
          </a:bodyPr>
          <a:lstStyle/>
          <a:p>
            <a:pPr algn="l"/>
            <a:r>
              <a:rPr sz="1600" b="0">
                <a:solidFill>
                  <a:srgbClr val="E2E8F0"/>
                </a:solidFill>
                <a:latin typeface="Arial"/>
              </a:rPr>
              <a:t>Four days, one small repo. Most of it is the loop; the rest is leverage.</a:t>
            </a:r>
          </a:p>
        </p:txBody>
      </p:sp>
      <p:sp>
        <p:nvSpPr>
          <p:cNvPr id="7" name="Rectangle 6"/>
          <p:cNvSpPr/>
          <p:nvPr/>
        </p:nvSpPr>
        <p:spPr>
          <a:xfrm>
            <a:off x="1965960" y="3364992"/>
            <a:ext cx="8229600" cy="4572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59" y="2450592"/>
            <a:ext cx="2514600" cy="365760"/>
          </a:xfrm>
          <a:prstGeom prst="rect">
            <a:avLst/>
          </a:prstGeom>
          <a:noFill/>
        </p:spPr>
        <p:txBody>
          <a:bodyPr wrap="square" anchor="t" lIns="0" rIns="0" tIns="0" bIns="0">
            <a:spAutoFit/>
          </a:bodyPr>
          <a:lstStyle/>
          <a:p>
            <a:pPr algn="ctr"/>
            <a:r>
              <a:rPr sz="1400" b="1">
                <a:solidFill>
                  <a:srgbClr val="F59E0B"/>
                </a:solidFill>
                <a:latin typeface="Arial"/>
              </a:rPr>
              <a:t>Aug 16</a:t>
            </a:r>
          </a:p>
        </p:txBody>
      </p:sp>
      <p:sp>
        <p:nvSpPr>
          <p:cNvPr id="9" name="Oval 8"/>
          <p:cNvSpPr/>
          <p:nvPr/>
        </p:nvSpPr>
        <p:spPr>
          <a:xfrm>
            <a:off x="1810512" y="322783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20240" y="3337560"/>
            <a:ext cx="91440" cy="9144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59" y="3767328"/>
            <a:ext cx="2514600" cy="502920"/>
          </a:xfrm>
          <a:prstGeom prst="rect">
            <a:avLst/>
          </a:prstGeom>
          <a:noFill/>
        </p:spPr>
        <p:txBody>
          <a:bodyPr wrap="square" anchor="t" lIns="0" rIns="0" tIns="0" bIns="0">
            <a:spAutoFit/>
          </a:bodyPr>
          <a:lstStyle/>
          <a:p>
            <a:pPr algn="ctr"/>
            <a:r>
              <a:rPr sz="1600" b="1">
                <a:solidFill>
                  <a:srgbClr val="F8FAFC"/>
                </a:solidFill>
                <a:latin typeface="Arial"/>
              </a:rPr>
              <a:t>Orchestrator</a:t>
            </a:r>
          </a:p>
        </p:txBody>
      </p:sp>
      <p:sp>
        <p:nvSpPr>
          <p:cNvPr id="12" name="TextBox 11"/>
          <p:cNvSpPr txBox="1"/>
          <p:nvPr/>
        </p:nvSpPr>
        <p:spPr>
          <a:xfrm>
            <a:off x="708659" y="4343400"/>
            <a:ext cx="2514600" cy="1463040"/>
          </a:xfrm>
          <a:prstGeom prst="rect">
            <a:avLst/>
          </a:prstGeom>
          <a:noFill/>
        </p:spPr>
        <p:txBody>
          <a:bodyPr wrap="square" anchor="t" lIns="0" rIns="0" tIns="0" bIns="0">
            <a:spAutoFit/>
          </a:bodyPr>
          <a:lstStyle/>
          <a:p>
            <a:pPr algn="l"/>
            <a:r>
              <a:rPr sz="1050" b="0">
                <a:solidFill>
                  <a:srgbClr val="CBD5E1"/>
                </a:solidFill>
                <a:latin typeface="Arial"/>
              </a:rPr>
              <a:t>•  Parallel TDD agents that can't self-approve</a:t>
            </a:r>
          </a:p>
          <a:p>
            <a:pPr algn="l"/>
            <a:r>
              <a:rPr sz="1050" b="0">
                <a:solidFill>
                  <a:srgbClr val="CBD5E1"/>
                </a:solidFill>
                <a:latin typeface="Arial"/>
              </a:rPr>
              <a:t>•  Park instead of guessing</a:t>
            </a:r>
          </a:p>
          <a:p>
            <a:pPr algn="l"/>
            <a:r>
              <a:rPr sz="1050" b="0">
                <a:solidFill>
                  <a:srgbClr val="CBD5E1"/>
                </a:solidFill>
                <a:latin typeface="Arial"/>
              </a:rPr>
              <a:t>•  ~950 lines, 13 files, no framework</a:t>
            </a:r>
          </a:p>
        </p:txBody>
      </p:sp>
      <p:sp>
        <p:nvSpPr>
          <p:cNvPr id="13" name="TextBox 12"/>
          <p:cNvSpPr txBox="1"/>
          <p:nvPr/>
        </p:nvSpPr>
        <p:spPr>
          <a:xfrm>
            <a:off x="3451860" y="2450592"/>
            <a:ext cx="2514600" cy="365760"/>
          </a:xfrm>
          <a:prstGeom prst="rect">
            <a:avLst/>
          </a:prstGeom>
          <a:noFill/>
        </p:spPr>
        <p:txBody>
          <a:bodyPr wrap="square" anchor="t" lIns="0" rIns="0" tIns="0" bIns="0">
            <a:spAutoFit/>
          </a:bodyPr>
          <a:lstStyle/>
          <a:p>
            <a:pPr algn="ctr"/>
            <a:r>
              <a:rPr sz="1400" b="1">
                <a:solidFill>
                  <a:srgbClr val="38BDF8"/>
                </a:solidFill>
                <a:latin typeface="Arial"/>
              </a:rPr>
              <a:t>Aug 17</a:t>
            </a:r>
          </a:p>
        </p:txBody>
      </p:sp>
      <p:sp>
        <p:nvSpPr>
          <p:cNvPr id="14" name="Oval 13"/>
          <p:cNvSpPr/>
          <p:nvPr/>
        </p:nvSpPr>
        <p:spPr>
          <a:xfrm>
            <a:off x="4553712" y="3227832"/>
            <a:ext cx="310896" cy="31089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63440" y="3337560"/>
            <a:ext cx="91440" cy="9144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1860" y="3767328"/>
            <a:ext cx="2514600" cy="502920"/>
          </a:xfrm>
          <a:prstGeom prst="rect">
            <a:avLst/>
          </a:prstGeom>
          <a:noFill/>
        </p:spPr>
        <p:txBody>
          <a:bodyPr wrap="square" anchor="t" lIns="0" rIns="0" tIns="0" bIns="0">
            <a:spAutoFit/>
          </a:bodyPr>
          <a:lstStyle/>
          <a:p>
            <a:pPr algn="ctr"/>
            <a:r>
              <a:rPr sz="1600" b="1">
                <a:solidFill>
                  <a:srgbClr val="F8FAFC"/>
                </a:solidFill>
                <a:latin typeface="Arial"/>
              </a:rPr>
              <a:t>Skills baked in</a:t>
            </a:r>
          </a:p>
        </p:txBody>
      </p:sp>
      <p:sp>
        <p:nvSpPr>
          <p:cNvPr id="17" name="TextBox 16"/>
          <p:cNvSpPr txBox="1"/>
          <p:nvPr/>
        </p:nvSpPr>
        <p:spPr>
          <a:xfrm>
            <a:off x="3451860" y="4343400"/>
            <a:ext cx="2514600" cy="1463040"/>
          </a:xfrm>
          <a:prstGeom prst="rect">
            <a:avLst/>
          </a:prstGeom>
          <a:noFill/>
        </p:spPr>
        <p:txBody>
          <a:bodyPr wrap="square" anchor="t" lIns="0" rIns="0" tIns="0" bIns="0">
            <a:spAutoFit/>
          </a:bodyPr>
          <a:lstStyle/>
          <a:p>
            <a:pPr algn="l"/>
            <a:r>
              <a:rPr sz="1050" b="0">
                <a:solidFill>
                  <a:srgbClr val="CBD5E1"/>
                </a:solidFill>
                <a:latin typeface="Arial"/>
              </a:rPr>
              <a:t>•  mattpocock tdd / codebase-design / code-review</a:t>
            </a:r>
          </a:p>
          <a:p>
            <a:pPr algn="l"/>
            <a:r>
              <a:rPr sz="1050" b="0">
                <a:solidFill>
                  <a:srgbClr val="CBD5E1"/>
                </a:solidFill>
                <a:latin typeface="Arial"/>
              </a:rPr>
              <a:t>•  Mirrored into the agent image</a:t>
            </a:r>
          </a:p>
          <a:p>
            <a:pPr algn="l"/>
            <a:r>
              <a:rPr sz="1050" b="0">
                <a:solidFill>
                  <a:srgbClr val="CBD5E1"/>
                </a:solidFill>
                <a:latin typeface="Arial"/>
              </a:rPr>
              <a:t>•  Auto-discovered, zero per-run cost</a:t>
            </a:r>
          </a:p>
        </p:txBody>
      </p:sp>
      <p:sp>
        <p:nvSpPr>
          <p:cNvPr id="18" name="TextBox 17"/>
          <p:cNvSpPr txBox="1"/>
          <p:nvPr/>
        </p:nvSpPr>
        <p:spPr>
          <a:xfrm>
            <a:off x="6195060" y="2450592"/>
            <a:ext cx="2514600" cy="365760"/>
          </a:xfrm>
          <a:prstGeom prst="rect">
            <a:avLst/>
          </a:prstGeom>
          <a:noFill/>
        </p:spPr>
        <p:txBody>
          <a:bodyPr wrap="square" anchor="t" lIns="0" rIns="0" tIns="0" bIns="0">
            <a:spAutoFit/>
          </a:bodyPr>
          <a:lstStyle/>
          <a:p>
            <a:pPr algn="ctr"/>
            <a:r>
              <a:rPr sz="1400" b="1">
                <a:solidFill>
                  <a:srgbClr val="F59E0B"/>
                </a:solidFill>
                <a:latin typeface="Arial"/>
              </a:rPr>
              <a:t>Aug 18</a:t>
            </a:r>
          </a:p>
        </p:txBody>
      </p:sp>
      <p:sp>
        <p:nvSpPr>
          <p:cNvPr id="19" name="Oval 18"/>
          <p:cNvSpPr/>
          <p:nvPr/>
        </p:nvSpPr>
        <p:spPr>
          <a:xfrm>
            <a:off x="7296912" y="322783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06640" y="3337560"/>
            <a:ext cx="91440" cy="9144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5060" y="3767328"/>
            <a:ext cx="2514600" cy="502920"/>
          </a:xfrm>
          <a:prstGeom prst="rect">
            <a:avLst/>
          </a:prstGeom>
          <a:noFill/>
        </p:spPr>
        <p:txBody>
          <a:bodyPr wrap="square" anchor="t" lIns="0" rIns="0" tIns="0" bIns="0">
            <a:spAutoFit/>
          </a:bodyPr>
          <a:lstStyle/>
          <a:p>
            <a:pPr algn="ctr"/>
            <a:r>
              <a:rPr sz="1600" b="1">
                <a:solidFill>
                  <a:srgbClr val="F8FAFC"/>
                </a:solidFill>
                <a:latin typeface="Arial"/>
              </a:rPr>
              <a:t>Campaign mode + deck</a:t>
            </a:r>
          </a:p>
        </p:txBody>
      </p:sp>
      <p:sp>
        <p:nvSpPr>
          <p:cNvPr id="22" name="TextBox 21"/>
          <p:cNvSpPr txBox="1"/>
          <p:nvPr/>
        </p:nvSpPr>
        <p:spPr>
          <a:xfrm>
            <a:off x="6195060" y="4343400"/>
            <a:ext cx="2514600" cy="1463040"/>
          </a:xfrm>
          <a:prstGeom prst="rect">
            <a:avLst/>
          </a:prstGeom>
          <a:noFill/>
        </p:spPr>
        <p:txBody>
          <a:bodyPr wrap="square" anchor="t" lIns="0" rIns="0" tIns="0" bIns="0">
            <a:spAutoFit/>
          </a:bodyPr>
          <a:lstStyle/>
          <a:p>
            <a:pPr algn="l"/>
            <a:r>
              <a:rPr sz="1050" b="0">
                <a:solidFill>
                  <a:srgbClr val="CBD5E1"/>
                </a:solidFill>
                <a:latin typeface="Arial"/>
              </a:rPr>
              <a:t>•  Merge the whole backlog wave-by-wave</a:t>
            </a:r>
          </a:p>
          <a:p>
            <a:pPr algn="l"/>
            <a:r>
              <a:rPr sz="1050" b="0">
                <a:solidFill>
                  <a:srgbClr val="CBD5E1"/>
                </a:solidFill>
                <a:latin typeface="Arial"/>
              </a:rPr>
              <a:t>•  Gate the merged base, halt &amp; roll back on red</a:t>
            </a:r>
          </a:p>
          <a:p>
            <a:pPr algn="l"/>
            <a:r>
              <a:rPr sz="1050" b="0">
                <a:solidFill>
                  <a:srgbClr val="CBD5E1"/>
                </a:solidFill>
                <a:latin typeface="Arial"/>
              </a:rPr>
              <a:t>•  Team deck: design + velocity proof</a:t>
            </a:r>
          </a:p>
        </p:txBody>
      </p:sp>
      <p:sp>
        <p:nvSpPr>
          <p:cNvPr id="23" name="TextBox 22"/>
          <p:cNvSpPr txBox="1"/>
          <p:nvPr/>
        </p:nvSpPr>
        <p:spPr>
          <a:xfrm>
            <a:off x="8938260" y="2450592"/>
            <a:ext cx="2514600" cy="365760"/>
          </a:xfrm>
          <a:prstGeom prst="rect">
            <a:avLst/>
          </a:prstGeom>
          <a:noFill/>
        </p:spPr>
        <p:txBody>
          <a:bodyPr wrap="square" anchor="t" lIns="0" rIns="0" tIns="0" bIns="0">
            <a:spAutoFit/>
          </a:bodyPr>
          <a:lstStyle/>
          <a:p>
            <a:pPr algn="ctr"/>
            <a:r>
              <a:rPr sz="1400" b="1">
                <a:solidFill>
                  <a:srgbClr val="38BDF8"/>
                </a:solidFill>
                <a:latin typeface="Arial"/>
              </a:rPr>
              <a:t>Aug 19</a:t>
            </a:r>
          </a:p>
        </p:txBody>
      </p:sp>
      <p:sp>
        <p:nvSpPr>
          <p:cNvPr id="24" name="Oval 23"/>
          <p:cNvSpPr/>
          <p:nvPr/>
        </p:nvSpPr>
        <p:spPr>
          <a:xfrm>
            <a:off x="10040112" y="3227832"/>
            <a:ext cx="310896" cy="31089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49840" y="3337560"/>
            <a:ext cx="91440" cy="9144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38260" y="3767328"/>
            <a:ext cx="2514600" cy="502920"/>
          </a:xfrm>
          <a:prstGeom prst="rect">
            <a:avLst/>
          </a:prstGeom>
          <a:noFill/>
        </p:spPr>
        <p:txBody>
          <a:bodyPr wrap="square" anchor="t" lIns="0" rIns="0" tIns="0" bIns="0">
            <a:spAutoFit/>
          </a:bodyPr>
          <a:lstStyle/>
          <a:p>
            <a:pPr algn="ctr"/>
            <a:r>
              <a:rPr sz="1600" b="1">
                <a:solidFill>
                  <a:srgbClr val="F8FAFC"/>
                </a:solidFill>
                <a:latin typeface="Arial"/>
              </a:rPr>
              <a:t>Status dashboard</a:t>
            </a:r>
          </a:p>
        </p:txBody>
      </p:sp>
      <p:sp>
        <p:nvSpPr>
          <p:cNvPr id="27" name="TextBox 26"/>
          <p:cNvSpPr txBox="1"/>
          <p:nvPr/>
        </p:nvSpPr>
        <p:spPr>
          <a:xfrm>
            <a:off x="8938260" y="4343400"/>
            <a:ext cx="2514600" cy="1463040"/>
          </a:xfrm>
          <a:prstGeom prst="rect">
            <a:avLst/>
          </a:prstGeom>
          <a:noFill/>
        </p:spPr>
        <p:txBody>
          <a:bodyPr wrap="square" anchor="t" lIns="0" rIns="0" tIns="0" bIns="0">
            <a:spAutoFit/>
          </a:bodyPr>
          <a:lstStyle/>
          <a:p>
            <a:pPr algn="l"/>
            <a:r>
              <a:rPr sz="1050" b="0">
                <a:solidFill>
                  <a:srgbClr val="CBD5E1"/>
                </a:solidFill>
                <a:latin typeface="Arial"/>
              </a:rPr>
              <a:t>•  Live campaign view, parked answers inline</a:t>
            </a:r>
          </a:p>
          <a:p>
            <a:pPr algn="l"/>
            <a:r>
              <a:rPr sz="1050" b="0">
                <a:solidFill>
                  <a:srgbClr val="CBD5E1"/>
                </a:solidFill>
                <a:latin typeface="Arial"/>
              </a:rPr>
              <a:t>•  On your phone over the tailnet</a:t>
            </a:r>
          </a:p>
          <a:p>
            <a:pPr algn="l"/>
            <a:r>
              <a:rPr sz="1050" b="0">
                <a:solidFill>
                  <a:srgbClr val="CBD5E1"/>
                </a:solidFill>
                <a:latin typeface="Arial"/>
              </a:rPr>
              <a:t>•  CHANGELOG + v0.1.0 tag</a:t>
            </a:r>
          </a:p>
        </p:txBody>
      </p:sp>
      <p:sp>
        <p:nvSpPr>
          <p:cNvPr id="28" name="TextBox 27"/>
          <p:cNvSpPr txBox="1"/>
          <p:nvPr/>
        </p:nvSpPr>
        <p:spPr>
          <a:xfrm>
            <a:off x="640080" y="6419088"/>
            <a:ext cx="7315200" cy="274320"/>
          </a:xfrm>
          <a:prstGeom prst="rect">
            <a:avLst/>
          </a:prstGeom>
          <a:noFill/>
        </p:spPr>
        <p:txBody>
          <a:bodyPr wrap="square" anchor="t" lIns="0" rIns="0" tIns="0" bIns="0">
            <a:spAutoFit/>
          </a:bodyPr>
          <a:lstStyle/>
          <a:p>
            <a:pPr algn="l"/>
            <a:r>
              <a:rPr sz="1000" b="0">
                <a:solidFill>
                  <a:srgbClr val="94A3B8"/>
                </a:solidFill>
                <a:latin typeface="Consolas"/>
              </a:rPr>
              <a:t>sandcastle-tdd</a:t>
            </a:r>
          </a:p>
        </p:txBody>
      </p:sp>
      <p:sp>
        <p:nvSpPr>
          <p:cNvPr id="29" name="TextBox 28"/>
          <p:cNvSpPr txBox="1"/>
          <p:nvPr/>
        </p:nvSpPr>
        <p:spPr>
          <a:xfrm>
            <a:off x="10881360" y="6419088"/>
            <a:ext cx="822960" cy="274320"/>
          </a:xfrm>
          <a:prstGeom prst="rect">
            <a:avLst/>
          </a:prstGeom>
          <a:noFill/>
        </p:spPr>
        <p:txBody>
          <a:bodyPr wrap="square" anchor="t" lIns="0" rIns="0" tIns="0" bIns="0">
            <a:spAutoFit/>
          </a:bodyPr>
          <a:lstStyle/>
          <a:p>
            <a:pPr algn="r"/>
            <a:r>
              <a:rPr sz="1000" b="0">
                <a:solidFill>
                  <a:srgbClr val="94A3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1051560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38BDF8"/>
                </a:solidFill>
                <a:latin typeface="Arial"/>
              </a:rPr>
              <a:t>BY THE NUMBERS</a:t>
            </a:r>
          </a:p>
        </p:txBody>
      </p:sp>
      <p:sp>
        <p:nvSpPr>
          <p:cNvPr id="6" name="TextBox 5"/>
          <p:cNvSpPr txBox="1"/>
          <p:nvPr/>
        </p:nvSpPr>
        <p:spPr>
          <a:xfrm>
            <a:off x="804672" y="1188720"/>
            <a:ext cx="10607040" cy="914400"/>
          </a:xfrm>
          <a:prstGeom prst="rect">
            <a:avLst/>
          </a:prstGeom>
          <a:noFill/>
        </p:spPr>
        <p:txBody>
          <a:bodyPr wrap="square" anchor="t" lIns="0" rIns="0" tIns="0" bIns="0">
            <a:spAutoFit/>
          </a:bodyPr>
          <a:lstStyle/>
          <a:p>
            <a:pPr algn="l">
              <a:lnSpc>
                <a:spcPct val="105000"/>
              </a:lnSpc>
              <a:spcBef>
                <a:spcPts val="0"/>
              </a:spcBef>
              <a:spcAft>
                <a:spcPts val="0"/>
              </a:spcAft>
            </a:pPr>
            <a:r>
              <a:rPr sz="3000" b="1" i="0">
                <a:solidFill>
                  <a:srgbClr val="F8FAFC"/>
                </a:solidFill>
                <a:latin typeface="Arial"/>
              </a:rPr>
              <a:t>Small enough to hold in your head</a:t>
            </a:r>
          </a:p>
        </p:txBody>
      </p:sp>
      <p:sp>
        <p:nvSpPr>
          <p:cNvPr id="7" name="Rounded Rectangle 6"/>
          <p:cNvSpPr/>
          <p:nvPr/>
        </p:nvSpPr>
        <p:spPr>
          <a:xfrm>
            <a:off x="822960" y="2148840"/>
            <a:ext cx="2514600" cy="169164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2514600" cy="822960"/>
          </a:xfrm>
          <a:prstGeom prst="rect">
            <a:avLst/>
          </a:prstGeom>
          <a:noFill/>
        </p:spPr>
        <p:txBody>
          <a:bodyPr wrap="square" anchor="t" lIns="0" rIns="0" tIns="0" bIns="0">
            <a:spAutoFit/>
          </a:bodyPr>
          <a:lstStyle/>
          <a:p>
            <a:pPr algn="ctr">
              <a:lnSpc>
                <a:spcPct val="105000"/>
              </a:lnSpc>
              <a:spcBef>
                <a:spcPts val="0"/>
              </a:spcBef>
              <a:spcAft>
                <a:spcPts val="0"/>
              </a:spcAft>
            </a:pPr>
            <a:r>
              <a:rPr sz="4400" b="1" i="0">
                <a:solidFill>
                  <a:srgbClr val="F59E0B"/>
                </a:solidFill>
                <a:latin typeface="Arial"/>
              </a:rPr>
              <a:t>~950</a:t>
            </a:r>
          </a:p>
        </p:txBody>
      </p:sp>
      <p:sp>
        <p:nvSpPr>
          <p:cNvPr id="9" name="TextBox 8"/>
          <p:cNvSpPr txBox="1"/>
          <p:nvPr/>
        </p:nvSpPr>
        <p:spPr>
          <a:xfrm>
            <a:off x="822960" y="3200400"/>
            <a:ext cx="2514600" cy="548640"/>
          </a:xfrm>
          <a:prstGeom prst="rect">
            <a:avLst/>
          </a:prstGeom>
          <a:noFill/>
        </p:spPr>
        <p:txBody>
          <a:bodyPr wrap="square" anchor="t" lIns="0" rIns="0" tIns="0" bIns="0">
            <a:spAutoFit/>
          </a:bodyPr>
          <a:lstStyle/>
          <a:p>
            <a:pPr algn="ctr">
              <a:lnSpc>
                <a:spcPct val="105000"/>
              </a:lnSpc>
              <a:spcBef>
                <a:spcPts val="0"/>
              </a:spcBef>
              <a:spcAft>
                <a:spcPts val="0"/>
              </a:spcAft>
            </a:pPr>
            <a:r>
              <a:rPr sz="1250" b="0" i="0">
                <a:solidFill>
                  <a:srgbClr val="94A3B8"/>
                </a:solidFill>
                <a:latin typeface="Arial"/>
              </a:rPr>
              <a:t>lines of TypeScript</a:t>
            </a:r>
          </a:p>
        </p:txBody>
      </p:sp>
      <p:sp>
        <p:nvSpPr>
          <p:cNvPr id="10" name="Rounded Rectangle 9"/>
          <p:cNvSpPr/>
          <p:nvPr/>
        </p:nvSpPr>
        <p:spPr>
          <a:xfrm>
            <a:off x="3474720" y="2148840"/>
            <a:ext cx="2514600" cy="169164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331720"/>
            <a:ext cx="2514600" cy="822960"/>
          </a:xfrm>
          <a:prstGeom prst="rect">
            <a:avLst/>
          </a:prstGeom>
          <a:noFill/>
        </p:spPr>
        <p:txBody>
          <a:bodyPr wrap="square" anchor="t" lIns="0" rIns="0" tIns="0" bIns="0">
            <a:spAutoFit/>
          </a:bodyPr>
          <a:lstStyle/>
          <a:p>
            <a:pPr algn="ctr">
              <a:lnSpc>
                <a:spcPct val="105000"/>
              </a:lnSpc>
              <a:spcBef>
                <a:spcPts val="0"/>
              </a:spcBef>
              <a:spcAft>
                <a:spcPts val="0"/>
              </a:spcAft>
            </a:pPr>
            <a:r>
              <a:rPr sz="4400" b="1" i="0">
                <a:solidFill>
                  <a:srgbClr val="38BDF8"/>
                </a:solidFill>
                <a:latin typeface="Arial"/>
              </a:rPr>
              <a:t>2</a:t>
            </a:r>
          </a:p>
        </p:txBody>
      </p:sp>
      <p:sp>
        <p:nvSpPr>
          <p:cNvPr id="12" name="TextBox 11"/>
          <p:cNvSpPr txBox="1"/>
          <p:nvPr/>
        </p:nvSpPr>
        <p:spPr>
          <a:xfrm>
            <a:off x="3474720" y="3200400"/>
            <a:ext cx="2514600" cy="548640"/>
          </a:xfrm>
          <a:prstGeom prst="rect">
            <a:avLst/>
          </a:prstGeom>
          <a:noFill/>
        </p:spPr>
        <p:txBody>
          <a:bodyPr wrap="square" anchor="t" lIns="0" rIns="0" tIns="0" bIns="0">
            <a:spAutoFit/>
          </a:bodyPr>
          <a:lstStyle/>
          <a:p>
            <a:pPr algn="ctr">
              <a:lnSpc>
                <a:spcPct val="105000"/>
              </a:lnSpc>
              <a:spcBef>
                <a:spcPts val="0"/>
              </a:spcBef>
              <a:spcAft>
                <a:spcPts val="0"/>
              </a:spcAft>
            </a:pPr>
            <a:r>
              <a:rPr sz="1250" b="0" i="0">
                <a:solidFill>
                  <a:srgbClr val="94A3B8"/>
                </a:solidFill>
                <a:latin typeface="Arial"/>
              </a:rPr>
              <a:t>days, Aug 16–17</a:t>
            </a:r>
          </a:p>
        </p:txBody>
      </p:sp>
      <p:sp>
        <p:nvSpPr>
          <p:cNvPr id="13" name="Rounded Rectangle 12"/>
          <p:cNvSpPr/>
          <p:nvPr/>
        </p:nvSpPr>
        <p:spPr>
          <a:xfrm>
            <a:off x="6126479" y="2148840"/>
            <a:ext cx="2514600" cy="169164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2331720"/>
            <a:ext cx="2514600" cy="822960"/>
          </a:xfrm>
          <a:prstGeom prst="rect">
            <a:avLst/>
          </a:prstGeom>
          <a:noFill/>
        </p:spPr>
        <p:txBody>
          <a:bodyPr wrap="square" anchor="t" lIns="0" rIns="0" tIns="0" bIns="0">
            <a:spAutoFit/>
          </a:bodyPr>
          <a:lstStyle/>
          <a:p>
            <a:pPr algn="ctr">
              <a:lnSpc>
                <a:spcPct val="105000"/>
              </a:lnSpc>
              <a:spcBef>
                <a:spcPts val="0"/>
              </a:spcBef>
              <a:spcAft>
                <a:spcPts val="0"/>
              </a:spcAft>
            </a:pPr>
            <a:r>
              <a:rPr sz="4400" b="1" i="0">
                <a:solidFill>
                  <a:srgbClr val="34D399"/>
                </a:solidFill>
                <a:latin typeface="Arial"/>
              </a:rPr>
              <a:t>11</a:t>
            </a:r>
          </a:p>
        </p:txBody>
      </p:sp>
      <p:sp>
        <p:nvSpPr>
          <p:cNvPr id="15" name="TextBox 14"/>
          <p:cNvSpPr txBox="1"/>
          <p:nvPr/>
        </p:nvSpPr>
        <p:spPr>
          <a:xfrm>
            <a:off x="6126479" y="3200400"/>
            <a:ext cx="2514600" cy="548640"/>
          </a:xfrm>
          <a:prstGeom prst="rect">
            <a:avLst/>
          </a:prstGeom>
          <a:noFill/>
        </p:spPr>
        <p:txBody>
          <a:bodyPr wrap="square" anchor="t" lIns="0" rIns="0" tIns="0" bIns="0">
            <a:spAutoFit/>
          </a:bodyPr>
          <a:lstStyle/>
          <a:p>
            <a:pPr algn="ctr">
              <a:lnSpc>
                <a:spcPct val="105000"/>
              </a:lnSpc>
              <a:spcBef>
                <a:spcPts val="0"/>
              </a:spcBef>
              <a:spcAft>
                <a:spcPts val="0"/>
              </a:spcAft>
            </a:pPr>
            <a:r>
              <a:rPr sz="1250" b="0" i="0">
                <a:solidFill>
                  <a:srgbClr val="94A3B8"/>
                </a:solidFill>
                <a:latin typeface="Arial"/>
              </a:rPr>
              <a:t>commits, start to useful</a:t>
            </a:r>
          </a:p>
        </p:txBody>
      </p:sp>
      <p:sp>
        <p:nvSpPr>
          <p:cNvPr id="16" name="Rounded Rectangle 15"/>
          <p:cNvSpPr/>
          <p:nvPr/>
        </p:nvSpPr>
        <p:spPr>
          <a:xfrm>
            <a:off x="8778240" y="2148840"/>
            <a:ext cx="2514600" cy="169164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2331720"/>
            <a:ext cx="2514600" cy="822960"/>
          </a:xfrm>
          <a:prstGeom prst="rect">
            <a:avLst/>
          </a:prstGeom>
          <a:noFill/>
        </p:spPr>
        <p:txBody>
          <a:bodyPr wrap="square" anchor="t" lIns="0" rIns="0" tIns="0" bIns="0">
            <a:spAutoFit/>
          </a:bodyPr>
          <a:lstStyle/>
          <a:p>
            <a:pPr algn="ctr">
              <a:lnSpc>
                <a:spcPct val="105000"/>
              </a:lnSpc>
              <a:spcBef>
                <a:spcPts val="0"/>
              </a:spcBef>
              <a:spcAft>
                <a:spcPts val="0"/>
              </a:spcAft>
            </a:pPr>
            <a:r>
              <a:rPr sz="4400" b="1" i="0">
                <a:solidFill>
                  <a:srgbClr val="C084FC"/>
                </a:solidFill>
                <a:latin typeface="Arial"/>
              </a:rPr>
              <a:t>13</a:t>
            </a:r>
          </a:p>
        </p:txBody>
      </p:sp>
      <p:sp>
        <p:nvSpPr>
          <p:cNvPr id="18" name="TextBox 17"/>
          <p:cNvSpPr txBox="1"/>
          <p:nvPr/>
        </p:nvSpPr>
        <p:spPr>
          <a:xfrm>
            <a:off x="8778240" y="3200400"/>
            <a:ext cx="2514600" cy="548640"/>
          </a:xfrm>
          <a:prstGeom prst="rect">
            <a:avLst/>
          </a:prstGeom>
          <a:noFill/>
        </p:spPr>
        <p:txBody>
          <a:bodyPr wrap="square" anchor="t" lIns="0" rIns="0" tIns="0" bIns="0">
            <a:spAutoFit/>
          </a:bodyPr>
          <a:lstStyle/>
          <a:p>
            <a:pPr algn="ctr">
              <a:lnSpc>
                <a:spcPct val="105000"/>
              </a:lnSpc>
              <a:spcBef>
                <a:spcPts val="0"/>
              </a:spcBef>
              <a:spcAft>
                <a:spcPts val="0"/>
              </a:spcAft>
            </a:pPr>
            <a:r>
              <a:rPr sz="1250" b="0" i="0">
                <a:solidFill>
                  <a:srgbClr val="94A3B8"/>
                </a:solidFill>
                <a:latin typeface="Arial"/>
              </a:rPr>
              <a:t>source files, no framework</a:t>
            </a:r>
          </a:p>
        </p:txBody>
      </p:sp>
      <p:sp>
        <p:nvSpPr>
          <p:cNvPr id="19" name="TextBox 18"/>
          <p:cNvSpPr txBox="1"/>
          <p:nvPr/>
        </p:nvSpPr>
        <p:spPr>
          <a:xfrm>
            <a:off x="822960" y="4023360"/>
            <a:ext cx="10515600" cy="45720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F8FAFC"/>
                </a:solidFill>
                <a:latin typeface="Arial"/>
              </a:rPr>
              <a:t>It's a thin orchestration layer, not a platform.</a:t>
            </a:r>
          </a:p>
        </p:txBody>
      </p:sp>
      <p:sp>
        <p:nvSpPr>
          <p:cNvPr id="20" name="Rounded Rectangle 19"/>
          <p:cNvSpPr/>
          <p:nvPr/>
        </p:nvSpPr>
        <p:spPr>
          <a:xfrm>
            <a:off x="822960" y="4846320"/>
            <a:ext cx="10561320" cy="566928"/>
          </a:xfrm>
          <a:prstGeom prst="roundRect">
            <a:avLst>
              <a:gd name="adj" fmla="val 3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846320"/>
            <a:ext cx="130083"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27363" y="4846320"/>
            <a:ext cx="9974036" cy="566928"/>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E2E8F0"/>
                </a:solidFill>
                <a:latin typeface="Arial"/>
              </a:rPr>
              <a:t>~76,500 lines you didn't write</a:t>
            </a:r>
            <a:r>
              <a:rPr sz="1200" b="0" i="0">
                <a:solidFill>
                  <a:srgbClr val="94A3B8"/>
                </a:solidFill>
                <a:latin typeface="Arial"/>
              </a:rPr>
              <a:t>   ·  @ai-hero/sandcastle: Docker sandboxing, the agent, session capture</a:t>
            </a:r>
          </a:p>
        </p:txBody>
      </p:sp>
      <p:sp>
        <p:nvSpPr>
          <p:cNvPr id="23" name="TextBox 22"/>
          <p:cNvSpPr txBox="1"/>
          <p:nvPr/>
        </p:nvSpPr>
        <p:spPr>
          <a:xfrm>
            <a:off x="685800" y="4462272"/>
            <a:ext cx="2926080" cy="32004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F59E0B"/>
                </a:solidFill>
                <a:latin typeface="Arial"/>
              </a:rPr>
              <a:t>954 lines — yours  ↓</a:t>
            </a:r>
          </a:p>
        </p:txBody>
      </p:sp>
      <p:sp>
        <p:nvSpPr>
          <p:cNvPr id="24" name="TextBox 23"/>
          <p:cNvSpPr txBox="1"/>
          <p:nvPr/>
        </p:nvSpPr>
        <p:spPr>
          <a:xfrm>
            <a:off x="822960" y="5623560"/>
            <a:ext cx="10515600" cy="64008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2E8F0"/>
                </a:solidFill>
                <a:latin typeface="Arial"/>
              </a:rPr>
              <a:t>Your own code is </a:t>
            </a:r>
            <a:r>
              <a:rPr sz="1900" b="1" i="0">
                <a:solidFill>
                  <a:srgbClr val="F59E0B"/>
                </a:solidFill>
                <a:latin typeface="Arial"/>
              </a:rPr>
              <a:t>1.2%</a:t>
            </a:r>
            <a:r>
              <a:rPr sz="1500" b="0" i="0">
                <a:solidFill>
                  <a:srgbClr val="E2E8F0"/>
                </a:solidFill>
                <a:latin typeface="Arial"/>
              </a:rPr>
              <a:t> of what runs — and it's where “done” is defined.</a:t>
            </a:r>
          </a:p>
        </p:txBody>
      </p:sp>
      <p:sp>
        <p:nvSpPr>
          <p:cNvPr id="25" name="TextBox 24"/>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6" name="TextBox 25"/>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DOES IT ACTUALLY MOVE WORK?</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3 days on a real Go + Rust monorepo</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881360" cy="365760"/>
          </a:xfrm>
          <a:prstGeom prst="rect">
            <a:avLst/>
          </a:prstGeom>
          <a:noFill/>
        </p:spPr>
        <p:txBody>
          <a:bodyPr wrap="square" anchor="t" lIns="0" rIns="0" tIns="0" bIns="0">
            <a:spAutoFit/>
          </a:bodyPr>
          <a:lstStyle/>
          <a:p>
            <a:pPr algn="l">
              <a:lnSpc>
                <a:spcPct val="110000"/>
              </a:lnSpc>
              <a:spcBef>
                <a:spcPts val="0"/>
              </a:spcBef>
              <a:spcAft>
                <a:spcPts val="0"/>
              </a:spcAft>
            </a:pPr>
            <a:r>
              <a:rPr sz="1400" b="0" i="0">
                <a:solidFill>
                  <a:srgbClr val="E2E8F0"/>
                </a:solidFill>
                <a:latin typeface="Arial"/>
              </a:rPr>
              <a:t>Every </a:t>
            </a:r>
            <a:r>
              <a:rPr sz="1300" b="0" i="0">
                <a:solidFill>
                  <a:srgbClr val="F59E0B"/>
                </a:solidFill>
                <a:latin typeface="Consolas"/>
              </a:rPr>
              <a:t>agent/&lt;task&gt;</a:t>
            </a:r>
            <a:r>
              <a:rPr sz="1400" b="0" i="0">
                <a:solidFill>
                  <a:srgbClr val="E2E8F0"/>
                </a:solidFill>
                <a:latin typeface="Arial"/>
              </a:rPr>
              <a:t> merge on </a:t>
            </a:r>
            <a:r>
              <a:rPr sz="1300" b="0" i="0">
                <a:solidFill>
                  <a:srgbClr val="38BDF8"/>
                </a:solidFill>
                <a:latin typeface="Consolas"/>
              </a:rPr>
              <a:t>develop</a:t>
            </a:r>
            <a:r>
              <a:rPr sz="1400" b="0" i="0">
                <a:solidFill>
                  <a:srgbClr val="E2E8F0"/>
                </a:solidFill>
                <a:latin typeface="Arial"/>
              </a:rPr>
              <a:t> landed in one 3-day burst — </a:t>
            </a:r>
            <a:r>
              <a:rPr sz="1400" b="1" i="0">
                <a:solidFill>
                  <a:srgbClr val="F8FAFC"/>
                </a:solidFill>
                <a:latin typeface="Arial"/>
              </a:rPr>
              <a:t>starting the day sandcastle-tdd was first committed.</a:t>
            </a:r>
          </a:p>
        </p:txBody>
      </p:sp>
      <p:sp>
        <p:nvSpPr>
          <p:cNvPr id="7" name="TextBox 6"/>
          <p:cNvSpPr txBox="1"/>
          <p:nvPr/>
        </p:nvSpPr>
        <p:spPr>
          <a:xfrm>
            <a:off x="640080" y="2011680"/>
            <a:ext cx="5486400" cy="219456"/>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94A3B8"/>
                </a:solidFill>
                <a:latin typeface="Arial"/>
              </a:rPr>
              <a:t>NOT A TOY TARGET — ONE MONOREPO, FOUR PARTS</a:t>
            </a:r>
          </a:p>
        </p:txBody>
      </p:sp>
      <p:sp>
        <p:nvSpPr>
          <p:cNvPr id="8" name="Rounded Rectangle 7"/>
          <p:cNvSpPr/>
          <p:nvPr/>
        </p:nvSpPr>
        <p:spPr>
          <a:xfrm>
            <a:off x="640080" y="2249424"/>
            <a:ext cx="1947672" cy="512064"/>
          </a:xfrm>
          <a:prstGeom prst="roundRect">
            <a:avLst>
              <a:gd name="adj" fmla="val 11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249424"/>
            <a:ext cx="1947672" cy="6400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31720"/>
            <a:ext cx="1947672" cy="237744"/>
          </a:xfrm>
          <a:prstGeom prst="rect">
            <a:avLst/>
          </a:prstGeom>
          <a:noFill/>
        </p:spPr>
        <p:txBody>
          <a:bodyPr wrap="square" anchor="t" lIns="0" rIns="0" tIns="0" bIns="0">
            <a:spAutoFit/>
          </a:bodyPr>
          <a:lstStyle/>
          <a:p>
            <a:pPr algn="ctr">
              <a:lnSpc>
                <a:spcPct val="105000"/>
              </a:lnSpc>
              <a:spcBef>
                <a:spcPts val="0"/>
              </a:spcBef>
              <a:spcAft>
                <a:spcPts val="0"/>
              </a:spcAft>
            </a:pPr>
            <a:r>
              <a:rPr sz="1200" b="1" i="0">
                <a:solidFill>
                  <a:srgbClr val="F8FAFC"/>
                </a:solidFill>
                <a:latin typeface="Arial"/>
              </a:rPr>
              <a:t>Forgejo fork</a:t>
            </a:r>
          </a:p>
        </p:txBody>
      </p:sp>
      <p:sp>
        <p:nvSpPr>
          <p:cNvPr id="11" name="TextBox 10"/>
          <p:cNvSpPr txBox="1"/>
          <p:nvPr/>
        </p:nvSpPr>
        <p:spPr>
          <a:xfrm>
            <a:off x="640080" y="2551176"/>
            <a:ext cx="1947672" cy="182880"/>
          </a:xfrm>
          <a:prstGeom prst="rect">
            <a:avLst/>
          </a:prstGeom>
          <a:noFill/>
        </p:spPr>
        <p:txBody>
          <a:bodyPr wrap="square" anchor="t" lIns="0" rIns="0" tIns="0" bIns="0">
            <a:spAutoFit/>
          </a:bodyPr>
          <a:lstStyle/>
          <a:p>
            <a:pPr algn="ctr">
              <a:lnSpc>
                <a:spcPct val="105000"/>
              </a:lnSpc>
              <a:spcBef>
                <a:spcPts val="0"/>
              </a:spcBef>
              <a:spcAft>
                <a:spcPts val="0"/>
              </a:spcAft>
            </a:pPr>
            <a:r>
              <a:rPr sz="900" b="0" i="0">
                <a:solidFill>
                  <a:srgbClr val="94A3B8"/>
                </a:solidFill>
                <a:latin typeface="Arial"/>
              </a:rPr>
              <a:t>Go · web forge</a:t>
            </a:r>
          </a:p>
        </p:txBody>
      </p:sp>
      <p:sp>
        <p:nvSpPr>
          <p:cNvPr id="12" name="Rounded Rectangle 11"/>
          <p:cNvSpPr/>
          <p:nvPr/>
        </p:nvSpPr>
        <p:spPr>
          <a:xfrm>
            <a:off x="2697480" y="2249424"/>
            <a:ext cx="1947672" cy="512064"/>
          </a:xfrm>
          <a:prstGeom prst="roundRect">
            <a:avLst>
              <a:gd name="adj" fmla="val 11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97480" y="2249424"/>
            <a:ext cx="1947672"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2331720"/>
            <a:ext cx="1947672" cy="237744"/>
          </a:xfrm>
          <a:prstGeom prst="rect">
            <a:avLst/>
          </a:prstGeom>
          <a:noFill/>
        </p:spPr>
        <p:txBody>
          <a:bodyPr wrap="square" anchor="t" lIns="0" rIns="0" tIns="0" bIns="0">
            <a:spAutoFit/>
          </a:bodyPr>
          <a:lstStyle/>
          <a:p>
            <a:pPr algn="ctr">
              <a:lnSpc>
                <a:spcPct val="105000"/>
              </a:lnSpc>
              <a:spcBef>
                <a:spcPts val="0"/>
              </a:spcBef>
              <a:spcAft>
                <a:spcPts val="0"/>
              </a:spcAft>
            </a:pPr>
            <a:r>
              <a:rPr sz="1200" b="1" i="0">
                <a:solidFill>
                  <a:srgbClr val="F8FAFC"/>
                </a:solidFill>
                <a:latin typeface="Arial"/>
              </a:rPr>
              <a:t>jj fork</a:t>
            </a:r>
          </a:p>
        </p:txBody>
      </p:sp>
      <p:sp>
        <p:nvSpPr>
          <p:cNvPr id="15" name="TextBox 14"/>
          <p:cNvSpPr txBox="1"/>
          <p:nvPr/>
        </p:nvSpPr>
        <p:spPr>
          <a:xfrm>
            <a:off x="2697480" y="2551176"/>
            <a:ext cx="1947672" cy="182880"/>
          </a:xfrm>
          <a:prstGeom prst="rect">
            <a:avLst/>
          </a:prstGeom>
          <a:noFill/>
        </p:spPr>
        <p:txBody>
          <a:bodyPr wrap="square" anchor="t" lIns="0" rIns="0" tIns="0" bIns="0">
            <a:spAutoFit/>
          </a:bodyPr>
          <a:lstStyle/>
          <a:p>
            <a:pPr algn="ctr">
              <a:lnSpc>
                <a:spcPct val="105000"/>
              </a:lnSpc>
              <a:spcBef>
                <a:spcPts val="0"/>
              </a:spcBef>
              <a:spcAft>
                <a:spcPts val="0"/>
              </a:spcAft>
            </a:pPr>
            <a:r>
              <a:rPr sz="900" b="0" i="0">
                <a:solidFill>
                  <a:srgbClr val="94A3B8"/>
                </a:solidFill>
                <a:latin typeface="Arial"/>
              </a:rPr>
              <a:t>Rust · the VCS</a:t>
            </a:r>
          </a:p>
        </p:txBody>
      </p:sp>
      <p:sp>
        <p:nvSpPr>
          <p:cNvPr id="16" name="Rounded Rectangle 15"/>
          <p:cNvSpPr/>
          <p:nvPr/>
        </p:nvSpPr>
        <p:spPr>
          <a:xfrm>
            <a:off x="4754880" y="2249424"/>
            <a:ext cx="1947672" cy="512064"/>
          </a:xfrm>
          <a:prstGeom prst="roundRect">
            <a:avLst>
              <a:gd name="adj" fmla="val 11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2249424"/>
            <a:ext cx="1947672"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331720"/>
            <a:ext cx="1947672" cy="237744"/>
          </a:xfrm>
          <a:prstGeom prst="rect">
            <a:avLst/>
          </a:prstGeom>
          <a:noFill/>
        </p:spPr>
        <p:txBody>
          <a:bodyPr wrap="square" anchor="t" lIns="0" rIns="0" tIns="0" bIns="0">
            <a:spAutoFit/>
          </a:bodyPr>
          <a:lstStyle/>
          <a:p>
            <a:pPr algn="ctr">
              <a:lnSpc>
                <a:spcPct val="105000"/>
              </a:lnSpc>
              <a:spcBef>
                <a:spcPts val="0"/>
              </a:spcBef>
              <a:spcAft>
                <a:spcPts val="0"/>
              </a:spcAft>
            </a:pPr>
            <a:r>
              <a:rPr sz="1200" b="1" i="0">
                <a:solidFill>
                  <a:srgbClr val="F8FAFC"/>
                </a:solidFill>
                <a:latin typeface="Arial"/>
              </a:rPr>
              <a:t>Sidecar</a:t>
            </a:r>
          </a:p>
        </p:txBody>
      </p:sp>
      <p:sp>
        <p:nvSpPr>
          <p:cNvPr id="19" name="TextBox 18"/>
          <p:cNvSpPr txBox="1"/>
          <p:nvPr/>
        </p:nvSpPr>
        <p:spPr>
          <a:xfrm>
            <a:off x="4754880" y="2551176"/>
            <a:ext cx="1947672" cy="182880"/>
          </a:xfrm>
          <a:prstGeom prst="rect">
            <a:avLst/>
          </a:prstGeom>
          <a:noFill/>
        </p:spPr>
        <p:txBody>
          <a:bodyPr wrap="square" anchor="t" lIns="0" rIns="0" tIns="0" bIns="0">
            <a:spAutoFit/>
          </a:bodyPr>
          <a:lstStyle/>
          <a:p>
            <a:pPr algn="ctr">
              <a:lnSpc>
                <a:spcPct val="105000"/>
              </a:lnSpc>
              <a:spcBef>
                <a:spcPts val="0"/>
              </a:spcBef>
              <a:spcAft>
                <a:spcPts val="0"/>
              </a:spcAft>
            </a:pPr>
            <a:r>
              <a:rPr sz="900" b="0" i="0">
                <a:solidFill>
                  <a:srgbClr val="94A3B8"/>
                </a:solidFill>
                <a:latin typeface="Arial"/>
              </a:rPr>
              <a:t>Rust · sync + blobs</a:t>
            </a:r>
          </a:p>
        </p:txBody>
      </p:sp>
      <p:sp>
        <p:nvSpPr>
          <p:cNvPr id="20" name="Rounded Rectangle 19"/>
          <p:cNvSpPr/>
          <p:nvPr/>
        </p:nvSpPr>
        <p:spPr>
          <a:xfrm>
            <a:off x="6812280" y="2249424"/>
            <a:ext cx="1947672" cy="512064"/>
          </a:xfrm>
          <a:prstGeom prst="roundRect">
            <a:avLst>
              <a:gd name="adj" fmla="val 11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2249424"/>
            <a:ext cx="1947672" cy="6400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2331720"/>
            <a:ext cx="1947672" cy="237744"/>
          </a:xfrm>
          <a:prstGeom prst="rect">
            <a:avLst/>
          </a:prstGeom>
          <a:noFill/>
        </p:spPr>
        <p:txBody>
          <a:bodyPr wrap="square" anchor="t" lIns="0" rIns="0" tIns="0" bIns="0">
            <a:spAutoFit/>
          </a:bodyPr>
          <a:lstStyle/>
          <a:p>
            <a:pPr algn="ctr">
              <a:lnSpc>
                <a:spcPct val="105000"/>
              </a:lnSpc>
              <a:spcBef>
                <a:spcPts val="0"/>
              </a:spcBef>
              <a:spcAft>
                <a:spcPts val="0"/>
              </a:spcAft>
            </a:pPr>
            <a:r>
              <a:rPr sz="1200" b="1" i="0">
                <a:solidFill>
                  <a:srgbClr val="F8FAFC"/>
                </a:solidFill>
                <a:latin typeface="Arial"/>
              </a:rPr>
              <a:t>jjf CLI</a:t>
            </a:r>
          </a:p>
        </p:txBody>
      </p:sp>
      <p:sp>
        <p:nvSpPr>
          <p:cNvPr id="23" name="TextBox 22"/>
          <p:cNvSpPr txBox="1"/>
          <p:nvPr/>
        </p:nvSpPr>
        <p:spPr>
          <a:xfrm>
            <a:off x="6812280" y="2551176"/>
            <a:ext cx="1947672" cy="182880"/>
          </a:xfrm>
          <a:prstGeom prst="rect">
            <a:avLst/>
          </a:prstGeom>
          <a:noFill/>
        </p:spPr>
        <p:txBody>
          <a:bodyPr wrap="square" anchor="t" lIns="0" rIns="0" tIns="0" bIns="0">
            <a:spAutoFit/>
          </a:bodyPr>
          <a:lstStyle/>
          <a:p>
            <a:pPr algn="ctr">
              <a:lnSpc>
                <a:spcPct val="105000"/>
              </a:lnSpc>
              <a:spcBef>
                <a:spcPts val="0"/>
              </a:spcBef>
              <a:spcAft>
                <a:spcPts val="0"/>
              </a:spcAft>
            </a:pPr>
            <a:r>
              <a:rPr sz="900" b="0" i="0">
                <a:solidFill>
                  <a:srgbClr val="94A3B8"/>
                </a:solidFill>
                <a:latin typeface="Arial"/>
              </a:rPr>
              <a:t>the platform client</a:t>
            </a:r>
          </a:p>
        </p:txBody>
      </p:sp>
      <p:sp>
        <p:nvSpPr>
          <p:cNvPr id="24" name="Rounded Rectangle 23"/>
          <p:cNvSpPr/>
          <p:nvPr/>
        </p:nvSpPr>
        <p:spPr>
          <a:xfrm>
            <a:off x="8887968" y="2249424"/>
            <a:ext cx="2633472" cy="512064"/>
          </a:xfrm>
          <a:prstGeom prst="roundRect">
            <a:avLst>
              <a:gd name="adj" fmla="val 11000"/>
            </a:avLst>
          </a:prstGeom>
          <a:solidFill>
            <a:srgbClr val="162133"/>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2249424"/>
            <a:ext cx="2331720" cy="512064"/>
          </a:xfrm>
          <a:prstGeom prst="rect">
            <a:avLst/>
          </a:prstGeom>
          <a:noFill/>
        </p:spPr>
        <p:txBody>
          <a:bodyPr wrap="square" anchor="ctr" lIns="0" rIns="0" tIns="0" bIns="0">
            <a:spAutoFit/>
          </a:bodyPr>
          <a:lstStyle/>
          <a:p>
            <a:pPr algn="l">
              <a:lnSpc>
                <a:spcPct val="102000"/>
              </a:lnSpc>
              <a:spcBef>
                <a:spcPts val="0"/>
              </a:spcBef>
              <a:spcAft>
                <a:spcPts val="0"/>
              </a:spcAft>
            </a:pPr>
            <a:r>
              <a:rPr sz="1000" b="0" i="0">
                <a:solidFill>
                  <a:srgbClr val="E2E8F0"/>
                </a:solidFill>
                <a:latin typeface="Arial"/>
              </a:rPr>
              <a:t>⚠  a VCS whose whole job is</a:t>
            </a:r>
          </a:p>
          <a:p>
            <a:pPr algn="l">
              <a:lnSpc>
                <a:spcPct val="102000"/>
              </a:lnSpc>
              <a:spcBef>
                <a:spcPts val="0"/>
              </a:spcBef>
              <a:spcAft>
                <a:spcPts val="0"/>
              </a:spcAft>
            </a:pPr>
            <a:r>
              <a:rPr sz="1100" b="1" i="0">
                <a:solidFill>
                  <a:srgbClr val="F87171"/>
                </a:solidFill>
                <a:latin typeface="Arial"/>
              </a:rPr>
              <a:t>to never lose your work</a:t>
            </a:r>
          </a:p>
        </p:txBody>
      </p:sp>
      <p:sp>
        <p:nvSpPr>
          <p:cNvPr id="26" name="Rounded Rectangle 25"/>
          <p:cNvSpPr/>
          <p:nvPr/>
        </p:nvSpPr>
        <p:spPr>
          <a:xfrm>
            <a:off x="640080" y="2852928"/>
            <a:ext cx="2606040" cy="1572768"/>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2852928"/>
            <a:ext cx="260604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035808"/>
            <a:ext cx="2606040" cy="777240"/>
          </a:xfrm>
          <a:prstGeom prst="rect">
            <a:avLst/>
          </a:prstGeom>
          <a:noFill/>
        </p:spPr>
        <p:txBody>
          <a:bodyPr wrap="square" anchor="t" lIns="0" rIns="0" tIns="0" bIns="0">
            <a:spAutoFit/>
          </a:bodyPr>
          <a:lstStyle/>
          <a:p>
            <a:pPr algn="ctr">
              <a:lnSpc>
                <a:spcPct val="105000"/>
              </a:lnSpc>
              <a:spcBef>
                <a:spcPts val="0"/>
              </a:spcBef>
              <a:spcAft>
                <a:spcPts val="0"/>
              </a:spcAft>
            </a:pPr>
            <a:r>
              <a:rPr sz="3800" b="1" i="0">
                <a:solidFill>
                  <a:srgbClr val="F59E0B"/>
                </a:solidFill>
                <a:latin typeface="Arial"/>
              </a:rPr>
              <a:t>69</a:t>
            </a:r>
          </a:p>
        </p:txBody>
      </p:sp>
      <p:sp>
        <p:nvSpPr>
          <p:cNvPr id="29" name="TextBox 28"/>
          <p:cNvSpPr txBox="1"/>
          <p:nvPr/>
        </p:nvSpPr>
        <p:spPr>
          <a:xfrm>
            <a:off x="640080" y="3840480"/>
            <a:ext cx="2606040" cy="548640"/>
          </a:xfrm>
          <a:prstGeom prst="rect">
            <a:avLst/>
          </a:prstGeom>
          <a:noFill/>
        </p:spPr>
        <p:txBody>
          <a:bodyPr wrap="square" anchor="t" lIns="0" rIns="0" tIns="0" bIns="0">
            <a:spAutoFit/>
          </a:bodyPr>
          <a:lstStyle/>
          <a:p>
            <a:pPr algn="ctr">
              <a:lnSpc>
                <a:spcPct val="105000"/>
              </a:lnSpc>
              <a:spcBef>
                <a:spcPts val="0"/>
              </a:spcBef>
              <a:spcAft>
                <a:spcPts val="0"/>
              </a:spcAft>
            </a:pPr>
            <a:r>
              <a:rPr sz="1200" b="0" i="0">
                <a:solidFill>
                  <a:srgbClr val="94A3B8"/>
                </a:solidFill>
                <a:latin typeface="Arial"/>
              </a:rPr>
              <a:t>tasks merged Aug 16–18</a:t>
            </a:r>
          </a:p>
        </p:txBody>
      </p:sp>
      <p:sp>
        <p:nvSpPr>
          <p:cNvPr id="30" name="Rounded Rectangle 29"/>
          <p:cNvSpPr/>
          <p:nvPr/>
        </p:nvSpPr>
        <p:spPr>
          <a:xfrm>
            <a:off x="3410711" y="2852928"/>
            <a:ext cx="2606040" cy="1572768"/>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10711" y="2852928"/>
            <a:ext cx="2606040" cy="1097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10711" y="3035808"/>
            <a:ext cx="2606040" cy="777240"/>
          </a:xfrm>
          <a:prstGeom prst="rect">
            <a:avLst/>
          </a:prstGeom>
          <a:noFill/>
        </p:spPr>
        <p:txBody>
          <a:bodyPr wrap="square" anchor="t" lIns="0" rIns="0" tIns="0" bIns="0">
            <a:spAutoFit/>
          </a:bodyPr>
          <a:lstStyle/>
          <a:p>
            <a:pPr algn="ctr">
              <a:lnSpc>
                <a:spcPct val="105000"/>
              </a:lnSpc>
              <a:spcBef>
                <a:spcPts val="0"/>
              </a:spcBef>
              <a:spcAft>
                <a:spcPts val="0"/>
              </a:spcAft>
            </a:pPr>
            <a:r>
              <a:rPr sz="3800" b="1" i="0">
                <a:solidFill>
                  <a:srgbClr val="38BDF8"/>
                </a:solidFill>
                <a:latin typeface="Arial"/>
              </a:rPr>
              <a:t>184</a:t>
            </a:r>
          </a:p>
        </p:txBody>
      </p:sp>
      <p:sp>
        <p:nvSpPr>
          <p:cNvPr id="33" name="TextBox 32"/>
          <p:cNvSpPr txBox="1"/>
          <p:nvPr/>
        </p:nvSpPr>
        <p:spPr>
          <a:xfrm>
            <a:off x="3410711" y="3840480"/>
            <a:ext cx="2606040" cy="548640"/>
          </a:xfrm>
          <a:prstGeom prst="rect">
            <a:avLst/>
          </a:prstGeom>
          <a:noFill/>
        </p:spPr>
        <p:txBody>
          <a:bodyPr wrap="square" anchor="t" lIns="0" rIns="0" tIns="0" bIns="0">
            <a:spAutoFit/>
          </a:bodyPr>
          <a:lstStyle/>
          <a:p>
            <a:pPr algn="ctr">
              <a:lnSpc>
                <a:spcPct val="105000"/>
              </a:lnSpc>
              <a:spcBef>
                <a:spcPts val="0"/>
              </a:spcBef>
              <a:spcAft>
                <a:spcPts val="0"/>
              </a:spcAft>
            </a:pPr>
            <a:r>
              <a:rPr sz="1200" b="0" i="0">
                <a:solidFill>
                  <a:srgbClr val="94A3B8"/>
                </a:solidFill>
                <a:latin typeface="Arial"/>
              </a:rPr>
              <a:t>commits authored by the agent</a:t>
            </a:r>
          </a:p>
        </p:txBody>
      </p:sp>
      <p:sp>
        <p:nvSpPr>
          <p:cNvPr id="34" name="Rounded Rectangle 33"/>
          <p:cNvSpPr/>
          <p:nvPr/>
        </p:nvSpPr>
        <p:spPr>
          <a:xfrm>
            <a:off x="6181344" y="2852928"/>
            <a:ext cx="2606040" cy="1572768"/>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81344" y="2852928"/>
            <a:ext cx="2606040" cy="10972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81344" y="3035808"/>
            <a:ext cx="2606040" cy="777240"/>
          </a:xfrm>
          <a:prstGeom prst="rect">
            <a:avLst/>
          </a:prstGeom>
          <a:noFill/>
        </p:spPr>
        <p:txBody>
          <a:bodyPr wrap="square" anchor="t" lIns="0" rIns="0" tIns="0" bIns="0">
            <a:spAutoFit/>
          </a:bodyPr>
          <a:lstStyle/>
          <a:p>
            <a:pPr algn="ctr">
              <a:lnSpc>
                <a:spcPct val="105000"/>
              </a:lnSpc>
              <a:spcBef>
                <a:spcPts val="0"/>
              </a:spcBef>
              <a:spcAft>
                <a:spcPts val="0"/>
              </a:spcAft>
            </a:pPr>
            <a:r>
              <a:rPr sz="3800" b="1" i="0">
                <a:solidFill>
                  <a:srgbClr val="34D399"/>
                </a:solidFill>
                <a:latin typeface="Arial"/>
              </a:rPr>
              <a:t>43</a:t>
            </a:r>
          </a:p>
        </p:txBody>
      </p:sp>
      <p:sp>
        <p:nvSpPr>
          <p:cNvPr id="37" name="TextBox 36"/>
          <p:cNvSpPr txBox="1"/>
          <p:nvPr/>
        </p:nvSpPr>
        <p:spPr>
          <a:xfrm>
            <a:off x="6181344" y="3840480"/>
            <a:ext cx="2606040" cy="548640"/>
          </a:xfrm>
          <a:prstGeom prst="rect">
            <a:avLst/>
          </a:prstGeom>
          <a:noFill/>
        </p:spPr>
        <p:txBody>
          <a:bodyPr wrap="square" anchor="t" lIns="0" rIns="0" tIns="0" bIns="0">
            <a:spAutoFit/>
          </a:bodyPr>
          <a:lstStyle/>
          <a:p>
            <a:pPr algn="ctr">
              <a:lnSpc>
                <a:spcPct val="105000"/>
              </a:lnSpc>
              <a:spcBef>
                <a:spcPts val="0"/>
              </a:spcBef>
              <a:spcAft>
                <a:spcPts val="0"/>
              </a:spcAft>
            </a:pPr>
            <a:r>
              <a:rPr sz="1200" b="0" i="0">
                <a:solidFill>
                  <a:srgbClr val="94A3B8"/>
                </a:solidFill>
                <a:latin typeface="Arial"/>
              </a:rPr>
              <a:t>tasks merged in the peak day</a:t>
            </a:r>
          </a:p>
        </p:txBody>
      </p:sp>
      <p:sp>
        <p:nvSpPr>
          <p:cNvPr id="38" name="Rounded Rectangle 37"/>
          <p:cNvSpPr/>
          <p:nvPr/>
        </p:nvSpPr>
        <p:spPr>
          <a:xfrm>
            <a:off x="8951976" y="2852928"/>
            <a:ext cx="2606040" cy="1572768"/>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51976" y="2852928"/>
            <a:ext cx="2606040" cy="10972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51976" y="3035808"/>
            <a:ext cx="2606040" cy="777240"/>
          </a:xfrm>
          <a:prstGeom prst="rect">
            <a:avLst/>
          </a:prstGeom>
          <a:noFill/>
        </p:spPr>
        <p:txBody>
          <a:bodyPr wrap="square" anchor="t" lIns="0" rIns="0" tIns="0" bIns="0">
            <a:spAutoFit/>
          </a:bodyPr>
          <a:lstStyle/>
          <a:p>
            <a:pPr algn="ctr">
              <a:lnSpc>
                <a:spcPct val="105000"/>
              </a:lnSpc>
              <a:spcBef>
                <a:spcPts val="0"/>
              </a:spcBef>
              <a:spcAft>
                <a:spcPts val="0"/>
              </a:spcAft>
            </a:pPr>
            <a:r>
              <a:rPr sz="3800" b="1" i="0">
                <a:solidFill>
                  <a:srgbClr val="C084FC"/>
                </a:solidFill>
                <a:latin typeface="Arial"/>
              </a:rPr>
              <a:t>day 0</a:t>
            </a:r>
          </a:p>
        </p:txBody>
      </p:sp>
      <p:sp>
        <p:nvSpPr>
          <p:cNvPr id="41" name="TextBox 40"/>
          <p:cNvSpPr txBox="1"/>
          <p:nvPr/>
        </p:nvSpPr>
        <p:spPr>
          <a:xfrm>
            <a:off x="8951976" y="3840480"/>
            <a:ext cx="2606040" cy="548640"/>
          </a:xfrm>
          <a:prstGeom prst="rect">
            <a:avLst/>
          </a:prstGeom>
          <a:noFill/>
        </p:spPr>
        <p:txBody>
          <a:bodyPr wrap="square" anchor="t" lIns="0" rIns="0" tIns="0" bIns="0">
            <a:spAutoFit/>
          </a:bodyPr>
          <a:lstStyle/>
          <a:p>
            <a:pPr algn="ctr">
              <a:lnSpc>
                <a:spcPct val="105000"/>
              </a:lnSpc>
              <a:spcBef>
                <a:spcPts val="0"/>
              </a:spcBef>
              <a:spcAft>
                <a:spcPts val="0"/>
              </a:spcAft>
            </a:pPr>
            <a:r>
              <a:rPr sz="1200" b="0" i="0">
                <a:solidFill>
                  <a:srgbClr val="94A3B8"/>
                </a:solidFill>
                <a:latin typeface="Arial"/>
              </a:rPr>
              <a:t>shipping the day the tool was born</a:t>
            </a:r>
          </a:p>
        </p:txBody>
      </p:sp>
      <p:sp>
        <p:nvSpPr>
          <p:cNvPr id="42" name="Rounded Rectangle 41"/>
          <p:cNvSpPr/>
          <p:nvPr/>
        </p:nvSpPr>
        <p:spPr>
          <a:xfrm>
            <a:off x="640080" y="4526280"/>
            <a:ext cx="5394960" cy="14630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526280"/>
            <a:ext cx="109728" cy="146304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4681728"/>
            <a:ext cx="4846320" cy="1188720"/>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F87171"/>
                </a:solidFill>
                <a:latin typeface="Arial"/>
              </a:rPr>
              <a:t>BEFORE</a:t>
            </a:r>
          </a:p>
          <a:p>
            <a:pPr algn="l">
              <a:lnSpc>
                <a:spcPct val="115000"/>
              </a:lnSpc>
              <a:spcBef>
                <a:spcPts val="0"/>
              </a:spcBef>
              <a:spcAft>
                <a:spcPts val="400"/>
              </a:spcAft>
            </a:pPr>
            <a:r>
              <a:rPr sz="1250" b="0" i="0">
                <a:solidFill>
                  <a:srgbClr val="E2E8F0"/>
                </a:solidFill>
                <a:latin typeface="Arial"/>
              </a:rPr>
              <a:t>One task at a time, by hand. Each agent run babysat: is it really green? did it just guess?</a:t>
            </a:r>
          </a:p>
        </p:txBody>
      </p:sp>
      <p:sp>
        <p:nvSpPr>
          <p:cNvPr id="45" name="Rounded Rectangle 44"/>
          <p:cNvSpPr/>
          <p:nvPr/>
        </p:nvSpPr>
        <p:spPr>
          <a:xfrm>
            <a:off x="6126480" y="4526280"/>
            <a:ext cx="5394960" cy="14630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26480" y="4526280"/>
            <a:ext cx="109728" cy="14630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681728"/>
            <a:ext cx="4846320" cy="1188720"/>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34D399"/>
                </a:solidFill>
                <a:latin typeface="Arial"/>
              </a:rPr>
              <a:t>AFTER</a:t>
            </a:r>
          </a:p>
          <a:p>
            <a:pPr algn="l">
              <a:lnSpc>
                <a:spcPct val="115000"/>
              </a:lnSpc>
              <a:spcBef>
                <a:spcPts val="0"/>
              </a:spcBef>
              <a:spcAft>
                <a:spcPts val="400"/>
              </a:spcAft>
            </a:pPr>
            <a:r>
              <a:rPr sz="1250" b="0" i="0">
                <a:solidFill>
                  <a:srgbClr val="E2E8F0"/>
                </a:solidFill>
                <a:latin typeface="Arial"/>
              </a:rPr>
              <a:t>A backlog drained in parallel — ~23 tasks/day merged, gated on real tests, questions routed to your phone.</a:t>
            </a:r>
          </a:p>
        </p:txBody>
      </p:sp>
      <p:sp>
        <p:nvSpPr>
          <p:cNvPr id="48" name="TextBox 47"/>
          <p:cNvSpPr txBox="1"/>
          <p:nvPr/>
        </p:nvSpPr>
        <p:spPr>
          <a:xfrm>
            <a:off x="640080" y="6089904"/>
            <a:ext cx="10881360" cy="274320"/>
          </a:xfrm>
          <a:prstGeom prst="rect">
            <a:avLst/>
          </a:prstGeom>
          <a:noFill/>
        </p:spPr>
        <p:txBody>
          <a:bodyPr wrap="square" anchor="t" lIns="0" rIns="0" tIns="0" bIns="0">
            <a:spAutoFit/>
          </a:bodyPr>
          <a:lstStyle/>
          <a:p>
            <a:pPr algn="l">
              <a:lnSpc>
                <a:spcPct val="105000"/>
              </a:lnSpc>
              <a:spcBef>
                <a:spcPts val="0"/>
              </a:spcBef>
              <a:spcAft>
                <a:spcPts val="0"/>
              </a:spcAft>
            </a:pPr>
            <a:r>
              <a:rPr sz="1050" b="0" i="1">
                <a:solidFill>
                  <a:srgbClr val="94A3B8"/>
                </a:solidFill>
                <a:latin typeface="Arial"/>
              </a:rPr>
              <a:t>(counts from git history on jjforge's develop; the tool was extracted from this exact project.)</a:t>
            </a:r>
          </a:p>
        </p:txBody>
      </p:sp>
      <p:sp>
        <p:nvSpPr>
          <p:cNvPr id="49" name="TextBox 48"/>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50" name="TextBox 49"/>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HOW THE TOOL STAYS SHARP</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Iteration tricks worth stealing</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6112" y="2167127"/>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3911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Cheapest failure first</a:t>
            </a:r>
          </a:p>
          <a:p>
            <a:pPr algn="l">
              <a:lnSpc>
                <a:spcPct val="108000"/>
              </a:lnSpc>
              <a:spcBef>
                <a:spcPts val="0"/>
              </a:spcBef>
              <a:spcAft>
                <a:spcPts val="300"/>
              </a:spcAft>
            </a:pPr>
            <a:r>
              <a:rPr sz="1150" b="0" i="0">
                <a:solidFill>
                  <a:srgbClr val="94A3B8"/>
                </a:solidFill>
                <a:latin typeface="Arial"/>
              </a:rPr>
              <a:t>baseline runs the toolchain probe + every gate with no agent. A failing baseline costs nothing; a passing one means any later red is the agent's doing.</a:t>
            </a:r>
          </a:p>
        </p:txBody>
      </p:sp>
      <p:sp>
        <p:nvSpPr>
          <p:cNvPr id="9" name="Rounded Rectangle 8"/>
          <p:cNvSpPr/>
          <p:nvPr/>
        </p:nvSpPr>
        <p:spPr>
          <a:xfrm>
            <a:off x="6172200" y="1874519"/>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28232" y="2167127"/>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03911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Contract checks in ~1s</a:t>
            </a:r>
          </a:p>
          <a:p>
            <a:pPr algn="l">
              <a:lnSpc>
                <a:spcPct val="108000"/>
              </a:lnSpc>
              <a:spcBef>
                <a:spcPts val="0"/>
              </a:spcBef>
              <a:spcAft>
                <a:spcPts val="300"/>
              </a:spcAft>
            </a:pPr>
            <a:r>
              <a:rPr sz="1150" b="0" i="0">
                <a:solidFill>
                  <a:srgbClr val="94A3B8"/>
                </a:solidFill>
                <a:latin typeface="Arial"/>
              </a:rPr>
              <a:t>check-contract probes the upstream library's runtime behaviour (no Docker) — catches a renamed export that tsc alone would miss.</a:t>
            </a:r>
          </a:p>
        </p:txBody>
      </p:sp>
      <p:sp>
        <p:nvSpPr>
          <p:cNvPr id="12" name="Rounded Rectangle 11"/>
          <p:cNvSpPr/>
          <p:nvPr/>
        </p:nvSpPr>
        <p:spPr>
          <a:xfrm>
            <a:off x="640080" y="333756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6112" y="3630168"/>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50215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Warm caches, measured</a:t>
            </a:r>
          </a:p>
          <a:p>
            <a:pPr algn="l">
              <a:lnSpc>
                <a:spcPct val="108000"/>
              </a:lnSpc>
              <a:spcBef>
                <a:spcPts val="0"/>
              </a:spcBef>
              <a:spcAft>
                <a:spcPts val="300"/>
              </a:spcAft>
            </a:pPr>
            <a:r>
              <a:rPr sz="1150" b="0" i="0">
                <a:solidFill>
                  <a:srgbClr val="94A3B8"/>
                </a:solidFill>
                <a:latin typeface="Arial"/>
              </a:rPr>
              <a:t>Shared package caches took a cold gate from 2571s → 330s. Share caches; never share build outputs.</a:t>
            </a:r>
          </a:p>
        </p:txBody>
      </p:sp>
      <p:sp>
        <p:nvSpPr>
          <p:cNvPr id="15" name="Rounded Rectangle 14"/>
          <p:cNvSpPr/>
          <p:nvPr/>
        </p:nvSpPr>
        <p:spPr>
          <a:xfrm>
            <a:off x="6172200" y="333756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28232" y="3630168"/>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350215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Config as typed code</a:t>
            </a:r>
          </a:p>
          <a:p>
            <a:pPr algn="l">
              <a:lnSpc>
                <a:spcPct val="108000"/>
              </a:lnSpc>
              <a:spcBef>
                <a:spcPts val="0"/>
              </a:spcBef>
              <a:spcAft>
                <a:spcPts val="300"/>
              </a:spcAft>
            </a:pPr>
            <a:r>
              <a:rPr sz="1150" b="0" i="0">
                <a:solidFill>
                  <a:srgbClr val="94A3B8"/>
                </a:solidFill>
                <a:latin typeface="Arial"/>
              </a:rPr>
              <a:t>defineConfig is a typed .mts file — a renamed field fails tsc, not a run. Everything project-specific lives in one place.</a:t>
            </a:r>
          </a:p>
        </p:txBody>
      </p:sp>
      <p:sp>
        <p:nvSpPr>
          <p:cNvPr id="18" name="Rounded Rectangle 17"/>
          <p:cNvSpPr/>
          <p:nvPr/>
        </p:nvSpPr>
        <p:spPr>
          <a:xfrm>
            <a:off x="640080" y="480060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 y="5093208"/>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96519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Skills baked into the image</a:t>
            </a:r>
          </a:p>
          <a:p>
            <a:pPr algn="l">
              <a:lnSpc>
                <a:spcPct val="108000"/>
              </a:lnSpc>
              <a:spcBef>
                <a:spcPts val="0"/>
              </a:spcBef>
              <a:spcAft>
                <a:spcPts val="300"/>
              </a:spcAft>
            </a:pPr>
            <a:r>
              <a:rPr sz="1150" b="0" i="0">
                <a:solidFill>
                  <a:srgbClr val="94A3B8"/>
                </a:solidFill>
                <a:latin typeface="Arial"/>
              </a:rPr>
              <a:t>The agent container mirrors a pinned skills plugin at build time — every task's agent gets them, zero per-run cost.</a:t>
            </a:r>
          </a:p>
        </p:txBody>
      </p:sp>
      <p:sp>
        <p:nvSpPr>
          <p:cNvPr id="21" name="Rounded Rectangle 20"/>
          <p:cNvSpPr/>
          <p:nvPr/>
        </p:nvSpPr>
        <p:spPr>
          <a:xfrm>
            <a:off x="6172200" y="480060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28232" y="5093208"/>
            <a:ext cx="100584" cy="7315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4965192"/>
            <a:ext cx="4663440" cy="1005840"/>
          </a:xfrm>
          <a:prstGeom prst="rect">
            <a:avLst/>
          </a:prstGeom>
          <a:noFill/>
        </p:spPr>
        <p:txBody>
          <a:bodyPr wrap="square" anchor="ctr" lIns="0" rIns="0" tIns="0" bIns="0">
            <a:spAutoFit/>
          </a:bodyPr>
          <a:lstStyle/>
          <a:p>
            <a:pPr algn="l">
              <a:lnSpc>
                <a:spcPct val="108000"/>
              </a:lnSpc>
              <a:spcBef>
                <a:spcPts val="0"/>
              </a:spcBef>
              <a:spcAft>
                <a:spcPts val="300"/>
              </a:spcAft>
            </a:pPr>
            <a:r>
              <a:rPr sz="1450" b="1" i="0">
                <a:solidFill>
                  <a:srgbClr val="F8FAFC"/>
                </a:solidFill>
                <a:latin typeface="Arial"/>
              </a:rPr>
              <a:t>Rules paid for in failed runs</a:t>
            </a:r>
          </a:p>
          <a:p>
            <a:pPr algn="l">
              <a:lnSpc>
                <a:spcPct val="108000"/>
              </a:lnSpc>
              <a:spcBef>
                <a:spcPts val="0"/>
              </a:spcBef>
              <a:spcAft>
                <a:spcPts val="300"/>
              </a:spcAft>
            </a:pPr>
            <a:r>
              <a:rPr sz="1150" b="0" i="0">
                <a:solidFill>
                  <a:srgbClr val="94A3B8"/>
                </a:solidFill>
                <a:latin typeface="Arial"/>
              </a:rPr>
              <a:t>Each hard-won lesson is written down as a load-bearing operating rule, so it's never re-learned the expensive way.</a:t>
            </a:r>
          </a:p>
        </p:txBody>
      </p:sp>
      <p:sp>
        <p:nvSpPr>
          <p:cNvPr id="24" name="TextBox 23"/>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5" name="TextBox 24"/>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LESSONS ENCODED, NOT REPEATED</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Operating rules paid for in failed runs</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0" i="1">
                <a:solidFill>
                  <a:srgbClr val="F59E0B"/>
                </a:solidFill>
                <a:latin typeface="Arial"/>
              </a:rPr>
              <a:t>"Each of these was paid for in a failed run. They are not style preferences."</a:t>
            </a:r>
          </a:p>
        </p:txBody>
      </p:sp>
      <p:sp>
        <p:nvSpPr>
          <p:cNvPr id="7" name="Rounded Rectangle 6"/>
          <p:cNvSpPr/>
          <p:nvPr/>
        </p:nvSpPr>
        <p:spPr>
          <a:xfrm>
            <a:off x="640080" y="2286000"/>
            <a:ext cx="10881360" cy="7315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777240" cy="731520"/>
          </a:xfrm>
          <a:prstGeom prst="rect">
            <a:avLst/>
          </a:prstGeom>
          <a:noFill/>
        </p:spPr>
        <p:txBody>
          <a:bodyPr wrap="square" anchor="ctr" lIns="0" rIns="0" tIns="0" bIns="0">
            <a:spAutoFit/>
          </a:bodyPr>
          <a:lstStyle/>
          <a:p>
            <a:pPr algn="ctr">
              <a:lnSpc>
                <a:spcPct val="105000"/>
              </a:lnSpc>
              <a:spcBef>
                <a:spcPts val="0"/>
              </a:spcBef>
              <a:spcAft>
                <a:spcPts val="0"/>
              </a:spcAft>
            </a:pPr>
            <a:r>
              <a:rPr sz="2400" b="1" i="0">
                <a:solidFill>
                  <a:srgbClr val="F59E0B"/>
                </a:solidFill>
                <a:latin typeface="Arial"/>
              </a:rPr>
              <a:t>1</a:t>
            </a:r>
          </a:p>
        </p:txBody>
      </p:sp>
      <p:sp>
        <p:nvSpPr>
          <p:cNvPr id="9" name="TextBox 8"/>
          <p:cNvSpPr txBox="1"/>
          <p:nvPr/>
        </p:nvSpPr>
        <p:spPr>
          <a:xfrm>
            <a:off x="1554480" y="2359152"/>
            <a:ext cx="9692640" cy="585216"/>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F8FAFC"/>
                </a:solidFill>
                <a:latin typeface="Arial"/>
              </a:rPr>
              <a:t>Never two runs of one task  </a:t>
            </a:r>
            <a:r>
              <a:rPr sz="1200" b="0" i="0">
                <a:solidFill>
                  <a:srgbClr val="94A3B8"/>
                </a:solidFill>
                <a:latin typeface="Arial"/>
              </a:rPr>
              <a:t>— Git refuses one branch in two worktrees — even your manual review worktree blocks that task's resume.</a:t>
            </a:r>
          </a:p>
        </p:txBody>
      </p:sp>
      <p:sp>
        <p:nvSpPr>
          <p:cNvPr id="10" name="Rounded Rectangle 9"/>
          <p:cNvSpPr/>
          <p:nvPr/>
        </p:nvSpPr>
        <p:spPr>
          <a:xfrm>
            <a:off x="640080" y="3081528"/>
            <a:ext cx="10881360" cy="7315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81528"/>
            <a:ext cx="777240" cy="731520"/>
          </a:xfrm>
          <a:prstGeom prst="rect">
            <a:avLst/>
          </a:prstGeom>
          <a:noFill/>
        </p:spPr>
        <p:txBody>
          <a:bodyPr wrap="square" anchor="ctr" lIns="0" rIns="0" tIns="0" bIns="0">
            <a:spAutoFit/>
          </a:bodyPr>
          <a:lstStyle/>
          <a:p>
            <a:pPr algn="ctr">
              <a:lnSpc>
                <a:spcPct val="105000"/>
              </a:lnSpc>
              <a:spcBef>
                <a:spcPts val="0"/>
              </a:spcBef>
              <a:spcAft>
                <a:spcPts val="0"/>
              </a:spcAft>
            </a:pPr>
            <a:r>
              <a:rPr sz="2400" b="1" i="0">
                <a:solidFill>
                  <a:srgbClr val="F59E0B"/>
                </a:solidFill>
                <a:latin typeface="Arial"/>
              </a:rPr>
              <a:t>2</a:t>
            </a:r>
          </a:p>
        </p:txBody>
      </p:sp>
      <p:sp>
        <p:nvSpPr>
          <p:cNvPr id="12" name="TextBox 11"/>
          <p:cNvSpPr txBox="1"/>
          <p:nvPr/>
        </p:nvSpPr>
        <p:spPr>
          <a:xfrm>
            <a:off x="1554480" y="3154680"/>
            <a:ext cx="9692640" cy="585216"/>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F8FAFC"/>
                </a:solidFill>
                <a:latin typeface="Arial"/>
              </a:rPr>
              <a:t>Share package caches; never build outputs  </a:t>
            </a:r>
            <a:r>
              <a:rPr sz="1200" b="0" i="0">
                <a:solidFill>
                  <a:srgbClr val="94A3B8"/>
                </a:solidFill>
                <a:latin typeface="Arial"/>
              </a:rPr>
              <a:t>— Caches are the single biggest win; a shared build dir converts parallelism back into lock contention.</a:t>
            </a:r>
          </a:p>
        </p:txBody>
      </p:sp>
      <p:sp>
        <p:nvSpPr>
          <p:cNvPr id="13" name="Rounded Rectangle 12"/>
          <p:cNvSpPr/>
          <p:nvPr/>
        </p:nvSpPr>
        <p:spPr>
          <a:xfrm>
            <a:off x="640080" y="3877056"/>
            <a:ext cx="10881360" cy="7315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877056"/>
            <a:ext cx="777240" cy="731520"/>
          </a:xfrm>
          <a:prstGeom prst="rect">
            <a:avLst/>
          </a:prstGeom>
          <a:noFill/>
        </p:spPr>
        <p:txBody>
          <a:bodyPr wrap="square" anchor="ctr" lIns="0" rIns="0" tIns="0" bIns="0">
            <a:spAutoFit/>
          </a:bodyPr>
          <a:lstStyle/>
          <a:p>
            <a:pPr algn="ctr">
              <a:lnSpc>
                <a:spcPct val="105000"/>
              </a:lnSpc>
              <a:spcBef>
                <a:spcPts val="0"/>
              </a:spcBef>
              <a:spcAft>
                <a:spcPts val="0"/>
              </a:spcAft>
            </a:pPr>
            <a:r>
              <a:rPr sz="2400" b="1" i="0">
                <a:solidFill>
                  <a:srgbClr val="F59E0B"/>
                </a:solidFill>
                <a:latin typeface="Arial"/>
              </a:rPr>
              <a:t>3</a:t>
            </a:r>
          </a:p>
        </p:txBody>
      </p:sp>
      <p:sp>
        <p:nvSpPr>
          <p:cNvPr id="15" name="TextBox 14"/>
          <p:cNvSpPr txBox="1"/>
          <p:nvPr/>
        </p:nvSpPr>
        <p:spPr>
          <a:xfrm>
            <a:off x="1554480" y="3950208"/>
            <a:ext cx="9692640" cy="585216"/>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F8FAFC"/>
                </a:solidFill>
                <a:latin typeface="Arial"/>
              </a:rPr>
              <a:t>Host-only env in hostEnv, not .env  </a:t>
            </a:r>
            <a:r>
              <a:rPr sz="1200" b="0" i="0">
                <a:solidFill>
                  <a:srgbClr val="94A3B8"/>
                </a:solidFill>
                <a:latin typeface="Arial"/>
              </a:rPr>
              <a:t>— .env reaches the container. GIT_CONFIG_GLOBAL is the classic trap that breaks a project's git tests inside the box.</a:t>
            </a:r>
          </a:p>
        </p:txBody>
      </p:sp>
      <p:sp>
        <p:nvSpPr>
          <p:cNvPr id="16" name="Rounded Rectangle 15"/>
          <p:cNvSpPr/>
          <p:nvPr/>
        </p:nvSpPr>
        <p:spPr>
          <a:xfrm>
            <a:off x="640080" y="4672584"/>
            <a:ext cx="10881360" cy="7315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672584"/>
            <a:ext cx="777240" cy="731520"/>
          </a:xfrm>
          <a:prstGeom prst="rect">
            <a:avLst/>
          </a:prstGeom>
          <a:noFill/>
        </p:spPr>
        <p:txBody>
          <a:bodyPr wrap="square" anchor="ctr" lIns="0" rIns="0" tIns="0" bIns="0">
            <a:spAutoFit/>
          </a:bodyPr>
          <a:lstStyle/>
          <a:p>
            <a:pPr algn="ctr">
              <a:lnSpc>
                <a:spcPct val="105000"/>
              </a:lnSpc>
              <a:spcBef>
                <a:spcPts val="0"/>
              </a:spcBef>
              <a:spcAft>
                <a:spcPts val="0"/>
              </a:spcAft>
            </a:pPr>
            <a:r>
              <a:rPr sz="2400" b="1" i="0">
                <a:solidFill>
                  <a:srgbClr val="F59E0B"/>
                </a:solidFill>
                <a:latin typeface="Arial"/>
              </a:rPr>
              <a:t>4</a:t>
            </a:r>
          </a:p>
        </p:txBody>
      </p:sp>
      <p:sp>
        <p:nvSpPr>
          <p:cNvPr id="18" name="TextBox 17"/>
          <p:cNvSpPr txBox="1"/>
          <p:nvPr/>
        </p:nvSpPr>
        <p:spPr>
          <a:xfrm>
            <a:off x="1554480" y="4745736"/>
            <a:ext cx="9692640" cy="585216"/>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F8FAFC"/>
                </a:solidFill>
                <a:latin typeface="Arial"/>
              </a:rPr>
              <a:t>Your gates set the concurrency ceiling  </a:t>
            </a:r>
            <a:r>
              <a:rPr sz="1200" b="0" i="0">
                <a:solidFill>
                  <a:srgbClr val="94A3B8"/>
                </a:solidFill>
                <a:latin typeface="Arial"/>
              </a:rPr>
              <a:t>— A full suite per turn is CPU-bound; 2–3 slots is realistic on one workstation, and agents share your rate limits.</a:t>
            </a:r>
          </a:p>
        </p:txBody>
      </p:sp>
      <p:sp>
        <p:nvSpPr>
          <p:cNvPr id="19" name="Rounded Rectangle 18"/>
          <p:cNvSpPr/>
          <p:nvPr/>
        </p:nvSpPr>
        <p:spPr>
          <a:xfrm>
            <a:off x="640080" y="5468112"/>
            <a:ext cx="10881360" cy="7315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468112"/>
            <a:ext cx="777240" cy="731520"/>
          </a:xfrm>
          <a:prstGeom prst="rect">
            <a:avLst/>
          </a:prstGeom>
          <a:noFill/>
        </p:spPr>
        <p:txBody>
          <a:bodyPr wrap="square" anchor="ctr" lIns="0" rIns="0" tIns="0" bIns="0">
            <a:spAutoFit/>
          </a:bodyPr>
          <a:lstStyle/>
          <a:p>
            <a:pPr algn="ctr">
              <a:lnSpc>
                <a:spcPct val="105000"/>
              </a:lnSpc>
              <a:spcBef>
                <a:spcPts val="0"/>
              </a:spcBef>
              <a:spcAft>
                <a:spcPts val="0"/>
              </a:spcAft>
            </a:pPr>
            <a:r>
              <a:rPr sz="2400" b="1" i="0">
                <a:solidFill>
                  <a:srgbClr val="F59E0B"/>
                </a:solidFill>
                <a:latin typeface="Arial"/>
              </a:rPr>
              <a:t>5</a:t>
            </a:r>
          </a:p>
        </p:txBody>
      </p:sp>
      <p:sp>
        <p:nvSpPr>
          <p:cNvPr id="21" name="TextBox 20"/>
          <p:cNvSpPr txBox="1"/>
          <p:nvPr/>
        </p:nvSpPr>
        <p:spPr>
          <a:xfrm>
            <a:off x="1554480" y="5541264"/>
            <a:ext cx="9692640" cy="585216"/>
          </a:xfrm>
          <a:prstGeom prst="rect">
            <a:avLst/>
          </a:prstGeom>
          <a:noFill/>
        </p:spPr>
        <p:txBody>
          <a:bodyPr wrap="square" anchor="ctr" lIns="0" rIns="0" tIns="0" bIns="0">
            <a:spAutoFit/>
          </a:bodyPr>
          <a:lstStyle/>
          <a:p>
            <a:pPr algn="l">
              <a:lnSpc>
                <a:spcPct val="105000"/>
              </a:lnSpc>
              <a:spcBef>
                <a:spcPts val="0"/>
              </a:spcBef>
              <a:spcAft>
                <a:spcPts val="0"/>
              </a:spcAft>
            </a:pPr>
            <a:r>
              <a:rPr sz="1450" b="1" i="0">
                <a:solidFill>
                  <a:srgbClr val="F8FAFC"/>
                </a:solidFill>
                <a:latin typeface="Arial"/>
              </a:rPr>
              <a:t>Batch disjoint files, no dependencies  </a:t>
            </a:r>
            <a:r>
              <a:rPr sz="1200" b="0" i="0">
                <a:solidFill>
                  <a:srgbClr val="94A3B8"/>
                </a:solidFill>
                <a:latin typeface="Arial"/>
              </a:rPr>
              <a:t>— Crossover shows up as a visible merge conflict; a hidden dependency merges clean and green against the old contract.</a:t>
            </a:r>
          </a:p>
        </p:txBody>
      </p:sp>
      <p:sp>
        <p:nvSpPr>
          <p:cNvPr id="22" name="TextBox 21"/>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3" name="TextBox 22"/>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DON'T BUILD WHAT YOU CAN BORROW</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8FAFC"/>
                </a:solidFill>
                <a:latin typeface="Arial"/>
              </a:rPr>
              <a:t>What the ~950 lines actually leverage</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@ai-hero/sandcastle</a:t>
            </a:r>
          </a:p>
        </p:txBody>
      </p:sp>
      <p:sp>
        <p:nvSpPr>
          <p:cNvPr id="8" name="TextBox 7"/>
          <p:cNvSpPr txBox="1"/>
          <p:nvPr/>
        </p:nvSpPr>
        <p:spPr>
          <a:xfrm>
            <a:off x="914400" y="249631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Docker sandboxes + session capture. The primitive that makes park→resume survive a fresh process.</a:t>
            </a:r>
          </a:p>
        </p:txBody>
      </p:sp>
      <p:sp>
        <p:nvSpPr>
          <p:cNvPr id="9" name="Rounded Rectangle 8"/>
          <p:cNvSpPr/>
          <p:nvPr/>
        </p:nvSpPr>
        <p:spPr>
          <a:xfrm>
            <a:off x="6172200" y="1874519"/>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05740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Claude Code CLI</a:t>
            </a:r>
          </a:p>
        </p:txBody>
      </p:sp>
      <p:sp>
        <p:nvSpPr>
          <p:cNvPr id="11" name="TextBox 10"/>
          <p:cNvSpPr txBox="1"/>
          <p:nvPr/>
        </p:nvSpPr>
        <p:spPr>
          <a:xfrm>
            <a:off x="6446520" y="249631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The plain claude --print CLI is the agent. No SDK, no custom runtime — runs on your subscription token.</a:t>
            </a:r>
          </a:p>
        </p:txBody>
      </p:sp>
      <p:sp>
        <p:nvSpPr>
          <p:cNvPr id="12" name="Rounded Rectangle 11"/>
          <p:cNvSpPr/>
          <p:nvPr/>
        </p:nvSpPr>
        <p:spPr>
          <a:xfrm>
            <a:off x="640080" y="333756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2044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mattpocock skills</a:t>
            </a:r>
          </a:p>
        </p:txBody>
      </p:sp>
      <p:sp>
        <p:nvSpPr>
          <p:cNvPr id="14" name="TextBox 13"/>
          <p:cNvSpPr txBox="1"/>
          <p:nvPr/>
        </p:nvSpPr>
        <p:spPr>
          <a:xfrm>
            <a:off x="914400" y="395935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tdd, codebase-design, code-review — auto-discovered in the container. The agent's craft, borrowed wholesale.</a:t>
            </a:r>
          </a:p>
        </p:txBody>
      </p:sp>
      <p:sp>
        <p:nvSpPr>
          <p:cNvPr id="15" name="Rounded Rectangle 14"/>
          <p:cNvSpPr/>
          <p:nvPr/>
        </p:nvSpPr>
        <p:spPr>
          <a:xfrm>
            <a:off x="6172200" y="333756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52044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git worktrees + branches</a:t>
            </a:r>
          </a:p>
        </p:txBody>
      </p:sp>
      <p:sp>
        <p:nvSpPr>
          <p:cNvPr id="17" name="TextBox 16"/>
          <p:cNvSpPr txBox="1"/>
          <p:nvPr/>
        </p:nvSpPr>
        <p:spPr>
          <a:xfrm>
            <a:off x="6446520" y="395935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The isolation primitive. One branch per task, and git itself refuses the double-run that would corrupt state.</a:t>
            </a:r>
          </a:p>
        </p:txBody>
      </p:sp>
      <p:sp>
        <p:nvSpPr>
          <p:cNvPr id="18" name="Rounded Rectangle 17"/>
          <p:cNvSpPr/>
          <p:nvPr/>
        </p:nvSpPr>
        <p:spPr>
          <a:xfrm>
            <a:off x="640080" y="480060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8348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Telegram bot API</a:t>
            </a:r>
          </a:p>
        </p:txBody>
      </p:sp>
      <p:sp>
        <p:nvSpPr>
          <p:cNvPr id="20" name="TextBox 19"/>
          <p:cNvSpPr txBox="1"/>
          <p:nvPr/>
        </p:nvSpPr>
        <p:spPr>
          <a:xfrm>
            <a:off x="914400" y="542239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The entire human-in-the-loop UI. Reply to a message; no dashboard to build or host.</a:t>
            </a:r>
          </a:p>
        </p:txBody>
      </p:sp>
      <p:sp>
        <p:nvSpPr>
          <p:cNvPr id="21" name="Rounded Rectangle 20"/>
          <p:cNvSpPr/>
          <p:nvPr/>
        </p:nvSpPr>
        <p:spPr>
          <a:xfrm>
            <a:off x="6172200" y="4800600"/>
            <a:ext cx="5394960" cy="132588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983480"/>
            <a:ext cx="489204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Consolas"/>
              </a:rPr>
              <a:t>Docker</a:t>
            </a:r>
          </a:p>
        </p:txBody>
      </p:sp>
      <p:sp>
        <p:nvSpPr>
          <p:cNvPr id="23" name="TextBox 22"/>
          <p:cNvSpPr txBox="1"/>
          <p:nvPr/>
        </p:nvSpPr>
        <p:spPr>
          <a:xfrm>
            <a:off x="6446520" y="5422392"/>
            <a:ext cx="4892040" cy="640080"/>
          </a:xfrm>
          <a:prstGeom prst="rect">
            <a:avLst/>
          </a:prstGeom>
          <a:noFill/>
        </p:spPr>
        <p:txBody>
          <a:bodyPr wrap="square" anchor="t" lIns="0" rIns="0" tIns="0" bIns="0">
            <a:spAutoFit/>
          </a:bodyPr>
          <a:lstStyle/>
          <a:p>
            <a:pPr algn="l">
              <a:lnSpc>
                <a:spcPct val="110000"/>
              </a:lnSpc>
              <a:spcBef>
                <a:spcPts val="0"/>
              </a:spcBef>
              <a:spcAft>
                <a:spcPts val="0"/>
              </a:spcAft>
            </a:pPr>
            <a:r>
              <a:rPr sz="1200" b="0" i="0">
                <a:solidFill>
                  <a:srgbClr val="94A3B8"/>
                </a:solidFill>
                <a:latin typeface="Arial"/>
              </a:rPr>
              <a:t>Concurrency without collision. Containers turn a shared workstation into N isolated ones.</a:t>
            </a:r>
          </a:p>
        </p:txBody>
      </p:sp>
      <p:sp>
        <p:nvSpPr>
          <p:cNvPr id="24" name="TextBox 23"/>
          <p:cNvSpPr txBox="1"/>
          <p:nvPr/>
        </p:nvSpPr>
        <p:spPr>
          <a:xfrm>
            <a:off x="640080" y="6309360"/>
            <a:ext cx="1088136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0" i="1">
                <a:solidFill>
                  <a:srgbClr val="F8FAFC"/>
                </a:solidFill>
                <a:latin typeface="Arial"/>
              </a:rPr>
              <a:t>The skill isn't writing every layer — it's knowing which layers already exist and composing them with the right contract.</a:t>
            </a:r>
          </a:p>
        </p:txBody>
      </p:sp>
      <p:sp>
        <p:nvSpPr>
          <p:cNvPr id="25" name="TextBox 24"/>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6" name="TextBox 25"/>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31520"/>
            <a:ext cx="1051560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Arial"/>
              </a:rPr>
              <a:t>STEAL THESE</a:t>
            </a:r>
          </a:p>
        </p:txBody>
      </p:sp>
      <p:sp>
        <p:nvSpPr>
          <p:cNvPr id="6" name="TextBox 5"/>
          <p:cNvSpPr txBox="1"/>
          <p:nvPr/>
        </p:nvSpPr>
        <p:spPr>
          <a:xfrm>
            <a:off x="804672" y="1143000"/>
            <a:ext cx="10607040" cy="914400"/>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F8FAFC"/>
                </a:solidFill>
                <a:latin typeface="Arial"/>
              </a:rPr>
              <a:t>Patterns to take back to your own work</a:t>
            </a:r>
          </a:p>
        </p:txBody>
      </p:sp>
      <p:sp>
        <p:nvSpPr>
          <p:cNvPr id="7" name="Rounded Rectangle 6"/>
          <p:cNvSpPr/>
          <p:nvPr/>
        </p:nvSpPr>
        <p:spPr>
          <a:xfrm>
            <a:off x="822960" y="21488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148840"/>
            <a:ext cx="109728" cy="12344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2951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Never let an agent grade itself</a:t>
            </a:r>
          </a:p>
          <a:p>
            <a:pPr algn="l">
              <a:lnSpc>
                <a:spcPct val="110000"/>
              </a:lnSpc>
              <a:spcBef>
                <a:spcPts val="0"/>
              </a:spcBef>
              <a:spcAft>
                <a:spcPts val="300"/>
              </a:spcAft>
            </a:pPr>
            <a:r>
              <a:rPr sz="1200" b="0" i="0">
                <a:solidFill>
                  <a:srgbClr val="94A3B8"/>
                </a:solidFill>
                <a:latin typeface="Arial"/>
              </a:rPr>
              <a:t>Own "done" outside the model — a real signal (exit code, checksum, human), never its self-report.</a:t>
            </a:r>
          </a:p>
        </p:txBody>
      </p:sp>
      <p:sp>
        <p:nvSpPr>
          <p:cNvPr id="10" name="Rounded Rectangle 9"/>
          <p:cNvSpPr/>
          <p:nvPr/>
        </p:nvSpPr>
        <p:spPr>
          <a:xfrm>
            <a:off x="6217920" y="21488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148840"/>
            <a:ext cx="109728"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2951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Make ambiguity park, not guess</a:t>
            </a:r>
          </a:p>
          <a:p>
            <a:pPr algn="l">
              <a:lnSpc>
                <a:spcPct val="110000"/>
              </a:lnSpc>
              <a:spcBef>
                <a:spcPts val="0"/>
              </a:spcBef>
              <a:spcAft>
                <a:spcPts val="300"/>
              </a:spcAft>
            </a:pPr>
            <a:r>
              <a:rPr sz="1200" b="0" i="0">
                <a:solidFill>
                  <a:srgbClr val="94A3B8"/>
                </a:solidFill>
                <a:latin typeface="Arial"/>
              </a:rPr>
              <a:t>Design an explicit "I need a human" path. A blocked agent that asks beats a confident one that's wrong.</a:t>
            </a:r>
          </a:p>
        </p:txBody>
      </p:sp>
      <p:sp>
        <p:nvSpPr>
          <p:cNvPr id="13" name="Rounded Rectangle 12"/>
          <p:cNvSpPr/>
          <p:nvPr/>
        </p:nvSpPr>
        <p:spPr>
          <a:xfrm>
            <a:off x="822960" y="35204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3520440"/>
            <a:ext cx="109728" cy="12344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6667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Isolate, then parallelize</a:t>
            </a:r>
          </a:p>
          <a:p>
            <a:pPr algn="l">
              <a:lnSpc>
                <a:spcPct val="110000"/>
              </a:lnSpc>
              <a:spcBef>
                <a:spcPts val="0"/>
              </a:spcBef>
              <a:spcAft>
                <a:spcPts val="300"/>
              </a:spcAft>
            </a:pPr>
            <a:r>
              <a:rPr sz="1200" b="0" i="0">
                <a:solidFill>
                  <a:srgbClr val="94A3B8"/>
                </a:solidFill>
                <a:latin typeface="Arial"/>
              </a:rPr>
              <a:t>Give each unit its own sandbox and branch. Parallelism is safe only when work can't collide.</a:t>
            </a:r>
          </a:p>
        </p:txBody>
      </p:sp>
      <p:sp>
        <p:nvSpPr>
          <p:cNvPr id="16" name="Rounded Rectangle 15"/>
          <p:cNvSpPr/>
          <p:nvPr/>
        </p:nvSpPr>
        <p:spPr>
          <a:xfrm>
            <a:off x="6217920" y="35204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520440"/>
            <a:ext cx="109728" cy="123444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36667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Resume beats restart</a:t>
            </a:r>
          </a:p>
          <a:p>
            <a:pPr algn="l">
              <a:lnSpc>
                <a:spcPct val="110000"/>
              </a:lnSpc>
              <a:spcBef>
                <a:spcPts val="0"/>
              </a:spcBef>
              <a:spcAft>
                <a:spcPts val="300"/>
              </a:spcAft>
            </a:pPr>
            <a:r>
              <a:rPr sz="1200" b="0" i="0">
                <a:solidFill>
                  <a:srgbClr val="94A3B8"/>
                </a:solidFill>
                <a:latin typeface="Arial"/>
              </a:rPr>
              <a:t>Persist enough state that failure is the next prompt, not a reset. Context is the expensive part.</a:t>
            </a:r>
          </a:p>
        </p:txBody>
      </p:sp>
      <p:sp>
        <p:nvSpPr>
          <p:cNvPr id="19" name="Rounded Rectangle 18"/>
          <p:cNvSpPr/>
          <p:nvPr/>
        </p:nvSpPr>
        <p:spPr>
          <a:xfrm>
            <a:off x="822960" y="48920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892040"/>
            <a:ext cx="109728" cy="123444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0383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Borrow the hard parts</a:t>
            </a:r>
          </a:p>
          <a:p>
            <a:pPr algn="l">
              <a:lnSpc>
                <a:spcPct val="110000"/>
              </a:lnSpc>
              <a:spcBef>
                <a:spcPts val="0"/>
              </a:spcBef>
              <a:spcAft>
                <a:spcPts val="300"/>
              </a:spcAft>
            </a:pPr>
            <a:r>
              <a:rPr sz="1200" b="0" i="0">
                <a:solidFill>
                  <a:srgbClr val="94A3B8"/>
                </a:solidFill>
                <a:latin typeface="Arial"/>
              </a:rPr>
              <a:t>Sandbox, agent, skills, transport — compose what exists. Your value is the contract between them.</a:t>
            </a:r>
          </a:p>
        </p:txBody>
      </p:sp>
      <p:sp>
        <p:nvSpPr>
          <p:cNvPr id="22" name="Rounded Rectangle 21"/>
          <p:cNvSpPr/>
          <p:nvPr/>
        </p:nvSpPr>
        <p:spPr>
          <a:xfrm>
            <a:off x="6217920" y="4892040"/>
            <a:ext cx="5257800" cy="12344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4892040"/>
            <a:ext cx="109728" cy="12344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5038344"/>
            <a:ext cx="4709160" cy="960120"/>
          </a:xfrm>
          <a:prstGeom prst="rect">
            <a:avLst/>
          </a:prstGeom>
          <a:noFill/>
        </p:spPr>
        <p:txBody>
          <a:bodyPr wrap="square" anchor="ctr" lIns="0" rIns="0" tIns="0" bIns="0">
            <a:spAutoFit/>
          </a:bodyPr>
          <a:lstStyle/>
          <a:p>
            <a:pPr algn="l">
              <a:lnSpc>
                <a:spcPct val="110000"/>
              </a:lnSpc>
              <a:spcBef>
                <a:spcPts val="0"/>
              </a:spcBef>
              <a:spcAft>
                <a:spcPts val="300"/>
              </a:spcAft>
            </a:pPr>
            <a:r>
              <a:rPr sz="1500" b="1" i="0">
                <a:solidFill>
                  <a:srgbClr val="F8FAFC"/>
                </a:solidFill>
                <a:latin typeface="Arial"/>
              </a:rPr>
              <a:t>Encode every lesson once</a:t>
            </a:r>
          </a:p>
          <a:p>
            <a:pPr algn="l">
              <a:lnSpc>
                <a:spcPct val="110000"/>
              </a:lnSpc>
              <a:spcBef>
                <a:spcPts val="0"/>
              </a:spcBef>
              <a:spcAft>
                <a:spcPts val="300"/>
              </a:spcAft>
            </a:pPr>
            <a:r>
              <a:rPr sz="1200" b="0" i="0">
                <a:solidFill>
                  <a:srgbClr val="94A3B8"/>
                </a:solidFill>
                <a:latin typeface="Arial"/>
              </a:rPr>
              <a:t>Turn each failed run into a written rule. Sharpen the tool so you never pay that cost twice.</a:t>
            </a:r>
          </a:p>
        </p:txBody>
      </p:sp>
      <p:sp>
        <p:nvSpPr>
          <p:cNvPr id="25" name="TextBox 24"/>
          <p:cNvSpPr txBox="1"/>
          <p:nvPr/>
        </p:nvSpPr>
        <p:spPr>
          <a:xfrm>
            <a:off x="640080" y="6419088"/>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a:t>
            </a:r>
          </a:p>
        </p:txBody>
      </p:sp>
      <p:sp>
        <p:nvSpPr>
          <p:cNvPr id="26" name="TextBox 25"/>
          <p:cNvSpPr txBox="1"/>
          <p:nvPr/>
        </p:nvSpPr>
        <p:spPr>
          <a:xfrm>
            <a:off x="10881360" y="6419088"/>
            <a:ext cx="822960" cy="274320"/>
          </a:xfrm>
          <a:prstGeom prst="rect">
            <a:avLst/>
          </a:prstGeom>
          <a:noFill/>
        </p:spPr>
        <p:txBody>
          <a:bodyPr wrap="square" anchor="t" lIns="0" rIns="0" tIns="0" bIns="0">
            <a:spAutoFit/>
          </a:bodyPr>
          <a:lstStyle/>
          <a:p>
            <a:pPr algn="r">
              <a:lnSpc>
                <a:spcPct val="105000"/>
              </a:lnSpc>
              <a:spcBef>
                <a:spcPts val="0"/>
              </a:spcBef>
              <a:spcAft>
                <a:spcPts val="0"/>
              </a:spcAft>
            </a:pPr>
            <a:r>
              <a:rPr sz="1000" b="0" i="0">
                <a:solidFill>
                  <a:srgbClr val="94A3B8"/>
                </a:solidFill>
                <a:latin typeface="Arial"/>
              </a:rPr>
              <a:t>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95360" y="0"/>
            <a:ext cx="3611880" cy="6858000"/>
          </a:xfrm>
          <a:prstGeom prst="rect">
            <a:avLst/>
          </a:prstGeom>
          <a:solidFill>
            <a:srgbClr val="162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89720" y="4114800"/>
            <a:ext cx="566928" cy="1280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21240" y="3291840"/>
            <a:ext cx="566928" cy="2103120"/>
          </a:xfrm>
          <a:prstGeom prst="rect">
            <a:avLst/>
          </a:prstGeom>
          <a:solidFill>
            <a:srgbClr val="D9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52760" y="3794760"/>
            <a:ext cx="566928" cy="1600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384280" y="2743200"/>
            <a:ext cx="566928" cy="2651760"/>
          </a:xfrm>
          <a:prstGeom prst="rect">
            <a:avLst/>
          </a:prstGeom>
          <a:solidFill>
            <a:srgbClr val="D9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52560" y="5358384"/>
            <a:ext cx="2926080" cy="73152"/>
          </a:xfrm>
          <a:prstGeom prst="rect">
            <a:avLst/>
          </a:prstGeom>
          <a:solidFill>
            <a:srgbClr val="644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768096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59E0B"/>
                </a:solidFill>
                <a:latin typeface="Arial"/>
              </a:rPr>
              <a:t>THANKS — LET'S TALK</a:t>
            </a:r>
          </a:p>
        </p:txBody>
      </p:sp>
      <p:sp>
        <p:nvSpPr>
          <p:cNvPr id="10" name="TextBox 9"/>
          <p:cNvSpPr txBox="1"/>
          <p:nvPr/>
        </p:nvSpPr>
        <p:spPr>
          <a:xfrm>
            <a:off x="749808" y="2331720"/>
            <a:ext cx="7772400" cy="1097280"/>
          </a:xfrm>
          <a:prstGeom prst="rect">
            <a:avLst/>
          </a:prstGeom>
          <a:noFill/>
        </p:spPr>
        <p:txBody>
          <a:bodyPr wrap="square" anchor="t" lIns="0" rIns="0" tIns="0" bIns="0">
            <a:spAutoFit/>
          </a:bodyPr>
          <a:lstStyle/>
          <a:p>
            <a:pPr algn="l">
              <a:lnSpc>
                <a:spcPct val="102000"/>
              </a:lnSpc>
              <a:spcBef>
                <a:spcPts val="0"/>
              </a:spcBef>
              <a:spcAft>
                <a:spcPts val="0"/>
              </a:spcAft>
            </a:pPr>
            <a:r>
              <a:rPr sz="4200" b="1" i="0">
                <a:solidFill>
                  <a:srgbClr val="F8FAFC"/>
                </a:solidFill>
                <a:latin typeface="Arial"/>
              </a:rPr>
              <a:t>Build the tool you
wish existed.</a:t>
            </a:r>
          </a:p>
        </p:txBody>
      </p:sp>
      <p:sp>
        <p:nvSpPr>
          <p:cNvPr id="11" name="TextBox 10"/>
          <p:cNvSpPr txBox="1"/>
          <p:nvPr/>
        </p:nvSpPr>
        <p:spPr>
          <a:xfrm>
            <a:off x="777240" y="3977639"/>
            <a:ext cx="7498079" cy="1097280"/>
          </a:xfrm>
          <a:prstGeom prst="rect">
            <a:avLst/>
          </a:prstGeom>
          <a:noFill/>
        </p:spPr>
        <p:txBody>
          <a:bodyPr wrap="square" anchor="t" lIns="0" rIns="0" tIns="0" bIns="0">
            <a:spAutoFit/>
          </a:bodyPr>
          <a:lstStyle/>
          <a:p>
            <a:pPr algn="l">
              <a:lnSpc>
                <a:spcPct val="120000"/>
              </a:lnSpc>
              <a:spcBef>
                <a:spcPts val="0"/>
              </a:spcBef>
              <a:spcAft>
                <a:spcPts val="400"/>
              </a:spcAft>
            </a:pPr>
            <a:r>
              <a:rPr sz="1700" b="0" i="0">
                <a:solidFill>
                  <a:srgbClr val="E2E8F0"/>
                </a:solidFill>
                <a:latin typeface="Arial"/>
              </a:rPr>
              <a:t>The bottleneck isn't building anymore — it's knowing what you want</a:t>
            </a:r>
          </a:p>
          <a:p>
            <a:pPr algn="l">
              <a:lnSpc>
                <a:spcPct val="120000"/>
              </a:lnSpc>
              <a:spcBef>
                <a:spcPts val="0"/>
              </a:spcBef>
              <a:spcAft>
                <a:spcPts val="400"/>
              </a:spcAft>
            </a:pPr>
            <a:r>
              <a:rPr sz="1700" b="0" i="0">
                <a:solidFill>
                  <a:srgbClr val="E2E8F0"/>
                </a:solidFill>
                <a:latin typeface="Arial"/>
              </a:rPr>
              <a:t>and giving the AI the guardrails to be dependable.</a:t>
            </a:r>
          </a:p>
        </p:txBody>
      </p:sp>
      <p:sp>
        <p:nvSpPr>
          <p:cNvPr id="12" name="Rectangle 11"/>
          <p:cNvSpPr/>
          <p:nvPr/>
        </p:nvSpPr>
        <p:spPr>
          <a:xfrm>
            <a:off x="795528" y="5212080"/>
            <a:ext cx="12801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40680"/>
            <a:ext cx="7498079" cy="457200"/>
          </a:xfrm>
          <a:prstGeom prst="rect">
            <a:avLst/>
          </a:prstGeom>
          <a:noFill/>
        </p:spPr>
        <p:txBody>
          <a:bodyPr wrap="square" anchor="t" lIns="0" rIns="0" tIns="0" bIns="0">
            <a:spAutoFit/>
          </a:bodyPr>
          <a:lstStyle/>
          <a:p>
            <a:pPr algn="l">
              <a:lnSpc>
                <a:spcPct val="105000"/>
              </a:lnSpc>
              <a:spcBef>
                <a:spcPts val="0"/>
              </a:spcBef>
              <a:spcAft>
                <a:spcPts val="0"/>
              </a:spcAft>
            </a:pPr>
            <a:r>
              <a:rPr sz="1400" b="0" i="0">
                <a:solidFill>
                  <a:srgbClr val="94A3B8"/>
                </a:solidFill>
                <a:latin typeface="Consolas"/>
              </a:rPr>
              <a:t>github: jjforge/sandcastle-tdd</a:t>
            </a:r>
          </a:p>
        </p:txBody>
      </p:sp>
      <p:sp>
        <p:nvSpPr>
          <p:cNvPr id="14" name="TextBox 13"/>
          <p:cNvSpPr txBox="1"/>
          <p:nvPr/>
        </p:nvSpPr>
        <p:spPr>
          <a:xfrm>
            <a:off x="777240" y="5760720"/>
            <a:ext cx="7498079" cy="365760"/>
          </a:xfrm>
          <a:prstGeom prst="rect">
            <a:avLst/>
          </a:prstGeom>
          <a:noFill/>
        </p:spPr>
        <p:txBody>
          <a:bodyPr wrap="square" anchor="t" lIns="0" rIns="0" tIns="0" bIns="0">
            <a:spAutoFit/>
          </a:bodyPr>
          <a:lstStyle/>
          <a:p>
            <a:pPr algn="l">
              <a:lnSpc>
                <a:spcPct val="105000"/>
              </a:lnSpc>
              <a:spcBef>
                <a:spcPts val="0"/>
              </a:spcBef>
              <a:spcAft>
                <a:spcPts val="0"/>
              </a:spcAft>
            </a:pPr>
            <a:r>
              <a:rPr sz="1300" b="0" i="0">
                <a:solidFill>
                  <a:srgbClr val="94A3B8"/>
                </a:solidFill>
                <a:latin typeface="Arial"/>
              </a:rPr>
              <a:t>Built on @ai-hero/sandcastle  ·  Questions?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88136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59E0B"/>
                </a:solidFill>
                <a:latin typeface="Arial"/>
              </a:rPr>
              <a:t>APPENDIX</a:t>
            </a:r>
          </a:p>
        </p:txBody>
      </p:sp>
      <p:sp>
        <p:nvSpPr>
          <p:cNvPr id="4" name="TextBox 3"/>
          <p:cNvSpPr txBox="1"/>
          <p:nvPr/>
        </p:nvSpPr>
        <p:spPr>
          <a:xfrm>
            <a:off x="621792" y="822960"/>
            <a:ext cx="10881360" cy="640080"/>
          </a:xfrm>
          <a:prstGeom prst="rect">
            <a:avLst/>
          </a:prstGeom>
          <a:noFill/>
        </p:spPr>
        <p:txBody>
          <a:bodyPr wrap="square" anchor="t" lIns="0" rIns="0" tIns="0" bIns="0">
            <a:spAutoFit/>
          </a:bodyPr>
          <a:lstStyle/>
          <a:p>
            <a:pPr algn="l">
              <a:lnSpc>
                <a:spcPct val="105000"/>
              </a:lnSpc>
              <a:spcBef>
                <a:spcPts val="0"/>
              </a:spcBef>
              <a:spcAft>
                <a:spcPts val="0"/>
              </a:spcAft>
            </a:pPr>
            <a:r>
              <a:rPr sz="2700" b="1" i="0">
                <a:solidFill>
                  <a:srgbClr val="F8FAFC"/>
                </a:solidFill>
                <a:latin typeface="Arial"/>
              </a:rPr>
              <a:t>jjforge architecture — the target this ran against</a:t>
            </a:r>
          </a:p>
        </p:txBody>
      </p:sp>
      <p:sp>
        <p:nvSpPr>
          <p:cNvPr id="5" name="Rectangle 4"/>
          <p:cNvSpPr/>
          <p:nvPr/>
        </p:nvSpPr>
        <p:spPr>
          <a:xfrm>
            <a:off x="640080" y="1417320"/>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052560" y="566928"/>
            <a:ext cx="201168" cy="20116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0" y="548640"/>
            <a:ext cx="914400" cy="27432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94A3B8"/>
                </a:solidFill>
                <a:latin typeface="Arial"/>
              </a:rPr>
              <a:t>Go</a:t>
            </a:r>
          </a:p>
        </p:txBody>
      </p:sp>
      <p:sp>
        <p:nvSpPr>
          <p:cNvPr id="8" name="Rectangle 7"/>
          <p:cNvSpPr/>
          <p:nvPr/>
        </p:nvSpPr>
        <p:spPr>
          <a:xfrm>
            <a:off x="9829800" y="566928"/>
            <a:ext cx="201168"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04120" y="548640"/>
            <a:ext cx="1371600" cy="27432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94A3B8"/>
                </a:solidFill>
                <a:latin typeface="Arial"/>
              </a:rPr>
              <a:t>Rust</a:t>
            </a:r>
          </a:p>
        </p:txBody>
      </p:sp>
      <p:sp>
        <p:nvSpPr>
          <p:cNvPr id="10" name="Rounded Rectangle 9"/>
          <p:cNvSpPr/>
          <p:nvPr/>
        </p:nvSpPr>
        <p:spPr>
          <a:xfrm>
            <a:off x="640080" y="1691640"/>
            <a:ext cx="3291840" cy="777240"/>
          </a:xfrm>
          <a:prstGeom prst="roundRect">
            <a:avLst>
              <a:gd name="adj" fmla="val 6000"/>
            </a:avLst>
          </a:prstGeom>
          <a:solidFill>
            <a:srgbClr val="1E293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10512"/>
            <a:ext cx="3291840" cy="320040"/>
          </a:xfrm>
          <a:prstGeom prst="rect">
            <a:avLst/>
          </a:prstGeom>
          <a:noFill/>
        </p:spPr>
        <p:txBody>
          <a:bodyPr wrap="square" anchor="t" lIns="0" rIns="0" tIns="0" bIns="0">
            <a:spAutoFit/>
          </a:bodyPr>
          <a:lstStyle/>
          <a:p>
            <a:pPr algn="ctr">
              <a:lnSpc>
                <a:spcPct val="105000"/>
              </a:lnSpc>
              <a:spcBef>
                <a:spcPts val="0"/>
              </a:spcBef>
              <a:spcAft>
                <a:spcPts val="0"/>
              </a:spcAft>
            </a:pPr>
            <a:r>
              <a:rPr sz="1400" b="1" i="0">
                <a:solidFill>
                  <a:srgbClr val="F8FAFC"/>
                </a:solidFill>
                <a:latin typeface="Arial"/>
              </a:rPr>
              <a:t>Web browser</a:t>
            </a:r>
          </a:p>
        </p:txBody>
      </p:sp>
      <p:sp>
        <p:nvSpPr>
          <p:cNvPr id="12" name="TextBox 11"/>
          <p:cNvSpPr txBox="1"/>
          <p:nvPr/>
        </p:nvSpPr>
        <p:spPr>
          <a:xfrm>
            <a:off x="640080" y="2121408"/>
            <a:ext cx="3291840" cy="274320"/>
          </a:xfrm>
          <a:prstGeom prst="rect">
            <a:avLst/>
          </a:prstGeom>
          <a:noFill/>
        </p:spPr>
        <p:txBody>
          <a:bodyPr wrap="square" anchor="t" lIns="0" rIns="0" tIns="0" bIns="0">
            <a:spAutoFit/>
          </a:bodyPr>
          <a:lstStyle/>
          <a:p>
            <a:pPr algn="ctr">
              <a:lnSpc>
                <a:spcPct val="105000"/>
              </a:lnSpc>
              <a:spcBef>
                <a:spcPts val="0"/>
              </a:spcBef>
              <a:spcAft>
                <a:spcPts val="0"/>
              </a:spcAft>
            </a:pPr>
            <a:r>
              <a:rPr sz="1050" b="0" i="0">
                <a:solidFill>
                  <a:srgbClr val="94A3B8"/>
                </a:solidFill>
                <a:latin typeface="Arial"/>
              </a:rPr>
              <a:t>the web forge UI</a:t>
            </a:r>
          </a:p>
        </p:txBody>
      </p:sp>
      <p:sp>
        <p:nvSpPr>
          <p:cNvPr id="13" name="Rounded Rectangle 12"/>
          <p:cNvSpPr/>
          <p:nvPr/>
        </p:nvSpPr>
        <p:spPr>
          <a:xfrm>
            <a:off x="4448556" y="1691640"/>
            <a:ext cx="3291840" cy="777240"/>
          </a:xfrm>
          <a:prstGeom prst="roundRect">
            <a:avLst>
              <a:gd name="adj" fmla="val 6000"/>
            </a:avLst>
          </a:prstGeom>
          <a:solidFill>
            <a:srgbClr val="1E293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8556" y="1810512"/>
            <a:ext cx="3291840" cy="320040"/>
          </a:xfrm>
          <a:prstGeom prst="rect">
            <a:avLst/>
          </a:prstGeom>
          <a:noFill/>
        </p:spPr>
        <p:txBody>
          <a:bodyPr wrap="square" anchor="t" lIns="0" rIns="0" tIns="0" bIns="0">
            <a:spAutoFit/>
          </a:bodyPr>
          <a:lstStyle/>
          <a:p>
            <a:pPr algn="ctr">
              <a:lnSpc>
                <a:spcPct val="105000"/>
              </a:lnSpc>
              <a:spcBef>
                <a:spcPts val="0"/>
              </a:spcBef>
              <a:spcAft>
                <a:spcPts val="0"/>
              </a:spcAft>
            </a:pPr>
            <a:r>
              <a:rPr sz="1400" b="1" i="0">
                <a:solidFill>
                  <a:srgbClr val="F8FAFC"/>
                </a:solidFill>
                <a:latin typeface="Arial"/>
              </a:rPr>
              <a:t>jj fork  ·  Rust</a:t>
            </a:r>
          </a:p>
        </p:txBody>
      </p:sp>
      <p:sp>
        <p:nvSpPr>
          <p:cNvPr id="15" name="TextBox 14"/>
          <p:cNvSpPr txBox="1"/>
          <p:nvPr/>
        </p:nvSpPr>
        <p:spPr>
          <a:xfrm>
            <a:off x="4448556" y="2121408"/>
            <a:ext cx="3291840" cy="274320"/>
          </a:xfrm>
          <a:prstGeom prst="rect">
            <a:avLst/>
          </a:prstGeom>
          <a:noFill/>
        </p:spPr>
        <p:txBody>
          <a:bodyPr wrap="square" anchor="t" lIns="0" rIns="0" tIns="0" bIns="0">
            <a:spAutoFit/>
          </a:bodyPr>
          <a:lstStyle/>
          <a:p>
            <a:pPr algn="ctr">
              <a:lnSpc>
                <a:spcPct val="105000"/>
              </a:lnSpc>
              <a:spcBef>
                <a:spcPts val="0"/>
              </a:spcBef>
              <a:spcAft>
                <a:spcPts val="0"/>
              </a:spcAft>
            </a:pPr>
            <a:r>
              <a:rPr sz="1050" b="0" i="0">
                <a:solidFill>
                  <a:srgbClr val="94A3B8"/>
                </a:solidFill>
                <a:latin typeface="Arial"/>
              </a:rPr>
              <a:t>jj forge push / pull / clone</a:t>
            </a:r>
          </a:p>
        </p:txBody>
      </p:sp>
      <p:sp>
        <p:nvSpPr>
          <p:cNvPr id="16" name="Rounded Rectangle 15"/>
          <p:cNvSpPr/>
          <p:nvPr/>
        </p:nvSpPr>
        <p:spPr>
          <a:xfrm>
            <a:off x="8257032" y="1691640"/>
            <a:ext cx="3291840" cy="777240"/>
          </a:xfrm>
          <a:prstGeom prst="roundRect">
            <a:avLst>
              <a:gd name="adj" fmla="val 6000"/>
            </a:avLst>
          </a:prstGeom>
          <a:solidFill>
            <a:srgbClr val="1E293B"/>
          </a:solidFill>
          <a:ln w="12700">
            <a:solidFill>
              <a:srgbClr val="C084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1810512"/>
            <a:ext cx="3291840" cy="320040"/>
          </a:xfrm>
          <a:prstGeom prst="rect">
            <a:avLst/>
          </a:prstGeom>
          <a:noFill/>
        </p:spPr>
        <p:txBody>
          <a:bodyPr wrap="square" anchor="t" lIns="0" rIns="0" tIns="0" bIns="0">
            <a:spAutoFit/>
          </a:bodyPr>
          <a:lstStyle/>
          <a:p>
            <a:pPr algn="ctr">
              <a:lnSpc>
                <a:spcPct val="105000"/>
              </a:lnSpc>
              <a:spcBef>
                <a:spcPts val="0"/>
              </a:spcBef>
              <a:spcAft>
                <a:spcPts val="0"/>
              </a:spcAft>
            </a:pPr>
            <a:r>
              <a:rPr sz="1400" b="1" i="0">
                <a:solidFill>
                  <a:srgbClr val="F8FAFC"/>
                </a:solidFill>
                <a:latin typeface="Arial"/>
              </a:rPr>
              <a:t>jjf CLI</a:t>
            </a:r>
          </a:p>
        </p:txBody>
      </p:sp>
      <p:sp>
        <p:nvSpPr>
          <p:cNvPr id="18" name="TextBox 17"/>
          <p:cNvSpPr txBox="1"/>
          <p:nvPr/>
        </p:nvSpPr>
        <p:spPr>
          <a:xfrm>
            <a:off x="8257032" y="2121408"/>
            <a:ext cx="3291840" cy="274320"/>
          </a:xfrm>
          <a:prstGeom prst="rect">
            <a:avLst/>
          </a:prstGeom>
          <a:noFill/>
        </p:spPr>
        <p:txBody>
          <a:bodyPr wrap="square" anchor="t" lIns="0" rIns="0" tIns="0" bIns="0">
            <a:spAutoFit/>
          </a:bodyPr>
          <a:lstStyle/>
          <a:p>
            <a:pPr algn="ctr">
              <a:lnSpc>
                <a:spcPct val="105000"/>
              </a:lnSpc>
              <a:spcBef>
                <a:spcPts val="0"/>
              </a:spcBef>
              <a:spcAft>
                <a:spcPts val="0"/>
              </a:spcAft>
            </a:pPr>
            <a:r>
              <a:rPr sz="1050" b="0" i="0">
                <a:solidFill>
                  <a:srgbClr val="94A3B8"/>
                </a:solidFill>
                <a:latin typeface="Arial"/>
              </a:rPr>
              <a:t>platform ops: repos, issues, reviews</a:t>
            </a:r>
          </a:p>
        </p:txBody>
      </p:sp>
      <p:sp>
        <p:nvSpPr>
          <p:cNvPr id="19" name="TextBox 18"/>
          <p:cNvSpPr txBox="1"/>
          <p:nvPr/>
        </p:nvSpPr>
        <p:spPr>
          <a:xfrm>
            <a:off x="640080" y="1463040"/>
            <a:ext cx="5486400" cy="201168"/>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94A3B8"/>
                </a:solidFill>
                <a:latin typeface="Arial"/>
              </a:rPr>
              <a:t>CLIENTS</a:t>
            </a:r>
          </a:p>
        </p:txBody>
      </p:sp>
      <p:sp>
        <p:nvSpPr>
          <p:cNvPr id="20" name="Rounded Rectangle 19"/>
          <p:cNvSpPr/>
          <p:nvPr/>
        </p:nvSpPr>
        <p:spPr>
          <a:xfrm>
            <a:off x="640080" y="2880360"/>
            <a:ext cx="10908792" cy="475488"/>
          </a:xfrm>
          <a:prstGeom prst="roundRect">
            <a:avLst>
              <a:gd name="adj" fmla="val 5000"/>
            </a:avLst>
          </a:prstGeom>
          <a:solidFill>
            <a:srgbClr val="162133"/>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880360"/>
            <a:ext cx="10908792" cy="475488"/>
          </a:xfrm>
          <a:prstGeom prst="rect">
            <a:avLst/>
          </a:prstGeom>
          <a:noFill/>
        </p:spPr>
        <p:txBody>
          <a:bodyPr wrap="square" anchor="ctr" lIns="0" rIns="0" tIns="0" bIns="0">
            <a:spAutoFit/>
          </a:bodyPr>
          <a:lstStyle/>
          <a:p>
            <a:pPr algn="ctr">
              <a:lnSpc>
                <a:spcPct val="105000"/>
              </a:lnSpc>
              <a:spcBef>
                <a:spcPts val="0"/>
              </a:spcBef>
              <a:spcAft>
                <a:spcPts val="0"/>
              </a:spcAft>
            </a:pPr>
            <a:r>
              <a:rPr sz="1400" b="1" i="0">
                <a:solidFill>
                  <a:srgbClr val="F8FAFC"/>
                </a:solidFill>
                <a:latin typeface="Arial"/>
              </a:rPr>
              <a:t>Caddy</a:t>
            </a:r>
            <a:r>
              <a:rPr sz="1250" b="0" i="0">
                <a:solidFill>
                  <a:srgbClr val="94A3B8"/>
                </a:solidFill>
                <a:latin typeface="Arial"/>
              </a:rPr>
              <a:t>   —   reverse proxy · TLS ingress</a:t>
            </a:r>
          </a:p>
        </p:txBody>
      </p:sp>
      <p:sp>
        <p:nvSpPr>
          <p:cNvPr id="22" name="Rounded Rectangle 21"/>
          <p:cNvSpPr/>
          <p:nvPr/>
        </p:nvSpPr>
        <p:spPr>
          <a:xfrm>
            <a:off x="640080" y="3611880"/>
            <a:ext cx="5532120" cy="1554480"/>
          </a:xfrm>
          <a:prstGeom prst="roundRect">
            <a:avLst>
              <a:gd name="adj" fmla="val 5000"/>
            </a:avLst>
          </a:prstGeom>
          <a:solidFill>
            <a:srgbClr val="1E293B"/>
          </a:solidFill>
          <a:ln w="1651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730752"/>
            <a:ext cx="5120640"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8FAFC"/>
                </a:solidFill>
                <a:latin typeface="Arial"/>
              </a:rPr>
              <a:t>Forgejo fork</a:t>
            </a:r>
            <a:r>
              <a:rPr sz="1100" b="0" i="0">
                <a:solidFill>
                  <a:srgbClr val="38BDF8"/>
                </a:solidFill>
                <a:latin typeface="Arial"/>
              </a:rPr>
              <a:t>   Go · git subtree</a:t>
            </a:r>
          </a:p>
        </p:txBody>
      </p:sp>
      <p:sp>
        <p:nvSpPr>
          <p:cNvPr id="24" name="TextBox 23"/>
          <p:cNvSpPr txBox="1"/>
          <p:nvPr/>
        </p:nvSpPr>
        <p:spPr>
          <a:xfrm>
            <a:off x="868680" y="4096512"/>
            <a:ext cx="5120640" cy="36576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94A3B8"/>
                </a:solidFill>
                <a:latin typeface="Arial"/>
              </a:rPr>
              <a:t>web UI · auth · issues · change-based code review</a:t>
            </a:r>
          </a:p>
        </p:txBody>
      </p:sp>
      <p:sp>
        <p:nvSpPr>
          <p:cNvPr id="25" name="Rounded Rectangle 24"/>
          <p:cNvSpPr/>
          <p:nvPr/>
        </p:nvSpPr>
        <p:spPr>
          <a:xfrm>
            <a:off x="868680" y="4434840"/>
            <a:ext cx="5074920" cy="621792"/>
          </a:xfrm>
          <a:prstGeom prst="roundRect">
            <a:avLst>
              <a:gd name="adj" fmla="val 8000"/>
            </a:avLst>
          </a:prstGeom>
          <a:solidFill>
            <a:srgbClr val="162133"/>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434840"/>
            <a:ext cx="4846320" cy="621792"/>
          </a:xfrm>
          <a:prstGeom prst="rect">
            <a:avLst/>
          </a:prstGeom>
          <a:noFill/>
        </p:spPr>
        <p:txBody>
          <a:bodyPr wrap="square" anchor="ctr" lIns="0" rIns="0" tIns="0" bIns="0">
            <a:spAutoFit/>
          </a:bodyPr>
          <a:lstStyle/>
          <a:p>
            <a:pPr algn="l">
              <a:lnSpc>
                <a:spcPct val="105000"/>
              </a:lnSpc>
              <a:spcBef>
                <a:spcPts val="0"/>
              </a:spcBef>
              <a:spcAft>
                <a:spcPts val="0"/>
              </a:spcAft>
            </a:pPr>
            <a:r>
              <a:rPr sz="1100" b="1" i="0">
                <a:solidFill>
                  <a:srgbClr val="F59E0B"/>
                </a:solidFill>
                <a:latin typeface="Arial"/>
              </a:rPr>
              <a:t>VCSBackend interface</a:t>
            </a:r>
          </a:p>
          <a:p>
            <a:pPr algn="l">
              <a:lnSpc>
                <a:spcPct val="105000"/>
              </a:lnSpc>
              <a:spcBef>
                <a:spcPts val="0"/>
              </a:spcBef>
              <a:spcAft>
                <a:spcPts val="0"/>
              </a:spcAft>
            </a:pPr>
            <a:r>
              <a:rPr sz="1000" b="0" i="0">
                <a:solidFill>
                  <a:srgbClr val="94A3B8"/>
                </a:solidFill>
                <a:latin typeface="Arial"/>
              </a:rPr>
              <a:t>JjBackend (active) · GitBackend (present, unreachable)</a:t>
            </a:r>
          </a:p>
        </p:txBody>
      </p:sp>
      <p:sp>
        <p:nvSpPr>
          <p:cNvPr id="27" name="Rounded Rectangle 26"/>
          <p:cNvSpPr/>
          <p:nvPr/>
        </p:nvSpPr>
        <p:spPr>
          <a:xfrm>
            <a:off x="6355080" y="3611880"/>
            <a:ext cx="5193792" cy="1554480"/>
          </a:xfrm>
          <a:prstGeom prst="roundRect">
            <a:avLst>
              <a:gd name="adj" fmla="val 5000"/>
            </a:avLst>
          </a:prstGeom>
          <a:solidFill>
            <a:srgbClr val="1E293B"/>
          </a:solidFill>
          <a:ln w="1651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730752"/>
            <a:ext cx="4754880"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F8FAFC"/>
                </a:solidFill>
                <a:latin typeface="Arial"/>
              </a:rPr>
              <a:t>Sidecar</a:t>
            </a:r>
            <a:r>
              <a:rPr sz="1100" b="0" i="0">
                <a:solidFill>
                  <a:srgbClr val="F59E0B"/>
                </a:solidFill>
                <a:latin typeface="Arial"/>
              </a:rPr>
              <a:t>   Rust</a:t>
            </a:r>
          </a:p>
        </p:txBody>
      </p:sp>
      <p:sp>
        <p:nvSpPr>
          <p:cNvPr id="29" name="TextBox 28"/>
          <p:cNvSpPr txBox="1"/>
          <p:nvPr/>
        </p:nvSpPr>
        <p:spPr>
          <a:xfrm>
            <a:off x="6583680" y="4114800"/>
            <a:ext cx="4800600" cy="914400"/>
          </a:xfrm>
          <a:prstGeom prst="rect">
            <a:avLst/>
          </a:prstGeom>
          <a:noFill/>
        </p:spPr>
        <p:txBody>
          <a:bodyPr wrap="square" anchor="t" lIns="0" rIns="0" tIns="0" bIns="0">
            <a:spAutoFit/>
          </a:bodyPr>
          <a:lstStyle/>
          <a:p>
            <a:pPr algn="l">
              <a:lnSpc>
                <a:spcPct val="128000"/>
              </a:lnSpc>
              <a:spcBef>
                <a:spcPts val="0"/>
              </a:spcBef>
              <a:spcAft>
                <a:spcPts val="0"/>
              </a:spcAft>
            </a:pPr>
            <a:r>
              <a:rPr sz="1150" b="0" i="0">
                <a:solidFill>
                  <a:srgbClr val="E2E8F0"/>
                </a:solidFill>
                <a:latin typeface="Arial"/>
              </a:rPr>
              <a:t>• jj sync protocol — push / pull / clone</a:t>
            </a:r>
          </a:p>
          <a:p>
            <a:pPr algn="l">
              <a:lnSpc>
                <a:spcPct val="128000"/>
              </a:lnSpc>
              <a:spcBef>
                <a:spcPts val="0"/>
              </a:spcBef>
              <a:spcAft>
                <a:spcPts val="0"/>
              </a:spcAft>
            </a:pPr>
            <a:r>
              <a:rPr sz="1150" b="0" i="0">
                <a:solidFill>
                  <a:srgbClr val="E2E8F0"/>
                </a:solidFill>
                <a:latin typeface="Arial"/>
              </a:rPr>
              <a:t>• browse API for the forge UI</a:t>
            </a:r>
          </a:p>
          <a:p>
            <a:pPr algn="l">
              <a:lnSpc>
                <a:spcPct val="128000"/>
              </a:lnSpc>
              <a:spcBef>
                <a:spcPts val="0"/>
              </a:spcBef>
              <a:spcAft>
                <a:spcPts val="0"/>
              </a:spcAft>
            </a:pPr>
            <a:r>
              <a:rPr sz="1150" b="0" i="0">
                <a:solidFill>
                  <a:srgbClr val="E2E8F0"/>
                </a:solidFill>
                <a:latin typeface="Arial"/>
              </a:rPr>
              <a:t>• content-addressed blob storage</a:t>
            </a:r>
          </a:p>
        </p:txBody>
      </p:sp>
      <p:sp>
        <p:nvSpPr>
          <p:cNvPr id="30" name="Rounded Rectangle 29"/>
          <p:cNvSpPr/>
          <p:nvPr/>
        </p:nvSpPr>
        <p:spPr>
          <a:xfrm>
            <a:off x="640080" y="5349240"/>
            <a:ext cx="5532120" cy="731520"/>
          </a:xfrm>
          <a:prstGeom prst="roundRect">
            <a:avLst>
              <a:gd name="adj" fmla="val 5000"/>
            </a:avLst>
          </a:prstGeom>
          <a:solidFill>
            <a:srgbClr val="162133"/>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349240"/>
            <a:ext cx="5532120" cy="731520"/>
          </a:xfrm>
          <a:prstGeom prst="rect">
            <a:avLst/>
          </a:prstGeom>
          <a:noFill/>
        </p:spPr>
        <p:txBody>
          <a:bodyPr wrap="square" anchor="ctr" lIns="0" rIns="0" tIns="0" bIns="0">
            <a:spAutoFit/>
          </a:bodyPr>
          <a:lstStyle/>
          <a:p>
            <a:pPr algn="ctr">
              <a:lnSpc>
                <a:spcPct val="105000"/>
              </a:lnSpc>
              <a:spcBef>
                <a:spcPts val="0"/>
              </a:spcBef>
              <a:spcAft>
                <a:spcPts val="0"/>
              </a:spcAft>
            </a:pPr>
            <a:r>
              <a:rPr sz="1300" b="1" i="0">
                <a:solidFill>
                  <a:srgbClr val="F8FAFC"/>
                </a:solidFill>
                <a:latin typeface="Arial"/>
              </a:rPr>
              <a:t>PostgreSQL</a:t>
            </a:r>
          </a:p>
          <a:p>
            <a:pPr algn="ctr">
              <a:lnSpc>
                <a:spcPct val="105000"/>
              </a:lnSpc>
              <a:spcBef>
                <a:spcPts val="0"/>
              </a:spcBef>
              <a:spcAft>
                <a:spcPts val="0"/>
              </a:spcAft>
            </a:pPr>
            <a:r>
              <a:rPr sz="1050" b="0" i="0">
                <a:solidFill>
                  <a:srgbClr val="94A3B8"/>
                </a:solidFill>
                <a:latin typeface="Arial"/>
              </a:rPr>
              <a:t>forge metadata: users, issues, reviews</a:t>
            </a:r>
          </a:p>
        </p:txBody>
      </p:sp>
      <p:sp>
        <p:nvSpPr>
          <p:cNvPr id="32" name="Rounded Rectangle 31"/>
          <p:cNvSpPr/>
          <p:nvPr/>
        </p:nvSpPr>
        <p:spPr>
          <a:xfrm>
            <a:off x="6355080" y="5349240"/>
            <a:ext cx="5193792" cy="731520"/>
          </a:xfrm>
          <a:prstGeom prst="roundRect">
            <a:avLst>
              <a:gd name="adj" fmla="val 5000"/>
            </a:avLst>
          </a:prstGeom>
          <a:solidFill>
            <a:srgbClr val="162133"/>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5349240"/>
            <a:ext cx="5193792" cy="731520"/>
          </a:xfrm>
          <a:prstGeom prst="rect">
            <a:avLst/>
          </a:prstGeom>
          <a:noFill/>
        </p:spPr>
        <p:txBody>
          <a:bodyPr wrap="square" anchor="ctr" lIns="0" rIns="0" tIns="0" bIns="0">
            <a:spAutoFit/>
          </a:bodyPr>
          <a:lstStyle/>
          <a:p>
            <a:pPr algn="ctr">
              <a:lnSpc>
                <a:spcPct val="105000"/>
              </a:lnSpc>
              <a:spcBef>
                <a:spcPts val="0"/>
              </a:spcBef>
              <a:spcAft>
                <a:spcPts val="0"/>
              </a:spcAft>
            </a:pPr>
            <a:r>
              <a:rPr sz="1300" b="1" i="0">
                <a:solidFill>
                  <a:srgbClr val="F8FAFC"/>
                </a:solidFill>
                <a:latin typeface="Arial"/>
              </a:rPr>
              <a:t>Blob storage</a:t>
            </a:r>
          </a:p>
          <a:p>
            <a:pPr algn="ctr">
              <a:lnSpc>
                <a:spcPct val="105000"/>
              </a:lnSpc>
              <a:spcBef>
                <a:spcPts val="0"/>
              </a:spcBef>
              <a:spcAft>
                <a:spcPts val="0"/>
              </a:spcAft>
            </a:pPr>
            <a:r>
              <a:rPr sz="1050" b="0" i="0">
                <a:solidFill>
                  <a:srgbClr val="94A3B8"/>
                </a:solidFill>
                <a:latin typeface="Arial"/>
              </a:rPr>
              <a:t>content-addressed object store</a:t>
            </a:r>
          </a:p>
        </p:txBody>
      </p:sp>
      <p:cxnSp>
        <p:nvCxnSpPr>
          <p:cNvPr id="34" name="Connector 33"/>
          <p:cNvCxnSpPr/>
          <p:nvPr/>
        </p:nvCxnSpPr>
        <p:spPr>
          <a:xfrm>
            <a:off x="2286000" y="2468880"/>
            <a:ext cx="0" cy="411480"/>
          </a:xfrm>
          <a:prstGeom prst="bentConnector3">
            <a:avLst/>
          </a:prstGeom>
          <a:ln w="16510">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089904" y="2468880"/>
            <a:ext cx="0" cy="411480"/>
          </a:xfrm>
          <a:prstGeom prst="bentConnector3">
            <a:avLst/>
          </a:prstGeom>
          <a:ln w="16510">
            <a:solidFill>
              <a:srgbClr val="F59E0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893808" y="2468880"/>
            <a:ext cx="0" cy="411480"/>
          </a:xfrm>
          <a:prstGeom prst="bentConnector3">
            <a:avLst/>
          </a:prstGeom>
          <a:ln w="16510">
            <a:solidFill>
              <a:srgbClr val="C084F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383280" y="3355848"/>
            <a:ext cx="0" cy="256032"/>
          </a:xfrm>
          <a:prstGeom prst="bentConnector3">
            <a:avLst/>
          </a:prstGeom>
          <a:ln w="1651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961120" y="3355848"/>
            <a:ext cx="0" cy="256032"/>
          </a:xfrm>
          <a:prstGeom prst="bentConnector3">
            <a:avLst/>
          </a:prstGeom>
          <a:ln w="1651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43600" y="4745736"/>
            <a:ext cx="411480" cy="0"/>
          </a:xfrm>
          <a:prstGeom prst="bentConnector3">
            <a:avLst/>
          </a:prstGeom>
          <a:ln w="16510">
            <a:solidFill>
              <a:srgbClr val="F59E0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83280" y="5166360"/>
            <a:ext cx="0" cy="182880"/>
          </a:xfrm>
          <a:prstGeom prst="bentConnector3">
            <a:avLst/>
          </a:prstGeom>
          <a:ln w="1651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961120" y="5166360"/>
            <a:ext cx="0" cy="182880"/>
          </a:xfrm>
          <a:prstGeom prst="bentConnector3">
            <a:avLst/>
          </a:prstGeom>
          <a:ln w="1651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709160" y="4480560"/>
            <a:ext cx="1737360" cy="228600"/>
          </a:xfrm>
          <a:prstGeom prst="rect">
            <a:avLst/>
          </a:prstGeom>
          <a:noFill/>
        </p:spPr>
        <p:txBody>
          <a:bodyPr wrap="square" anchor="t" lIns="0" rIns="0" tIns="0" bIns="0">
            <a:spAutoFit/>
          </a:bodyPr>
          <a:lstStyle/>
          <a:p>
            <a:pPr algn="ctr">
              <a:lnSpc>
                <a:spcPct val="105000"/>
              </a:lnSpc>
              <a:spcBef>
                <a:spcPts val="0"/>
              </a:spcBef>
              <a:spcAft>
                <a:spcPts val="0"/>
              </a:spcAft>
            </a:pPr>
            <a:r>
              <a:rPr sz="850" b="1" i="0">
                <a:solidFill>
                  <a:srgbClr val="F59E0B"/>
                </a:solidFill>
                <a:latin typeface="Arial"/>
              </a:rPr>
              <a:t>JjBackend</a:t>
            </a:r>
          </a:p>
        </p:txBody>
      </p:sp>
      <p:sp>
        <p:nvSpPr>
          <p:cNvPr id="43" name="TextBox 42"/>
          <p:cNvSpPr txBox="1"/>
          <p:nvPr/>
        </p:nvSpPr>
        <p:spPr>
          <a:xfrm>
            <a:off x="640080" y="6199632"/>
            <a:ext cx="10908792" cy="36576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F59E0B"/>
                </a:solidFill>
                <a:latin typeface="Arial"/>
              </a:rPr>
              <a:t>Flow: </a:t>
            </a:r>
            <a:r>
              <a:rPr sz="1050" b="0" i="0">
                <a:solidFill>
                  <a:srgbClr val="94A3B8"/>
                </a:solidFill>
                <a:latin typeface="Arial"/>
              </a:rPr>
              <a:t>browser &amp; jjf CLI → Forgejo; jj CLI → sidecar (native jj sync, no git-compat layer). Forgejo's JjBackend calls the sidecar's HTTP API for all repo content — git hosting is present but disabled. Both forks are vendored as git subtrees.</a:t>
            </a:r>
          </a:p>
        </p:txBody>
      </p:sp>
      <p:sp>
        <p:nvSpPr>
          <p:cNvPr id="44" name="TextBox 43"/>
          <p:cNvSpPr txBox="1"/>
          <p:nvPr/>
        </p:nvSpPr>
        <p:spPr>
          <a:xfrm>
            <a:off x="640080" y="6528816"/>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000" b="0" i="0">
                <a:solidFill>
                  <a:srgbClr val="94A3B8"/>
                </a:solidFill>
                <a:latin typeface="Consolas"/>
              </a:rPr>
              <a:t>sandcastle-tdd  ·  appendix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r>
              <a:rPr sz="1400" b="1">
                <a:solidFill>
                  <a:srgbClr val="F59E0B"/>
                </a:solidFill>
                <a:latin typeface="Arial"/>
              </a:rPr>
              <a:t>THE DASHBOARD, LIVE</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r>
              <a:rPr sz="3400" b="1">
                <a:solidFill>
                  <a:srgbClr val="F8FAFC"/>
                </a:solidFill>
                <a:latin typeface="Arial"/>
              </a:rPr>
              <a:t>The whole run, in one glance</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7315200" cy="274320"/>
          </a:xfrm>
          <a:prstGeom prst="rect">
            <a:avLst/>
          </a:prstGeom>
          <a:noFill/>
        </p:spPr>
        <p:txBody>
          <a:bodyPr wrap="square" anchor="t" lIns="0" rIns="0" tIns="0" bIns="0">
            <a:spAutoFit/>
          </a:bodyPr>
          <a:lstStyle/>
          <a:p>
            <a:pPr algn="l"/>
            <a:r>
              <a:rPr sz="1000" b="0">
                <a:solidFill>
                  <a:srgbClr val="94A3B8"/>
                </a:solidFill>
                <a:latin typeface="Consolas"/>
              </a:rPr>
              <a:t>sandcastle-tdd</a:t>
            </a:r>
          </a:p>
        </p:txBody>
      </p:sp>
      <p:sp>
        <p:nvSpPr>
          <p:cNvPr id="21" name="TextBox 20"/>
          <p:cNvSpPr txBox="1"/>
          <p:nvPr/>
        </p:nvSpPr>
        <p:spPr>
          <a:xfrm>
            <a:off x="10881360" y="6419088"/>
            <a:ext cx="822960" cy="274320"/>
          </a:xfrm>
          <a:prstGeom prst="rect">
            <a:avLst/>
          </a:prstGeom>
          <a:noFill/>
        </p:spPr>
        <p:txBody>
          <a:bodyPr wrap="square" anchor="t" lIns="0" rIns="0" tIns="0" bIns="0">
            <a:spAutoFit/>
          </a:bodyPr>
          <a:lstStyle/>
          <a:p>
            <a:pPr algn="r"/>
            <a:r>
              <a:rPr sz="1000" b="0">
                <a:solidFill>
                  <a:srgbClr val="94A3B8"/>
                </a:solidFill>
                <a:latin typeface="Arial"/>
              </a:rPr>
              <a:t>11</a:t>
            </a:r>
          </a:p>
        </p:txBody>
      </p:sp>
      <p:pic>
        <p:nvPicPr>
          <p:cNvPr id="22" name="Picture 21" descr="img-site.png"/>
          <p:cNvPicPr>
            <a:picLocks noChangeAspect="1"/>
          </p:cNvPicPr>
          <p:nvPr/>
        </p:nvPicPr>
        <p:blipFill>
          <a:blip r:embed="rId2"/>
          <a:stretch>
            <a:fillRect/>
          </a:stretch>
        </p:blipFill>
        <p:spPr>
          <a:xfrm>
            <a:off x="640080" y="2286000"/>
            <a:ext cx="5623560" cy="3960942"/>
          </a:xfrm>
          <a:prstGeom prst="rect">
            <a:avLst/>
          </a:prstGeom>
        </p:spPr>
      </p:pic>
      <p:sp>
        <p:nvSpPr>
          <p:cNvPr id="23" name="TextBox 22"/>
          <p:cNvSpPr txBox="1"/>
          <p:nvPr/>
        </p:nvSpPr>
        <p:spPr>
          <a:xfrm>
            <a:off x="6720840" y="2395728"/>
            <a:ext cx="4800600" cy="822960"/>
          </a:xfrm>
          <a:prstGeom prst="rect">
            <a:avLst/>
          </a:prstGeom>
          <a:noFill/>
        </p:spPr>
        <p:txBody>
          <a:bodyPr wrap="square">
            <a:spAutoFit/>
          </a:bodyPr>
          <a:lstStyle/>
          <a:p>
            <a:pPr algn="l"/>
            <a:r>
              <a:rPr sz="1600" b="1">
                <a:solidFill>
                  <a:srgbClr val="F8FAFC"/>
                </a:solidFill>
                <a:latin typeface="Arial"/>
              </a:rPr>
              <a:t>Parked issues rise to the top</a:t>
            </a:r>
          </a:p>
        </p:txBody>
      </p:sp>
      <p:sp>
        <p:nvSpPr>
          <p:cNvPr id="24" name="TextBox 23"/>
          <p:cNvSpPr txBox="1"/>
          <p:nvPr/>
        </p:nvSpPr>
        <p:spPr>
          <a:xfrm>
            <a:off x="6720840" y="2852928"/>
            <a:ext cx="4800600" cy="822960"/>
          </a:xfrm>
          <a:prstGeom prst="rect">
            <a:avLst/>
          </a:prstGeom>
          <a:noFill/>
        </p:spPr>
        <p:txBody>
          <a:bodyPr wrap="square">
            <a:spAutoFit/>
          </a:bodyPr>
          <a:lstStyle/>
          <a:p>
            <a:pPr algn="l"/>
            <a:r>
              <a:rPr sz="1300" b="0">
                <a:solidFill>
                  <a:srgbClr val="E2E8F0"/>
                </a:solidFill>
                <a:latin typeface="Arial"/>
              </a:rPr>
              <a:t>An “N awaiting you” badge; the blocked task sits above the waves.</a:t>
            </a:r>
          </a:p>
        </p:txBody>
      </p:sp>
      <p:sp>
        <p:nvSpPr>
          <p:cNvPr id="25" name="TextBox 24"/>
          <p:cNvSpPr txBox="1"/>
          <p:nvPr/>
        </p:nvSpPr>
        <p:spPr>
          <a:xfrm>
            <a:off x="6720840" y="3675887"/>
            <a:ext cx="4800600" cy="822960"/>
          </a:xfrm>
          <a:prstGeom prst="rect">
            <a:avLst/>
          </a:prstGeom>
          <a:noFill/>
        </p:spPr>
        <p:txBody>
          <a:bodyPr wrap="square">
            <a:spAutoFit/>
          </a:bodyPr>
          <a:lstStyle/>
          <a:p>
            <a:pPr algn="l"/>
            <a:r>
              <a:rPr sz="1600" b="1">
                <a:solidFill>
                  <a:srgbClr val="F8FAFC"/>
                </a:solidFill>
                <a:latin typeface="Arial"/>
              </a:rPr>
              <a:t>Answer inline → it redrives</a:t>
            </a:r>
          </a:p>
        </p:txBody>
      </p:sp>
      <p:sp>
        <p:nvSpPr>
          <p:cNvPr id="26" name="TextBox 25"/>
          <p:cNvSpPr txBox="1"/>
          <p:nvPr/>
        </p:nvSpPr>
        <p:spPr>
          <a:xfrm>
            <a:off x="6720840" y="4133087"/>
            <a:ext cx="4800600" cy="822960"/>
          </a:xfrm>
          <a:prstGeom prst="rect">
            <a:avLst/>
          </a:prstGeom>
          <a:noFill/>
        </p:spPr>
        <p:txBody>
          <a:bodyPr wrap="square">
            <a:spAutoFit/>
          </a:bodyPr>
          <a:lstStyle/>
          <a:p>
            <a:pPr algn="l"/>
            <a:r>
              <a:rPr sz="1300" b="0">
                <a:solidFill>
                  <a:srgbClr val="E2E8F0"/>
                </a:solidFill>
                <a:latin typeface="Arial"/>
              </a:rPr>
              <a:t>Type a reply and the dispatcher resumes that exact agent — the same redrive as answering in Telegram.</a:t>
            </a:r>
          </a:p>
        </p:txBody>
      </p:sp>
      <p:sp>
        <p:nvSpPr>
          <p:cNvPr id="27" name="TextBox 26"/>
          <p:cNvSpPr txBox="1"/>
          <p:nvPr/>
        </p:nvSpPr>
        <p:spPr>
          <a:xfrm>
            <a:off x="6720840" y="5029200"/>
            <a:ext cx="4800600" cy="822960"/>
          </a:xfrm>
          <a:prstGeom prst="rect">
            <a:avLst/>
          </a:prstGeom>
          <a:noFill/>
        </p:spPr>
        <p:txBody>
          <a:bodyPr wrap="square">
            <a:spAutoFit/>
          </a:bodyPr>
          <a:lstStyle/>
          <a:p>
            <a:pPr algn="l"/>
            <a:r>
              <a:rPr sz="1600" b="1">
                <a:solidFill>
                  <a:srgbClr val="F8FAFC"/>
                </a:solidFill>
                <a:latin typeface="Arial"/>
              </a:rPr>
              <a:t>Served locally, reached anywhere</a:t>
            </a:r>
          </a:p>
        </p:txBody>
      </p:sp>
      <p:sp>
        <p:nvSpPr>
          <p:cNvPr id="28" name="TextBox 27"/>
          <p:cNvSpPr txBox="1"/>
          <p:nvPr/>
        </p:nvSpPr>
        <p:spPr>
          <a:xfrm>
            <a:off x="6720840" y="5486400"/>
            <a:ext cx="4800600" cy="822960"/>
          </a:xfrm>
          <a:prstGeom prst="rect">
            <a:avLst/>
          </a:prstGeom>
          <a:noFill/>
        </p:spPr>
        <p:txBody>
          <a:bodyPr wrap="square">
            <a:spAutoFit/>
          </a:bodyPr>
          <a:lstStyle/>
          <a:p>
            <a:pPr algn="l"/>
            <a:r>
              <a:rPr sz="1300" b="0">
                <a:solidFill>
                  <a:srgbClr val="E2E8F0"/>
                </a:solidFill>
                <a:latin typeface="Arial"/>
              </a:rPr>
              <a:t>No new services — it reads the orchestrator's JSONL; open it from your phone over the tailnet.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881360" cy="457200"/>
          </a:xfrm>
          <a:prstGeom prst="rect">
            <a:avLst/>
          </a:prstGeom>
          <a:noFill/>
        </p:spPr>
        <p:txBody>
          <a:bodyPr wrap="square" anchor="t" lIns="0" rIns="0" tIns="0" bIns="0">
            <a:spAutoFit/>
          </a:bodyPr>
          <a:lstStyle/>
          <a:p>
            <a:pPr algn="l"/>
            <a:r>
              <a:rPr sz="1400" b="1">
                <a:solidFill>
                  <a:srgbClr val="F59E0B"/>
                </a:solidFill>
                <a:latin typeface="Arial"/>
              </a:rPr>
              <a:t>PROOF ON THE BURN-UP</a:t>
            </a:r>
          </a:p>
        </p:txBody>
      </p:sp>
      <p:sp>
        <p:nvSpPr>
          <p:cNvPr id="4" name="TextBox 3"/>
          <p:cNvSpPr txBox="1"/>
          <p:nvPr/>
        </p:nvSpPr>
        <p:spPr>
          <a:xfrm>
            <a:off x="640080" y="868680"/>
            <a:ext cx="10881360" cy="914400"/>
          </a:xfrm>
          <a:prstGeom prst="rect">
            <a:avLst/>
          </a:prstGeom>
          <a:noFill/>
        </p:spPr>
        <p:txBody>
          <a:bodyPr wrap="square" anchor="t" lIns="0" rIns="0" tIns="0" bIns="0">
            <a:spAutoFit/>
          </a:bodyPr>
          <a:lstStyle/>
          <a:p>
            <a:pPr algn="l"/>
            <a:r>
              <a:rPr sz="3400" b="1">
                <a:solidFill>
                  <a:srgbClr val="F8FAFC"/>
                </a:solidFill>
                <a:latin typeface="Arial"/>
              </a:rPr>
              <a:t>Scope raced ahead — then the agents caught it</a:t>
            </a:r>
          </a:p>
        </p:txBody>
      </p:sp>
      <p:sp>
        <p:nvSpPr>
          <p:cNvPr id="5" name="Rectangle 4"/>
          <p:cNvSpPr/>
          <p:nvPr/>
        </p:nvSpPr>
        <p:spPr>
          <a:xfrm>
            <a:off x="640080" y="1481328"/>
            <a:ext cx="13716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7315200" cy="274320"/>
          </a:xfrm>
          <a:prstGeom prst="rect">
            <a:avLst/>
          </a:prstGeom>
          <a:noFill/>
        </p:spPr>
        <p:txBody>
          <a:bodyPr wrap="square" anchor="t" lIns="0" rIns="0" tIns="0" bIns="0">
            <a:spAutoFit/>
          </a:bodyPr>
          <a:lstStyle/>
          <a:p>
            <a:pPr algn="l"/>
            <a:r>
              <a:rPr sz="1000" b="0">
                <a:solidFill>
                  <a:srgbClr val="94A3B8"/>
                </a:solidFill>
                <a:latin typeface="Consolas"/>
              </a:rPr>
              <a:t>sandcastle-tdd</a:t>
            </a:r>
          </a:p>
        </p:txBody>
      </p:sp>
      <p:sp>
        <p:nvSpPr>
          <p:cNvPr id="21" name="TextBox 20"/>
          <p:cNvSpPr txBox="1"/>
          <p:nvPr/>
        </p:nvSpPr>
        <p:spPr>
          <a:xfrm>
            <a:off x="10881360" y="6419088"/>
            <a:ext cx="822960" cy="274320"/>
          </a:xfrm>
          <a:prstGeom prst="rect">
            <a:avLst/>
          </a:prstGeom>
          <a:noFill/>
        </p:spPr>
        <p:txBody>
          <a:bodyPr wrap="square" anchor="t" lIns="0" rIns="0" tIns="0" bIns="0">
            <a:spAutoFit/>
          </a:bodyPr>
          <a:lstStyle/>
          <a:p>
            <a:pPr algn="r"/>
            <a:r>
              <a:rPr sz="1000" b="0">
                <a:solidFill>
                  <a:srgbClr val="94A3B8"/>
                </a:solidFill>
                <a:latin typeface="Arial"/>
              </a:rPr>
              <a:t>15</a:t>
            </a:r>
          </a:p>
        </p:txBody>
      </p:sp>
      <p:pic>
        <p:nvPicPr>
          <p:cNvPr id="22" name="Picture 21" descr="img-scope.png"/>
          <p:cNvPicPr>
            <a:picLocks noChangeAspect="1"/>
          </p:cNvPicPr>
          <p:nvPr/>
        </p:nvPicPr>
        <p:blipFill>
          <a:blip r:embed="rId2"/>
          <a:stretch>
            <a:fillRect/>
          </a:stretch>
        </p:blipFill>
        <p:spPr>
          <a:xfrm>
            <a:off x="502920" y="2606040"/>
            <a:ext cx="6126480" cy="3076003"/>
          </a:xfrm>
          <a:prstGeom prst="rect">
            <a:avLst/>
          </a:prstGeom>
        </p:spPr>
      </p:pic>
      <p:sp>
        <p:nvSpPr>
          <p:cNvPr id="23" name="TextBox 22"/>
          <p:cNvSpPr txBox="1"/>
          <p:nvPr/>
        </p:nvSpPr>
        <p:spPr>
          <a:xfrm>
            <a:off x="548640" y="5943600"/>
            <a:ext cx="6217920" cy="457200"/>
          </a:xfrm>
          <a:prstGeom prst="rect">
            <a:avLst/>
          </a:prstGeom>
          <a:noFill/>
        </p:spPr>
        <p:txBody>
          <a:bodyPr wrap="square">
            <a:spAutoFit/>
          </a:bodyPr>
          <a:lstStyle/>
          <a:p>
            <a:pPr algn="l"/>
            <a:r>
              <a:rPr sz="1150" b="0">
                <a:solidFill>
                  <a:srgbClr val="94A3B8"/>
                </a:solidFill>
                <a:latin typeface="Arial"/>
              </a:rPr>
              <a:t>Total scope vs. completed across jjforge — 40 days.</a:t>
            </a:r>
          </a:p>
        </p:txBody>
      </p:sp>
      <p:pic>
        <p:nvPicPr>
          <p:cNvPr id="24" name="Picture 23" descr="img-flow.png"/>
          <p:cNvPicPr>
            <a:picLocks noChangeAspect="1"/>
          </p:cNvPicPr>
          <p:nvPr/>
        </p:nvPicPr>
        <p:blipFill>
          <a:blip r:embed="rId3"/>
          <a:stretch>
            <a:fillRect/>
          </a:stretch>
        </p:blipFill>
        <p:spPr>
          <a:xfrm>
            <a:off x="7178040" y="2651760"/>
            <a:ext cx="4572000" cy="1533525"/>
          </a:xfrm>
          <a:prstGeom prst="rect">
            <a:avLst/>
          </a:prstGeom>
        </p:spPr>
      </p:pic>
      <p:sp>
        <p:nvSpPr>
          <p:cNvPr id="25" name="TextBox 24"/>
          <p:cNvSpPr txBox="1"/>
          <p:nvPr/>
        </p:nvSpPr>
        <p:spPr>
          <a:xfrm>
            <a:off x="7178040" y="4297680"/>
            <a:ext cx="4617720" cy="1280160"/>
          </a:xfrm>
          <a:prstGeom prst="rect">
            <a:avLst/>
          </a:prstGeom>
          <a:noFill/>
        </p:spPr>
        <p:txBody>
          <a:bodyPr wrap="square">
            <a:spAutoFit/>
          </a:bodyPr>
          <a:lstStyle/>
          <a:p>
            <a:pPr algn="l"/>
            <a:r>
              <a:rPr sz="1400" b="1">
                <a:solidFill>
                  <a:srgbClr val="F8FAFC"/>
                </a:solidFill>
                <a:latin typeface="Arial"/>
              </a:rPr>
              <a:t>Filed vs. closed per day.</a:t>
            </a:r>
          </a:p>
          <a:p>
            <a:pPr algn="l"/>
            <a:r>
              <a:rPr sz="1250" b="0">
                <a:solidFill>
                  <a:srgbClr val="E2E8F0"/>
                </a:solidFill>
                <a:latin typeface="Arial"/>
              </a:rPr>
              <a:t>The Aug 16–19 closing spike is sandcastle-tdd draining the backlog — the same 3-day burst.</a:t>
            </a:r>
          </a:p>
        </p:txBody>
      </p:sp>
      <p:sp>
        <p:nvSpPr>
          <p:cNvPr id="26" name="TextBox 25"/>
          <p:cNvSpPr txBox="1"/>
          <p:nvPr/>
        </p:nvSpPr>
        <p:spPr>
          <a:xfrm>
            <a:off x="7178040" y="5943600"/>
            <a:ext cx="4617720" cy="457200"/>
          </a:xfrm>
          <a:prstGeom prst="rect">
            <a:avLst/>
          </a:prstGeom>
          <a:noFill/>
        </p:spPr>
        <p:txBody>
          <a:bodyPr wrap="square">
            <a:spAutoFit/>
          </a:bodyPr>
          <a:lstStyle/>
          <a:p>
            <a:pPr algn="l"/>
            <a:r>
              <a:rPr sz="1150" b="0">
                <a:solidFill>
                  <a:srgbClr val="94A3B8"/>
                </a:solidFill>
                <a:latin typeface="Arial"/>
              </a:rPr>
              <a:t>From jjforge's own report — make issue-burnup, live GitHub issues.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