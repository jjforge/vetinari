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95360" y="0"/>
            <a:ext cx="3611880" cy="6858000"/>
          </a:xfrm>
          <a:prstGeom prst="rect">
            <a:avLst/>
          </a:prstGeom>
          <a:solidFill>
            <a:srgbClr val="1621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89720" y="4114800"/>
            <a:ext cx="566928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921240" y="3291840"/>
            <a:ext cx="566928" cy="2103120"/>
          </a:xfrm>
          <a:prstGeom prst="rect">
            <a:avLst/>
          </a:prstGeom>
          <a:solidFill>
            <a:srgbClr val="D98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52760" y="3794760"/>
            <a:ext cx="566928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84280" y="2743200"/>
            <a:ext cx="566928" cy="2651760"/>
          </a:xfrm>
          <a:prstGeom prst="rect">
            <a:avLst/>
          </a:prstGeom>
          <a:solidFill>
            <a:srgbClr val="D98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52560" y="5358384"/>
            <a:ext cx="2926080" cy="73152"/>
          </a:xfrm>
          <a:prstGeom prst="rect">
            <a:avLst/>
          </a:prstGeom>
          <a:solidFill>
            <a:srgbClr val="644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BUILT IN A WEEKEND  ·  ~950 LINES OF TYPESCRIPT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65960"/>
            <a:ext cx="7863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 i="0">
                <a:solidFill>
                  <a:srgbClr val="F8FAFC"/>
                </a:solidFill>
                <a:latin typeface="Arial"/>
              </a:rPr>
              <a:t>sandcastle-tdd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7589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E2E8F0"/>
                </a:solidFill>
                <a:latin typeface="Arial"/>
              </a:rPr>
              <a:t>Sharpen your tools: fast prototyping, and a pattern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E2E8F0"/>
                </a:solidFill>
                <a:latin typeface="Arial"/>
              </a:rPr>
              <a:t>for building systems that actually leverage AI.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4343400"/>
            <a:ext cx="128016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7589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4A3B8"/>
                </a:solidFill>
                <a:latin typeface="Arial"/>
              </a:rPr>
              <a:t>Parallel coding agents that </a:t>
            </a:r>
            <a:r>
              <a:rPr sz="1500" b="1" i="0">
                <a:solidFill>
                  <a:srgbClr val="F8FAFC"/>
                </a:solidFill>
                <a:latin typeface="Arial"/>
              </a:rPr>
              <a:t>can't mark their own work done</a:t>
            </a:r>
            <a:r>
              <a:rPr sz="1500" b="0" i="0">
                <a:solidFill>
                  <a:srgbClr val="94A3B8"/>
                </a:solidFill>
                <a:latin typeface="Arial"/>
              </a:rPr>
              <a:t> and </a:t>
            </a:r>
            <a:r>
              <a:rPr sz="1500" b="1" i="0">
                <a:solidFill>
                  <a:srgbClr val="F8FAFC"/>
                </a:solidFill>
                <a:latin typeface="Arial"/>
              </a:rPr>
              <a:t>ask instead of guessing</a:t>
            </a:r>
            <a:r>
              <a:rPr sz="1500" b="0" i="0">
                <a:solidFill>
                  <a:srgbClr val="94A3B8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806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Zach Thieme  ·  team walkthrough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WHY I'M SHOWING YOU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Two takeaways, one small repo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394960" cy="4023360"/>
          </a:xfrm>
          <a:prstGeom prst="roundRect">
            <a:avLst>
              <a:gd name="adj" fmla="val 4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394960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80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59E0B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8FAFC"/>
                </a:solidFill>
                <a:latin typeface="Arial"/>
              </a:rPr>
              <a:t>Sharpen your 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977639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Arial"/>
              </a:rPr>
              <a:t>You can build the tool you wish existed in a weekend now. This repo is ~950 lines, 11 commits, 2 days — a real tool I use, not a demo.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492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F59E0B"/>
                </a:solidFill>
                <a:latin typeface="Arial"/>
              </a:rPr>
              <a:t>The bottleneck moved from "can I build it" to "do I know what I want."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394960" cy="4023360"/>
          </a:xfrm>
          <a:prstGeom prst="roundRect">
            <a:avLst>
              <a:gd name="adj" fmla="val 45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5394960" cy="12801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240280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38BDF8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0040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8FAFC"/>
                </a:solidFill>
                <a:latin typeface="Arial"/>
              </a:rPr>
              <a:t>Leverage AI as a 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977639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Arial"/>
              </a:rPr>
              <a:t>Turning a model into something dependable is an engineering problem: who owns "done", what happens on ambiguity, how work stays isolated and resumable.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3492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38BDF8"/>
                </a:solidFill>
                <a:latin typeface="Arial"/>
              </a:rPr>
              <a:t>The design patterns transfer to anything you build on top of an LLM.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THE ONE-LINER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Run your backlog as parallel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E2E8F0"/>
                </a:solidFill>
                <a:latin typeface="Arial"/>
              </a:rPr>
              <a:t>Each task gets a </a:t>
            </a:r>
            <a:r>
              <a:rPr sz="1700" b="1" i="0">
                <a:solidFill>
                  <a:srgbClr val="F59E0B"/>
                </a:solidFill>
                <a:latin typeface="Arial"/>
              </a:rPr>
              <a:t>container</a:t>
            </a:r>
            <a:r>
              <a:rPr sz="1700" b="0" i="0">
                <a:solidFill>
                  <a:srgbClr val="E2E8F0"/>
                </a:solidFill>
                <a:latin typeface="Arial"/>
              </a:rPr>
              <a:t>, a </a:t>
            </a:r>
            <a:r>
              <a:rPr sz="1700" b="1" i="0">
                <a:solidFill>
                  <a:srgbClr val="F59E0B"/>
                </a:solidFill>
                <a:latin typeface="Arial"/>
              </a:rPr>
              <a:t>branch</a:t>
            </a:r>
            <a:r>
              <a:rPr sz="1700" b="0" i="0">
                <a:solidFill>
                  <a:srgbClr val="E2E8F0"/>
                </a:solidFill>
                <a:latin typeface="Arial"/>
              </a:rPr>
              <a:t>, and a </a:t>
            </a:r>
            <a:r>
              <a:rPr sz="1700" b="1" i="0">
                <a:solidFill>
                  <a:srgbClr val="F59E0B"/>
                </a:solidFill>
                <a:latin typeface="Arial"/>
              </a:rPr>
              <a:t>TDD loop</a:t>
            </a:r>
            <a:r>
              <a:rPr sz="1700" b="0" i="0">
                <a:solidFill>
                  <a:srgbClr val="E2E8F0"/>
                </a:solidFill>
                <a:latin typeface="Arial"/>
              </a:rPr>
              <a:t> the orchestrator drives.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94A3B8"/>
                </a:solidFill>
                <a:latin typeface="Arial"/>
              </a:rPr>
              <a:t>You get a Telegram message when one needs a decision, and commits on a branch when one succeeds.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71800"/>
            <a:ext cx="5394960" cy="12801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3291840"/>
            <a:ext cx="10058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19" y="3172968"/>
            <a:ext cx="4617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rial"/>
              </a:rPr>
              <a:t>Cannot self-certify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"Green" means your test command exited 0 — checked by the orchestrator, never the agent's claim.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971800"/>
            <a:ext cx="5394960" cy="12801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46520" y="3291840"/>
            <a:ext cx="10058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3172968"/>
            <a:ext cx="4617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rial"/>
              </a:rPr>
              <a:t>Asks instead of guessing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An ambiguous task parks with a question to you rather than inventing an answer.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89120"/>
            <a:ext cx="5394960" cy="12801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709159"/>
            <a:ext cx="10058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19" y="4590288"/>
            <a:ext cx="4617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rial"/>
              </a:rPr>
              <a:t>Parallel, isolated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One branch + worktree + container per task; concurrent tasks can't corrupt each other.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89120"/>
            <a:ext cx="5394960" cy="12801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4709159"/>
            <a:ext cx="10058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4590288"/>
            <a:ext cx="4617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8FAFC"/>
                </a:solidFill>
                <a:latin typeface="Arial"/>
              </a:rPr>
              <a:t>Resumable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A parked or failed agent resumes later with full context — new container, same session.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WHY BUILD IT AT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Raw agents have four failure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1042415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118872" cy="1042415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109728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87171"/>
                </a:solidFill>
                <a:latin typeface="Arial"/>
              </a:rPr>
              <a:t>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039112"/>
            <a:ext cx="9418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8FAFC"/>
                </a:solidFill>
                <a:latin typeface="Arial"/>
              </a:rPr>
              <a:t>They grade their own homework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Agents emit "I'm done" over a red test suite. A self-reported success is not a signal you can build 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17520"/>
            <a:ext cx="10881360" cy="1042415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017520"/>
            <a:ext cx="118872" cy="1042415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17520"/>
            <a:ext cx="109728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87171"/>
                </a:solidFill>
                <a:latin typeface="Arial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182112"/>
            <a:ext cx="9418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8FAFC"/>
                </a:solidFill>
                <a:latin typeface="Arial"/>
              </a:rPr>
              <a:t>They guess when unsure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Faced with an ambiguous spec, a model picks something plausible and moves on — the wrong default, silently.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60520"/>
            <a:ext cx="10881360" cy="1042415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160520"/>
            <a:ext cx="118872" cy="1042415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160520"/>
            <a:ext cx="109728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87171"/>
                </a:solidFill>
                <a:latin typeface="Arial"/>
              </a:rPr>
              <a:t>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325112"/>
            <a:ext cx="9418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8FAFC"/>
                </a:solidFill>
                <a:latin typeface="Arial"/>
              </a:rPr>
              <a:t>They step on each other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Run several at once on one tree and they corrupt each other's state; so you serialize, and lose the parallelism.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303520"/>
            <a:ext cx="10881360" cy="1042415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303520"/>
            <a:ext cx="118872" cy="1042415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03520"/>
            <a:ext cx="109728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87171"/>
                </a:solidFill>
                <a:latin typeface="Arial"/>
              </a:rPr>
              <a:t>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468112"/>
            <a:ext cx="9418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8FAFC"/>
                </a:solidFill>
                <a:latin typeface="Arial"/>
              </a:rPr>
              <a:t>They lose context on restart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A crash or a stall means starting over — re-deriving everything the previous attempt already figured out.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rial"/>
              </a:rPr>
              <a:t>THE CORE OF THE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23444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8FAFC"/>
                </a:solidFill>
                <a:latin typeface="Arial"/>
              </a:rPr>
              <a:t>Four decisions that make an agent dependable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105613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468880"/>
            <a:ext cx="109728" cy="9144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96896"/>
            <a:ext cx="4023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34D399"/>
                </a:solidFill>
                <a:latin typeface="Arial"/>
              </a:rPr>
              <a:t>The orchestrator owns "done"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2560320"/>
            <a:ext cx="5989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After every "I'm done," the loop runs your gates inside the sandbox and reads the exit code. Only zero returns green — the agent's own claim decides nothing.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56432"/>
            <a:ext cx="105613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456432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584448"/>
            <a:ext cx="4023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9E0B"/>
                </a:solidFill>
                <a:latin typeface="Arial"/>
              </a:rPr>
              <a:t>Park, don't guess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3547872"/>
            <a:ext cx="5989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On BLOCKED, an exhausted turn budget, or an idle stall: the question + session id are written to disk, the container is torn down, and its slot returns to the pool.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43984"/>
            <a:ext cx="105613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443984"/>
            <a:ext cx="109728" cy="9144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72000"/>
            <a:ext cx="4023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38BDF8"/>
                </a:solidFill>
                <a:latin typeface="Arial"/>
              </a:rPr>
              <a:t>Parallel by default, isolated by construction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4535424"/>
            <a:ext cx="5989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One branch, worktree and container per task. A bounded pool keeps N slots full; a park frees its slot immediately, so one stuck task can't starve the other nine.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431536"/>
            <a:ext cx="105613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5431536"/>
            <a:ext cx="109728" cy="91440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559552"/>
            <a:ext cx="40233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084FC"/>
                </a:solidFill>
                <a:latin typeface="Arial"/>
              </a:rPr>
              <a:t>Resume with context, not restart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5522976"/>
            <a:ext cx="59893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A red gate resumes the *same* session with the failure output attached. Answer a parked task days later — fresh process, full context restored from host-side JSONL.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HOW IT FITS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Architecture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2651760" cy="3291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ORCHESTRATOR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23774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2E8F0"/>
                </a:solidFill>
                <a:latin typeface="Arial"/>
              </a:rPr>
              <a:t>• reads your config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2E8F0"/>
                </a:solidFill>
                <a:latin typeface="Arial"/>
              </a:rPr>
              <a:t>• spawns the pool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2E8F0"/>
                </a:solidFill>
                <a:latin typeface="Arial"/>
              </a:rPr>
              <a:t>• runs the gates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2E8F0"/>
                </a:solidFill>
                <a:latin typeface="Arial"/>
              </a:rPr>
              <a:t>• decides green / park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E2E8F0"/>
                </a:solidFill>
                <a:latin typeface="Arial"/>
              </a:rPr>
              <a:t>• merges greens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0" i="1">
                <a:solidFill>
                  <a:srgbClr val="F59E0B"/>
                </a:solidFill>
                <a:latin typeface="Consolas"/>
              </a:rPr>
              <a:t>~950 LOC TypeScript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1965960"/>
            <a:ext cx="3291840" cy="969264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60520" y="2075688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BDF8"/>
                </a:solidFill>
                <a:latin typeface="Arial"/>
              </a:rPr>
              <a:t>Sandbox 1</a:t>
            </a:r>
            <a:r>
              <a:rPr sz="1100" b="0" i="0">
                <a:solidFill>
                  <a:srgbClr val="94A3B8"/>
                </a:solidFill>
                <a:latin typeface="Consolas"/>
              </a:rPr>
              <a:t>   agent/task-436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94A3B8"/>
                </a:solidFill>
                <a:latin typeface="Arial"/>
              </a:rPr>
              <a:t>Docker · branch · worktree · TDD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3099815"/>
            <a:ext cx="3291840" cy="969264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3209544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2E8F0"/>
                </a:solidFill>
                <a:latin typeface="Arial"/>
              </a:rPr>
              <a:t>Sandbox 2</a:t>
            </a:r>
            <a:r>
              <a:rPr sz="1100" b="0" i="0">
                <a:solidFill>
                  <a:srgbClr val="94A3B8"/>
                </a:solidFill>
                <a:latin typeface="Consolas"/>
              </a:rPr>
              <a:t>   agent/task-611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94A3B8"/>
                </a:solidFill>
                <a:latin typeface="Arial"/>
              </a:rPr>
              <a:t>Docker · branch · worktree · TDD loop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4233672"/>
            <a:ext cx="3291840" cy="969264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0520" y="4343400"/>
            <a:ext cx="30175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2E8F0"/>
                </a:solidFill>
                <a:latin typeface="Arial"/>
              </a:rPr>
              <a:t>Sandbox 3</a:t>
            </a:r>
            <a:r>
              <a:rPr sz="1100" b="0" i="0">
                <a:solidFill>
                  <a:srgbClr val="94A3B8"/>
                </a:solidFill>
                <a:latin typeface="Consolas"/>
              </a:rPr>
              <a:t>   agent/task-623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94A3B8"/>
                </a:solidFill>
                <a:latin typeface="Arial"/>
              </a:rPr>
              <a:t>Docker · branch · worktree · TDD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5074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4A3B8"/>
                </a:solidFill>
                <a:latin typeface="Consolas"/>
              </a:rPr>
              <a:t>bounded pool — QUEUE_SLOTS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291840" y="2450592"/>
            <a:ext cx="685799" cy="978408"/>
          </a:xfrm>
          <a:prstGeom prst="bentConnector3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291840" y="3429000"/>
            <a:ext cx="685799" cy="155448"/>
          </a:xfrm>
          <a:prstGeom prst="bentConnector3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91840" y="3429000"/>
            <a:ext cx="685799" cy="1289304"/>
          </a:xfrm>
          <a:prstGeom prst="bentConnector3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955279" y="196596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103120"/>
            <a:ext cx="3108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34D399"/>
                </a:solidFill>
                <a:latin typeface="Arial"/>
              </a:rPr>
              <a:t>GATE</a:t>
            </a:r>
            <a:r>
              <a:rPr sz="1100" b="0" i="0">
                <a:solidFill>
                  <a:srgbClr val="34D399"/>
                </a:solidFill>
                <a:latin typeface="Arial"/>
              </a:rPr>
              <a:t>  exit 0 → green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2E8F0"/>
                </a:solidFill>
                <a:latin typeface="Arial"/>
              </a:rPr>
              <a:t>runs YOUR test command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87171"/>
                </a:solidFill>
                <a:latin typeface="Arial"/>
              </a:rPr>
              <a:t>red → resume same session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3520440"/>
            <a:ext cx="3429000" cy="868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363931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59E0B"/>
                </a:solidFill>
                <a:latin typeface="Arial"/>
              </a:rPr>
              <a:t>PARK → TELEGRAM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2E8F0"/>
                </a:solidFill>
                <a:latin typeface="Arial"/>
              </a:rPr>
              <a:t>question + session to disk; you reply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572000"/>
            <a:ext cx="3429000" cy="777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4681728"/>
            <a:ext cx="3108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BDF8"/>
                </a:solidFill>
                <a:latin typeface="Arial"/>
              </a:rPr>
              <a:t>COMMIT on agent/&lt;task&gt;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2E8F0"/>
                </a:solidFill>
                <a:latin typeface="Arial"/>
              </a:rPr>
              <a:t>merging stays yours (or campaign)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7269480" y="2651760"/>
            <a:ext cx="685799" cy="274320"/>
          </a:xfrm>
          <a:prstGeom prst="bentConnector3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269480" y="2926080"/>
            <a:ext cx="685799" cy="1005840"/>
          </a:xfrm>
          <a:prstGeom prst="bentConnector3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69480" y="2926080"/>
            <a:ext cx="685799" cy="2011680"/>
          </a:xfrm>
          <a:prstGeom prst="bentConnector3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40080" y="5577840"/>
            <a:ext cx="10744200" cy="658368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650992"/>
            <a:ext cx="10332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9E0B"/>
                </a:solidFill>
                <a:latin typeface="Arial"/>
              </a:rPr>
              <a:t>Human-in-the-loop is asynchronous: </a:t>
            </a:r>
            <a:r>
              <a:rPr sz="1250" b="0" i="0">
                <a:solidFill>
                  <a:srgbClr val="E2E8F0"/>
                </a:solidFill>
                <a:latin typeface="Arial"/>
              </a:rPr>
              <a:t>a park sends you a message, frees the slot, and waits — reply from your phone hours or days later and that exact agent resumes.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THE HEARTBEAT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The gate → resume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74980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822960" cy="74980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965960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8FAFC"/>
                </a:solidFill>
                <a:latin typeface="Arial"/>
              </a:rPr>
              <a:t>Agent works test-first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Driven by Matt Pocock's tdd skill: red before green, one vertical slice at a time. Commits as it goes.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97479"/>
            <a:ext cx="10881360" cy="74980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97479"/>
            <a:ext cx="822960" cy="7498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97479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788920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8FAFC"/>
                </a:solidFill>
                <a:latin typeface="Arial"/>
              </a:rPr>
              <a:t>Emits COMPLETE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The signal contract — a &lt;promise&gt;COMPLETE&lt;/promise&gt; — not a free-text "I think I'm done."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20439"/>
            <a:ext cx="10881360" cy="74980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520439"/>
            <a:ext cx="822960" cy="7498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520439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611879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8FAFC"/>
                </a:solidFill>
                <a:latin typeface="Arial"/>
              </a:rPr>
              <a:t>Orchestrator runs the gates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Inside the sandbox, the real test command. Reads the exit code, ignores the agent's opinion.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43400"/>
            <a:ext cx="10881360" cy="74980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343400"/>
            <a:ext cx="822960" cy="7498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343400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4a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434840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8FAFC"/>
                </a:solidFill>
                <a:latin typeface="Arial"/>
              </a:rPr>
              <a:t>Green → commit lands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Exit 0. The branch is left for you to merge (or hands off to campaign).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166360"/>
            <a:ext cx="10881360" cy="74980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166360"/>
            <a:ext cx="822960" cy="749808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66360"/>
            <a:ext cx="822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4b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257800"/>
            <a:ext cx="96926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8FAFC"/>
                </a:solidFill>
                <a:latin typeface="Arial"/>
              </a:rPr>
              <a:t>Red → resume, don't restart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resumeSession re-enters the SAME agent with the failure output attached. It fixes the actual failure, keeping its context.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05332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F59E0B"/>
                </a:solidFill>
                <a:latin typeface="Arial"/>
              </a:rPr>
              <a:t>The insight: a failing test is not a dead end — it's the next prompt. Context is preserved, so the agent converges instead of thrashing.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THE AGENT'S CRAFT IS BORROWED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gh / mattpocock / skills, baked into the image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2E8F0"/>
                </a:solidFill>
                <a:latin typeface="Arial"/>
              </a:rPr>
              <a:t>The container mirrors the </a:t>
            </a:r>
            <a:r>
              <a:rPr sz="1500" b="1" i="0">
                <a:solidFill>
                  <a:srgbClr val="F59E0B"/>
                </a:solidFill>
                <a:latin typeface="Consolas"/>
              </a:rPr>
              <a:t>mattpocock-skills</a:t>
            </a:r>
            <a:r>
              <a:rPr sz="1500" b="0" i="0">
                <a:solidFill>
                  <a:srgbClr val="E2E8F0"/>
                </a:solidFill>
                <a:latin typeface="Arial"/>
              </a:rPr>
              <a:t> plugin (pinned to </a:t>
            </a:r>
            <a:r>
              <a:rPr sz="1400" b="0" i="0">
                <a:solidFill>
                  <a:srgbClr val="F59E0B"/>
                </a:solidFill>
                <a:latin typeface="Consolas"/>
              </a:rPr>
              <a:t>SKILLS_REF</a:t>
            </a:r>
            <a:r>
              <a:rPr sz="1500" b="0" i="0">
                <a:solidFill>
                  <a:srgbClr val="E2E8F0"/>
                </a:solidFill>
                <a:latin typeface="Arial"/>
              </a:rPr>
              <a:t>) at personal scope — </a:t>
            </a:r>
            <a:r>
              <a:rPr sz="1350" b="0" i="0">
                <a:solidFill>
                  <a:srgbClr val="94A3B8"/>
                </a:solidFill>
                <a:latin typeface="Consolas"/>
              </a:rPr>
              <a:t>/home/agent/.claude/skills/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2E8F0"/>
                </a:solidFill>
                <a:latin typeface="Arial"/>
              </a:rPr>
              <a:t>The plain </a:t>
            </a:r>
            <a:r>
              <a:rPr sz="1400" b="0" i="0">
                <a:solidFill>
                  <a:srgbClr val="38BDF8"/>
                </a:solidFill>
                <a:latin typeface="Consolas"/>
              </a:rPr>
              <a:t>claude --print</a:t>
            </a:r>
            <a:r>
              <a:rPr sz="1500" b="0" i="0">
                <a:solidFill>
                  <a:srgbClr val="E2E8F0"/>
                </a:solidFill>
                <a:latin typeface="Arial"/>
              </a:rPr>
              <a:t> CLI auto-discovers them: no flag, no plugin machinery, zero per-run cost, and off every agent branch.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3502152" cy="2148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063240"/>
            <a:ext cx="3502152" cy="1188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10128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59E0B"/>
                </a:solidFill>
                <a:latin typeface="Consolas"/>
              </a:rPr>
              <a:t>tdd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4A3B8"/>
                </a:solidFill>
                <a:latin typeface="Arial"/>
              </a:rPr>
              <a:t>DRIVES THE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2E8F0"/>
                </a:solidFill>
                <a:latin typeface="Arial"/>
              </a:rPr>
              <a:t>Red before green, one vertical slice at a time, testing at seams, the anti-patterns. This skill governs HOW every agent works test-first.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3063240"/>
            <a:ext cx="3502152" cy="2148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3063240"/>
            <a:ext cx="3502152" cy="11887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3310128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8BDF8"/>
                </a:solidFill>
                <a:latin typeface="Consolas"/>
              </a:rPr>
              <a:t>codebase-design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3703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4A3B8"/>
                </a:solidFill>
                <a:latin typeface="Arial"/>
              </a:rPr>
              <a:t>WHEN THE SEAM IS IN QUESTION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411480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2E8F0"/>
                </a:solidFill>
                <a:latin typeface="Arial"/>
              </a:rPr>
              <a:t>Reached for when the interface shape itself is unclear — before committing to a contract under 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3063240"/>
            <a:ext cx="3502152" cy="2148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3063240"/>
            <a:ext cx="3502152" cy="11887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3310128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4D399"/>
                </a:solidFill>
                <a:latin typeface="Consolas"/>
              </a:rPr>
              <a:t>code-review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703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4A3B8"/>
                </a:solidFill>
                <a:latin typeface="Arial"/>
              </a:rPr>
              <a:t>THE DEFERRED REFACTOR STAGE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411480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2E8F0"/>
                </a:solidFill>
                <a:latin typeface="Arial"/>
              </a:rPr>
              <a:t>The loop defers cleanup to this skill's rules once the test is green.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1621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532120"/>
            <a:ext cx="10424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59E0B"/>
                </a:solidFill>
                <a:latin typeface="Arial"/>
              </a:rPr>
              <a:t>The load-bearing clause: </a:t>
            </a:r>
            <a:r>
              <a:rPr sz="1300" b="0" i="0">
                <a:solidFill>
                  <a:srgbClr val="E2E8F0"/>
                </a:solidFill>
                <a:latin typeface="Arial"/>
              </a:rPr>
              <a:t>skills govern </a:t>
            </a:r>
            <a:r>
              <a:rPr sz="1300" b="1" i="1">
                <a:solidFill>
                  <a:srgbClr val="F8FAFC"/>
                </a:solidFill>
                <a:latin typeface="Arial"/>
              </a:rPr>
              <a:t>how</a:t>
            </a:r>
            <a:r>
              <a:rPr sz="1300" b="0" i="0">
                <a:solidFill>
                  <a:srgbClr val="E2E8F0"/>
                </a:solidFill>
                <a:latin typeface="Arial"/>
              </a:rPr>
              <a:t> you work; the orchestrator's contract governs </a:t>
            </a:r>
            <a:r>
              <a:rPr sz="1300" b="1" i="1">
                <a:solidFill>
                  <a:srgbClr val="F8FAFC"/>
                </a:solidFill>
                <a:latin typeface="Arial"/>
              </a:rPr>
              <a:t>whether you're done</a:t>
            </a:r>
            <a:r>
              <a:rPr sz="1300" b="0" i="0">
                <a:solidFill>
                  <a:srgbClr val="E2E8F0"/>
                </a:solidFill>
                <a:latin typeface="Arial"/>
              </a:rPr>
              <a:t>. A skill's own "done" or internal loop never ends a turn — only the gate does.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ANSWER FROM YOUR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Blocking is a feature, not a failure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943600" cy="4206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WHEN AN AGENT PARKS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743200"/>
            <a:ext cx="100584" cy="758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743200"/>
            <a:ext cx="5230368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The question is written to disk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.sandcastle/parked/&lt;task&gt;.json — question, session id, branch, message id.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547872"/>
            <a:ext cx="100584" cy="758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547872"/>
            <a:ext cx="5230368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The container is torn down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Parking is terminal for the slot, never a held container. One stuck task can't starve the pool.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352544"/>
            <a:ext cx="100584" cy="758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352544"/>
            <a:ext cx="5230368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You get a Telegram message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Its summary, detail, and the options the agent laid out.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157216"/>
            <a:ext cx="100584" cy="758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157216"/>
            <a:ext cx="5230368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8FAFC"/>
                </a:solidFill>
                <a:latin typeface="Arial"/>
              </a:rPr>
              <a:t>You reply → it resumes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The dispatcher routes your reply to that exact task — fresh container, full context, days later if you like.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1920240"/>
            <a:ext cx="4572000" cy="4206240"/>
          </a:xfrm>
          <a:prstGeom prst="roundRect">
            <a:avLst>
              <a:gd name="adj" fmla="val 4000"/>
            </a:avLst>
          </a:prstGeom>
          <a:solidFill>
            <a:srgbClr val="1621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89520" y="233172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B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2395728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F59E0B"/>
                </a:solidFill>
                <a:latin typeface="Arial"/>
              </a:rPr>
              <a:t>🤖 sandcastle bot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2E8F0"/>
                </a:solidFill>
                <a:latin typeface="Arial"/>
              </a:rPr>
              <a:t>Task 436 needs a decision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3154680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0B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218688"/>
            <a:ext cx="32918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2E8F0"/>
                </a:solidFill>
                <a:latin typeface="Arial"/>
              </a:rPr>
              <a:t>Cache key: per-user or global?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A — per-user, safer, slower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B — global, faster, riskier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4526280"/>
            <a:ext cx="3017520" cy="640080"/>
          </a:xfrm>
          <a:prstGeom prst="roundRect">
            <a:avLst>
              <a:gd name="adj" fmla="val 14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4590288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8BDF8"/>
                </a:solidFill>
                <a:latin typeface="Arial"/>
              </a:rPr>
              <a:t>↳ "Use approach B, note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8BDF8"/>
                </a:solidFill>
                <a:latin typeface="Arial"/>
              </a:rPr>
              <a:t>   why in the commit"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53212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4A3B8"/>
                </a:solidFill>
                <a:latin typeface="Arial"/>
              </a:rPr>
              <a:t>reply to the message — that's the whole 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580644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one poller, run as a systemd user service (survives reboot)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BEYOND ONE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Campaign mode: merge the whole backlog safely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2E8F0"/>
                </a:solidFill>
                <a:latin typeface="Arial"/>
              </a:rPr>
              <a:t>Hand the </a:t>
            </a:r>
            <a:r>
              <a:rPr sz="1500" b="1" i="0">
                <a:solidFill>
                  <a:srgbClr val="F59E0B"/>
                </a:solidFill>
                <a:latin typeface="Arial"/>
              </a:rPr>
              <a:t>merge → test → next-batch</a:t>
            </a:r>
            <a:r>
              <a:rPr sz="1500" b="0" i="0">
                <a:solidFill>
                  <a:srgbClr val="E2E8F0"/>
                </a:solidFill>
                <a:latin typeface="Arial"/>
              </a:rPr>
              <a:t> chain to one command. Each quoted arg is a batch of disjoint tasks.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10881360" cy="548640"/>
          </a:xfrm>
          <a:prstGeom prst="roundRect">
            <a:avLst>
              <a:gd name="adj" fmla="val 6000"/>
            </a:avLst>
          </a:prstGeom>
          <a:solidFill>
            <a:srgbClr val="0B1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95728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34D399"/>
                </a:solidFill>
                <a:latin typeface="Consolas"/>
              </a:rPr>
              <a:t>npx sandcastle-tdd campaign "436 611 623"  "640 655"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00400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00400"/>
            <a:ext cx="109728" cy="1234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33756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4D399"/>
                </a:solidFill>
                <a:latin typeface="Arial"/>
              </a:rPr>
              <a:t>1.  </a:t>
            </a:r>
            <a:r>
              <a:rPr sz="1500" b="1" i="0">
                <a:solidFill>
                  <a:srgbClr val="F8FAFC"/>
                </a:solidFill>
                <a:latin typeface="Arial"/>
              </a:rPr>
              <a:t>Drain the batch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Run every task in the batch to green-or-parked.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200400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3200400"/>
            <a:ext cx="109728" cy="1234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33756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4D399"/>
                </a:solidFill>
                <a:latin typeface="Arial"/>
              </a:rPr>
              <a:t>2.  </a:t>
            </a:r>
            <a:r>
              <a:rPr sz="1500" b="1" i="0">
                <a:solidFill>
                  <a:srgbClr val="F8FAFC"/>
                </a:solidFill>
                <a:latin typeface="Arial"/>
              </a:rPr>
              <a:t>Merge only its greens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--no-ff into the base. Parked tasks are never merged or cleaned.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72000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72000"/>
            <a:ext cx="109728" cy="1234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470916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4D399"/>
                </a:solidFill>
                <a:latin typeface="Arial"/>
              </a:rPr>
              <a:t>3.  </a:t>
            </a:r>
            <a:r>
              <a:rPr sz="1500" b="1" i="0">
                <a:solidFill>
                  <a:srgbClr val="F8FAFC"/>
                </a:solidFill>
                <a:latin typeface="Arial"/>
              </a:rPr>
              <a:t>Gate the MERGED base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The each-green-but-together-red case a per-task gate can't catch.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572000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4572000"/>
            <a:ext cx="109728" cy="123444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709160"/>
            <a:ext cx="48463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87171"/>
                </a:solidFill>
                <a:latin typeface="Arial"/>
              </a:rPr>
              <a:t>4.  </a:t>
            </a:r>
            <a:r>
              <a:rPr sz="1500" b="1" i="0">
                <a:solidFill>
                  <a:srgbClr val="F8FAFC"/>
                </a:solidFill>
                <a:latin typeface="Arial"/>
              </a:rPr>
              <a:t>Advance — or halt &amp; roll back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Success: prune branches, start next batch on the advanced base. Conflict or red: halt, restore the base, keep every branch, ping you.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8BDF8"/>
                </a:solidFill>
                <a:latin typeface="Arial"/>
              </a:rPr>
              <a:t>THE META-STORY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1887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8FAFC"/>
                </a:solidFill>
                <a:latin typeface="Arial"/>
              </a:rPr>
              <a:t>This whole thing is the 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59E0B"/>
                </a:solidFill>
                <a:latin typeface="Arial"/>
              </a:rPr>
              <a:t>~950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0040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lines of TypeScript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1488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331720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38BDF8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20040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days, Aug 16–17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79" y="21488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79" y="2331720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34D399"/>
                </a:solidFill>
                <a:latin typeface="Arial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9" y="320040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commits, start to useful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2148840"/>
            <a:ext cx="2514600" cy="1691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2331720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C084FC"/>
                </a:solidFill>
                <a:latin typeface="Arial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20040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4A3B8"/>
                </a:solidFill>
                <a:latin typeface="Arial"/>
              </a:rPr>
              <a:t>source files, no framework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8FAFC"/>
                </a:solidFill>
                <a:latin typeface="Arial"/>
              </a:rPr>
              <a:t>It's a thin orchestration layer, not a platform.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846320"/>
            <a:ext cx="10561320" cy="566928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46320"/>
            <a:ext cx="130083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27363" y="4846320"/>
            <a:ext cx="997403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2E8F0"/>
                </a:solidFill>
                <a:latin typeface="Arial"/>
              </a:rPr>
              <a:t>~76,500 lines you didn't write</a:t>
            </a:r>
            <a:r>
              <a:rPr sz="1200" b="0" i="0">
                <a:solidFill>
                  <a:srgbClr val="94A3B8"/>
                </a:solidFill>
                <a:latin typeface="Arial"/>
              </a:rPr>
              <a:t>   ·  @ai-hero/sandcastle: Docker sandboxing, the agent, session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46227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9E0B"/>
                </a:solidFill>
                <a:latin typeface="Arial"/>
              </a:rPr>
              <a:t>954 lines — yours  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2E8F0"/>
                </a:solidFill>
                <a:latin typeface="Arial"/>
              </a:rPr>
              <a:t>Your own code is </a:t>
            </a:r>
            <a:r>
              <a:rPr sz="1900" b="1" i="0">
                <a:solidFill>
                  <a:srgbClr val="F59E0B"/>
                </a:solidFill>
                <a:latin typeface="Arial"/>
              </a:rPr>
              <a:t>1.2%</a:t>
            </a:r>
            <a:r>
              <a:rPr sz="1500" b="0" i="0">
                <a:solidFill>
                  <a:srgbClr val="E2E8F0"/>
                </a:solidFill>
                <a:latin typeface="Arial"/>
              </a:rPr>
              <a:t> of what runs — and that 1.2% is where the entire "agents can't grade themselves" guarantee lives.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DOES IT ACTUALLY MOVE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3 days on a real Go + Rust monorepo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2E8F0"/>
                </a:solidFill>
                <a:latin typeface="Arial"/>
              </a:rPr>
              <a:t>Every </a:t>
            </a:r>
            <a:r>
              <a:rPr sz="1300" b="0" i="0">
                <a:solidFill>
                  <a:srgbClr val="F59E0B"/>
                </a:solidFill>
                <a:latin typeface="Consolas"/>
              </a:rPr>
              <a:t>agent/&lt;task&gt;</a:t>
            </a:r>
            <a:r>
              <a:rPr sz="1400" b="0" i="0">
                <a:solidFill>
                  <a:srgbClr val="E2E8F0"/>
                </a:solidFill>
                <a:latin typeface="Arial"/>
              </a:rPr>
              <a:t> merge on </a:t>
            </a:r>
            <a:r>
              <a:rPr sz="1300" b="0" i="0">
                <a:solidFill>
                  <a:srgbClr val="38BDF8"/>
                </a:solidFill>
                <a:latin typeface="Consolas"/>
              </a:rPr>
              <a:t>develop</a:t>
            </a:r>
            <a:r>
              <a:rPr sz="1400" b="0" i="0">
                <a:solidFill>
                  <a:srgbClr val="E2E8F0"/>
                </a:solidFill>
                <a:latin typeface="Arial"/>
              </a:rPr>
              <a:t> landed in one 3-day burst — </a:t>
            </a:r>
            <a:r>
              <a:rPr sz="1400" b="1" i="0">
                <a:solidFill>
                  <a:srgbClr val="F8FAFC"/>
                </a:solidFill>
                <a:latin typeface="Arial"/>
              </a:rPr>
              <a:t>starting the day sandcastle-tdd was first committed.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21408"/>
            <a:ext cx="10881360" cy="566928"/>
          </a:xfrm>
          <a:prstGeom prst="roundRect">
            <a:avLst>
              <a:gd name="adj" fmla="val 5000"/>
            </a:avLst>
          </a:prstGeom>
          <a:solidFill>
            <a:srgbClr val="1621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21408"/>
            <a:ext cx="91440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21408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9E0B"/>
                </a:solidFill>
                <a:latin typeface="Arial"/>
              </a:rPr>
              <a:t>And it's not a toy target: </a:t>
            </a:r>
            <a:r>
              <a:rPr sz="1250" b="0" i="0">
                <a:solidFill>
                  <a:srgbClr val="E2E8F0"/>
                </a:solidFill>
                <a:latin typeface="Arial"/>
              </a:rPr>
              <a:t>two forks + a Rust sidecar + a client, wrapping Jujutsu — a version-control system whose whole promise is it </a:t>
            </a:r>
            <a:r>
              <a:rPr sz="1250" b="1" i="0">
                <a:solidFill>
                  <a:srgbClr val="F8FAFC"/>
                </a:solidFill>
                <a:latin typeface="Arial"/>
              </a:rPr>
              <a:t>can't lose your work</a:t>
            </a:r>
            <a:r>
              <a:rPr sz="1250" b="0" i="0">
                <a:solidFill>
                  <a:srgbClr val="E2E8F0"/>
                </a:solidFill>
                <a:latin typeface="Arial"/>
              </a:rPr>
              <a:t>. Exactly where a real test gate earns its keep.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52928"/>
            <a:ext cx="2606040" cy="15727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852928"/>
            <a:ext cx="260604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35808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59E0B"/>
                </a:solidFill>
                <a:latin typeface="Arial"/>
              </a:rPr>
              <a:t>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tasks merged Aug 16–18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0711" y="2852928"/>
            <a:ext cx="2606040" cy="15727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10711" y="2852928"/>
            <a:ext cx="2606040" cy="1097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0711" y="3035808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38BDF8"/>
                </a:solidFill>
                <a:latin typeface="Arial"/>
              </a:rPr>
              <a:t>184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1" y="38404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commits authored by the 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1344" y="2852928"/>
            <a:ext cx="2606040" cy="15727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2852928"/>
            <a:ext cx="26060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1344" y="3035808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34D399"/>
                </a:solidFill>
                <a:latin typeface="Arial"/>
              </a:rPr>
              <a:t>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1344" y="38404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tasks merged in the peak day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51976" y="2852928"/>
            <a:ext cx="2606040" cy="15727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51976" y="2852928"/>
            <a:ext cx="2606040" cy="109728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51976" y="3035808"/>
            <a:ext cx="2606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C084FC"/>
                </a:solidFill>
                <a:latin typeface="Arial"/>
              </a:rPr>
              <a:t>day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38404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shipping the day the tool was born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52628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526280"/>
            <a:ext cx="109728" cy="146304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68172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87171"/>
                </a:solidFill>
                <a:latin typeface="Arial"/>
              </a:rPr>
              <a:t>BEFORE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2E8F0"/>
                </a:solidFill>
                <a:latin typeface="Arial"/>
              </a:rPr>
              <a:t>One task at a time, by hand. Each agent run babysat: is it really green? did it just guess?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6480" y="4526280"/>
            <a:ext cx="539496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4526280"/>
            <a:ext cx="109728" cy="14630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681728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34D399"/>
                </a:solidFill>
                <a:latin typeface="Arial"/>
              </a:rPr>
              <a:t>AFTER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2E8F0"/>
                </a:solidFill>
                <a:latin typeface="Arial"/>
              </a:rPr>
              <a:t>A backlog drained in parallel — ~23 tasks/day merged, gated on real tests, questions routed to your phone.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8990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94A3B8"/>
                </a:solidFill>
                <a:latin typeface="Arial"/>
              </a:rPr>
              <a:t>(counts from git history on jjforge's develop; the tool was extracted from this exact project.)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HOW THE TOOL STAYS SHARP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Iteration tricks worth stealing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112" y="2167127"/>
            <a:ext cx="100584" cy="7315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039112"/>
            <a:ext cx="4663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Cheapest failure first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baseline runs the toolchain probe + every gate with no agent. A failing baseline costs nothing; a passing one means any later red is the agent's doing.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74519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28232" y="2167127"/>
            <a:ext cx="100584" cy="7315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039112"/>
            <a:ext cx="4663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Contract checks in ~1s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check-contract probes the upstream library's runtime behaviour (no Docker) — catches a renamed export that tsc alone would miss.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3756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6112" y="3630168"/>
            <a:ext cx="100584" cy="7315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502152"/>
            <a:ext cx="4663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Warm caches, measured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Shared package caches took a cold gate from 2571s → 330s. Share caches; never share build outputs.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33756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28232" y="3630168"/>
            <a:ext cx="100584" cy="7315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502152"/>
            <a:ext cx="4663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Config as typed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defineConfig is a typed .mts file — a renamed field fails tsc, not a run. Everything project-specific lives in one place.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80060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112" y="5093208"/>
            <a:ext cx="100584" cy="7315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965192"/>
            <a:ext cx="4663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Skills baked into the image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The agent container mirrors a pinned skills plugin at build time — every task's agent gets them, zero per-run cost.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80060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28232" y="5093208"/>
            <a:ext cx="100584" cy="7315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4965192"/>
            <a:ext cx="46634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Rules paid for in failed runs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94A3B8"/>
                </a:solidFill>
                <a:latin typeface="Arial"/>
              </a:rPr>
              <a:t>Each hard-won lesson is written down as a load-bearing operating rule, so it's never re-learned the expensive way.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LESSONS ENCODED, NOT REPEATED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Operating rules paid for in failed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F59E0B"/>
                </a:solidFill>
                <a:latin typeface="Arial"/>
              </a:rPr>
              <a:t>"Each of these was paid for in a failed run. They are not style preferences."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1088136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777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9E0B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59152"/>
            <a:ext cx="96926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Never two runs of one task  </a:t>
            </a:r>
            <a:r>
              <a:rPr sz="1200" b="0" i="0">
                <a:solidFill>
                  <a:srgbClr val="94A3B8"/>
                </a:solidFill>
                <a:latin typeface="Arial"/>
              </a:rPr>
              <a:t>— Git refuses one branch in two worktrees — even your manual review worktree blocks that task's resume.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1088136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81528"/>
            <a:ext cx="777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9E0B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154680"/>
            <a:ext cx="96926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Share package caches; never build outputs  </a:t>
            </a:r>
            <a:r>
              <a:rPr sz="1200" b="0" i="0">
                <a:solidFill>
                  <a:srgbClr val="94A3B8"/>
                </a:solidFill>
                <a:latin typeface="Arial"/>
              </a:rPr>
              <a:t>— Caches are the single biggest win; a shared build dir converts parallelism back into lock contention.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77056"/>
            <a:ext cx="1088136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877056"/>
            <a:ext cx="777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9E0B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950208"/>
            <a:ext cx="96926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Host-only env in hostEnv, not .env  </a:t>
            </a:r>
            <a:r>
              <a:rPr sz="1200" b="0" i="0">
                <a:solidFill>
                  <a:srgbClr val="94A3B8"/>
                </a:solidFill>
                <a:latin typeface="Arial"/>
              </a:rPr>
              <a:t>— .env reaches the container. GIT_CONFIG_GLOBAL is the classic trap that breaks a project's git tests inside the box.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72584"/>
            <a:ext cx="1088136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672584"/>
            <a:ext cx="777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9E0B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745736"/>
            <a:ext cx="96926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Your gates set the concurrency ceiling  </a:t>
            </a:r>
            <a:r>
              <a:rPr sz="1200" b="0" i="0">
                <a:solidFill>
                  <a:srgbClr val="94A3B8"/>
                </a:solidFill>
                <a:latin typeface="Arial"/>
              </a:rPr>
              <a:t>— A full suite per turn is CPU-bound; 2–3 slots is realistic on one workstation, and agents share your rate limits.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68112"/>
            <a:ext cx="1088136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468112"/>
            <a:ext cx="777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59E0B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541264"/>
            <a:ext cx="969264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8FAFC"/>
                </a:solidFill>
                <a:latin typeface="Arial"/>
              </a:rPr>
              <a:t>Batch disjoint files, no dependencies  </a:t>
            </a:r>
            <a:r>
              <a:rPr sz="1200" b="0" i="0">
                <a:solidFill>
                  <a:srgbClr val="94A3B8"/>
                </a:solidFill>
                <a:latin typeface="Arial"/>
              </a:rPr>
              <a:t>— Crossover shows up as a visible merge conflict; a hidden dependency merges clean and green against the old contract.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9E0B"/>
                </a:solidFill>
                <a:latin typeface="Arial"/>
              </a:rPr>
              <a:t>DON'T BUILD WHAT YOU CAN BORROW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8FAFC"/>
                </a:solidFill>
                <a:latin typeface="Arial"/>
              </a:rPr>
              <a:t>What the ~950 lines actually leverage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Consolas"/>
              </a:rPr>
              <a:t>@ai-hero/sandcastle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96312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Docker sandboxes + session capture. The primitive that makes park→resume survive a fresh process.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74519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Consolas"/>
              </a:rPr>
              <a:t>Claude Code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496312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The plain claude --print CLI is the agent. No SDK, no custom runtime — runs on your subscription token.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3756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204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Consolas"/>
              </a:rPr>
              <a:t>mattpocock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59352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tdd, codebase-design, code-review — auto-discovered in the container. The agent's craft, borrowed wholesale.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33756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52044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Consolas"/>
              </a:rPr>
              <a:t>git worktrees + branches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959352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The isolation primitive. One branch per task, and git itself refuses the double-run that would corrupt state.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80060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98348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Consolas"/>
              </a:rPr>
              <a:t>Telegram bot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The entire human-in-the-loop UI. Reply to a message; no dashboard to build or host.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800600"/>
            <a:ext cx="5394960" cy="13258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983480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Consolas"/>
              </a:rPr>
              <a:t>Docker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422392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Concurrency without collision. Containers turn a shared workstation into N isolated ones.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F8FAFC"/>
                </a:solidFill>
                <a:latin typeface="Arial"/>
              </a:rPr>
              <a:t>The skill isn't writing every layer — it's knowing which layers already exist and composing them with the right contract.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rial"/>
              </a:rPr>
              <a:t>STEAL THESE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1430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8FAFC"/>
                </a:solidFill>
                <a:latin typeface="Arial"/>
              </a:rPr>
              <a:t>Patterns to take back to your own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525780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48840"/>
            <a:ext cx="109728" cy="1234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95144"/>
            <a:ext cx="4709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Never let an agent grade itself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Own "done" outside the model — a real signal (exit code, checksum, human), never its self-report.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48840"/>
            <a:ext cx="525780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148840"/>
            <a:ext cx="109728" cy="1234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295144"/>
            <a:ext cx="4709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Make ambiguity park, not guess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Design an explicit "I need a human" path. A blocked agent that asks beats a confident one that's wrong.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20440"/>
            <a:ext cx="525780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3520440"/>
            <a:ext cx="109728" cy="12344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666744"/>
            <a:ext cx="4709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Isolate, then parallelize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Give each unit its own sandbox and branch. Parallelism is safe only when work can't collide.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520440"/>
            <a:ext cx="525780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520440"/>
            <a:ext cx="109728" cy="123444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3666744"/>
            <a:ext cx="4709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Resume beats restart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Persist enough state that failure is the next prompt, not a reset. Context is the expensive part.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892040"/>
            <a:ext cx="525780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892040"/>
            <a:ext cx="109728" cy="123444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5038344"/>
            <a:ext cx="4709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Borrow the hard parts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Sandbox, agent, skills, transport — compose what exists. Your value is the contract between them.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892040"/>
            <a:ext cx="5257800" cy="12344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892040"/>
            <a:ext cx="109728" cy="123444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5038344"/>
            <a:ext cx="4709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8FAFC"/>
                </a:solidFill>
                <a:latin typeface="Arial"/>
              </a:rPr>
              <a:t>Encode every lesson once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4A3B8"/>
                </a:solidFill>
                <a:latin typeface="Arial"/>
              </a:rPr>
              <a:t>Turn each failed run into a written rule. Sharpen the tool so you never pay that cost twice.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onsolas"/>
              </a:rPr>
              <a:t>sandcastle-tdd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95360" y="0"/>
            <a:ext cx="3611880" cy="6858000"/>
          </a:xfrm>
          <a:prstGeom prst="rect">
            <a:avLst/>
          </a:prstGeom>
          <a:solidFill>
            <a:srgbClr val="1621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89720" y="4114800"/>
            <a:ext cx="566928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21240" y="3291840"/>
            <a:ext cx="566928" cy="2103120"/>
          </a:xfrm>
          <a:prstGeom prst="rect">
            <a:avLst/>
          </a:prstGeom>
          <a:solidFill>
            <a:srgbClr val="D98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652760" y="3794760"/>
            <a:ext cx="566928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384280" y="2743200"/>
            <a:ext cx="566928" cy="2651760"/>
          </a:xfrm>
          <a:prstGeom prst="rect">
            <a:avLst/>
          </a:prstGeom>
          <a:solidFill>
            <a:srgbClr val="D98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52560" y="5358384"/>
            <a:ext cx="2926080" cy="73152"/>
          </a:xfrm>
          <a:prstGeom prst="rect">
            <a:avLst/>
          </a:prstGeom>
          <a:solidFill>
            <a:srgbClr val="644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Arial"/>
              </a:rPr>
              <a:t>THANKS — LET'S TALK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31720"/>
            <a:ext cx="7772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8FAFC"/>
                </a:solidFill>
                <a:latin typeface="Arial"/>
              </a:rPr>
              <a:t>Build the tool you
wish existed.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77639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E2E8F0"/>
                </a:solidFill>
                <a:latin typeface="Arial"/>
              </a:rPr>
              <a:t>The bottleneck isn't building anymore — it's knowing what you want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E2E8F0"/>
                </a:solidFill>
                <a:latin typeface="Arial"/>
              </a:rPr>
              <a:t>and giving the AI the guardrails to be dependable.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5212080"/>
            <a:ext cx="128016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44068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4A3B8"/>
                </a:solidFill>
                <a:latin typeface="Consolas"/>
              </a:rPr>
              <a:t>github: jjforge/sandcastle-tdd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6072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4A3B8"/>
                </a:solidFill>
                <a:latin typeface="Arial"/>
              </a:rPr>
              <a:t>Built on @ai-hero/sandcastle  ·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